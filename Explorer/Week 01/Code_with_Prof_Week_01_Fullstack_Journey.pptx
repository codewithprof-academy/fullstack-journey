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60" r:id="rId7"/>
    <p:sldId id="259"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Code with Prof and the 16-week Full-Stack Journey. This first lesson introduces the people who build technology and the journey a request takes from your browser to a server and back. Whether you are an Explorer, Builder, or Career Launch learner, the goal is to understand the big picture before we write our first HTML next week. Invite participants to describe one app they used today. Explain that we will keep returning to the same StudyHub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four learning outcomes. Ask learners to explain what an app needs in order to work. Do not worry if they are unable to answer yet; the answer unfolds during the session. Explain that we are learning a mental model, not memorising acronyms. A useful success criterion is that each student can draw the basic request-response journey and explain it in their own words by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StudyHub as an invented teaching example, not a real online service. It lets students view courses, submit homework, and use an AI revision helper. Ask: when you press Submit, where does your homework go? Use this curiosity throughout the lesson. Career Launch participants will aim toward a similar production-style project by the end of the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iterative cycle using adding homework uploads to StudyHub. Plan the user need; design the screen and data; build; test failure cases; release; monitor real usage and feedback; then begin again. Emphasise that teams revisit these steps many times. For older learners explain that most engineering time is spent modifying and maintaining existing systems. Invite someone to suggest what happens after users report a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Explorers, compare a software engineer with a bridge engineer: both plan, test and care about safety and reliability. Builders should recognise that programming is only one stage of a product. For Career Launch, discuss constraints such as budget, deadlines, security, scale and maintenance. Ask whether an app that works only on the creator’s laptop is ready for real users. Explain why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realistic sample, not a rigid daily schedule. Introduce stand-ups, code reviews, pull requests, tickets and debugging using plain language. Explain that even very senior engineers read other people’s code, collaborate with designers, and translate technical decisions for non-technical stakeholders. Ask students to select which part of this day interests them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technology industry includes many jobs, not only programmers. Use StudyHub to make the role concrete: frontend builds the homework button, backend receives the submission, product decides why the feature matters, QA tests it, cloud engineers host it, and security protects accounts. Explorers should leave encouraged to discover what they enjoy. Builders should understand that roles depend on one another. Career Launch students should focus on job responsibilities and technology stacks, not just titles.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teaching approach for each cohort. Explorers focus on recognisable examples and safety. Builders investigate the components and begin identifying pathways into software careers. Career Launch learners consider reliability, security, production architectures and employability. The core story remains the same, but the exercise depth differs. Avoid suggesting all ages must complete every advanced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the internet from the World Wide Web. Web pages are one service on top of the internet. Email, gaming and video calls also use the internet but are not identical to web browsing. Use the roads analogy: roads carry many kinds of traffic. Quick check: Is a video call part of the internet? Yes. Must it be a web page?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client and server vocabulary. A browser such as Chrome or Safari is a client, and a server is software running on a computer that handles requests. In StudyHub, the browser says please give me the homework page; the server sends a response such as 200 OK with the content. Clarify that real pages often require many requests. Ask learners which side initiates the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IP address helps identify where network traffic needs to go. IPv4 has a limited address space, while IPv6 offers a much larger one. Use the supplied examples as documentation-style addresses rather than real StudyHub endpoints. Explain that localhost refers back to the learner’s own computer and will become familiar during local development. More advanced learners can discuss private addresses and NAT later without overwhelming younger participants.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memorable domain name needs to resolve to an address. Explain DNS as a directory or phone book. Spell the name correctly: fake or similar-looking domains can mislead people. Builders can open a terminal and run nslookup example.com. Career Launch learners can discuss recursive resolvers, cache, root, top-level-domain, and authoritative servers, and how TTL governs caching. Make clear that our StudyHub domain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URL from left to right. HTTPS is the protocol, studyhub.example is the domain, 443 is the standard HTTPS port, slash courses slash maths is the path, the query adds data, and the fragment locates a point within the page. The fragment is processed by the browser and is not sent as part of the HTTP request. Ask learners to identify the domain in codewithprof.com. Builders can try composing their own example with query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HTTP as the conversation format for web communication. HTTPS encrypts the traffic and authenticates the connection to a domain, but a scam site can also use HTTPS. Encourage students to check domain names and the content of a site rather than relying only on a padlock. For Career Launch, briefly name TLS, TCP, and HTTP/3 using QUIC/UDP; the advanced details are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each method using StudyHub: GET fetches homework, POST submits homework, PUT might replace a profile, PATCH changes one setting, and DELETE removes an item. Explain that these are conventional HTTP meanings; APIs define the precise behaviour. Invite participants to classify actions such as viewing homework or sending a comment. Builders and Career Launch participants can inspect actual method names in browser Network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digit tells the broad outcome: 2xx succeeded, 3xx redirects, 4xx indicates a client-related request or permission problem, and 5xx indicates a server failure. 401 generally means unauthenticated, 403 forbidden, and 404 not found. Avoid saying every 4xx means the user made a mistake. Do a quick poll: If StudyHub cannot find a requested homework page, which code might appear? 404.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API is an agreed interface through which software communicates. A website page is intended to be viewed by humans; an API response usually contains structured data such as JSON for another program. Examples include weather data, maps and AI systems. The /api/time example is a small teaching endpoint from the lesson notes, not a promise that it exists on a public website. Week 5 introduces consuming an API and Week 9 building APIs with FastAPI.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cloud is not literally in the sky. It means computing services hosted on infrastructure owned or operated by providers and accessed over networks. For younger learners, say someone else’s computers in data centres. Builders can discuss renting compute, storage and databases from Azure, AWS or Google Cloud, including scaling. Career Launch students compare IaaS, PaaS and SaaS, focusing on responsibility versus control. The deeper cloud lesson comes in Week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connect everything together. A student enters a domain, DNS provides the address, the browser establishes a connection and sends the request, application code on the server may query a database, the server responds, and the browser renders the result. This is a conceptual simplified flow: DNS and connection setup can be cached, and the browser may make many more requests for CSS, JavaScript and images. Ask learners to narrate all six steps without reading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drawing every full-stack developer should be able to explain. A client uses a network to communicate with an application server, which may read or write a database. A database does not automatically receive every web request, and the network may contain many intermediate systems. Draw the arrows both directions. Pause the video and ask participants to recreate the diagram on paper or in a drawing tool, then describe the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optional deeper view, especially for Career Launch. In real systems, DNS resolution and a CDN sit in front of one or more origin endpoints. Load balancers distribute traffic to application instances, and those instances access the database. The slide intentionally shows a simplified logical path rather than every DNS and network packet. Define CDN as content delivery network. Ask what happens if one API instance fails, or if cached static content can be served without contacting the origin.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cybersecurity habits without creating fear. Show how a website address can be misspelled, and repeat that HTTPS alone is not proof of trustworthiness. Use fictional identities and data, especially for minors. For Builders, mention digital footprints and GitHub. For Career Launch, introduce secret management: never commit passwords or API keys to version control, and follow privacy and authorised testing rules. Be clear that reporting concerns to an instructor or trusted adult is appropriate.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AI as a useful tool for learning, not a substitute for understanding. Give an example of a chatbot producing a plausible but incorrect answer and explain verification against reliable sources. Protect personal information. Students must disclose help and explain every line they submit. For participants under 18, only use instructor-provided or expressly approved AI access; specific provider age requirements must be checked before using a service. Career Launch participants are accountable for the code they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 your screen and live-demo the browser. Open a legitimate public website and inspect the address bar. In Chrome or Edge use developer tools then Network, reload the page, select a request and point out the method, status and response headers. The actual rows depend on the page and browser. On a terminal, nslookup example.com illustrates DNS and curl -I https://example.com illustrates headers. Do not ask younger students to probe unapproved systems. Pause and let students 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Participant activity, 8 to 12 minutes. Students sketch the simplified architecture and describe the submission flow. Explorers can label Browser, Server, Database and two arrows. Builders add HTTP method, JSON and status code possibilities. Career Launch participants add authentication, validation, data storage, error handling and secure transport. Accept multiple reasonable API designs, while emphasising that the server validates and persists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three differentiated lab options rather than forcing everyone into the hardest activity. Recommend 10 to 15 minutes. Explorers submit a hand-drawn flow and safety observations, with adult support as appropriate. Builders submit a screenshot or short written observation of DNS and Network details, avoiding personal data. Career Launch learners should explain what each production component does and what might happen on failure. Invite participants to compare answers in a respectful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short oral quiz, quiz form, or pause-and-answer activity. Suggested answers: The internet is the network; the web is one service on it. DNS provides address information such as an IP address. The browser/client usually initiates the HTTP request. HTTPS protects HTTP with TLS. A 404 indicates the requested resource was not found. Follow up by asking students to explain the answers in their own words, not only recite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 the main week-one deliverable. Learners create a diagram showing browser, network, server and database, and explain what happens when a site is visited. Request plain language and key vocabulary. Differentiation: Explorers can explain with fewer terms and a drawing; Builders show an HTTP example; Career Launch adds production components and an identified failure case. Since the source does not specify a submission platform or due date, announce those separately rather than inventing them in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week in five ideas. Ask learners to explain the client-server journey from memory and to give one example of how teams collaborate. Reinforce the safety message: do not share private details and verify AI assistance. Close the loop to StudyHub: we now understand the journey of a site at the systems level, and next week we begin writing the HTML that browsers can display.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learners for joining Week 01. Preview Week 02: HTML, the language used to structure the content of web pages. Their first practical build will be a personal website. Encourage participants to bring their questions and completed Week 01 diagrams to the next session. Give any actual cohort meeting schedule and assignment deadline verbally or through your learning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2F5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DAA62F"/>
          </a:solidFill>
          <a:ln w="12700">
            <a:solidFill>
              <a:srgbClr val="DAA62F"/>
            </a:solidFill>
            <a:prstDash val="solid"/>
          </a:ln>
        </p:spPr>
      </p:sp>
      <p:pic>
        <p:nvPicPr>
          <p:cNvPr id="3" name="Image 0" descr="/mnt/data/cwp-logo-reversed-transparent.png"/>
          <p:cNvPicPr>
            <a:picLocks noChangeAspect="1"/>
          </p:cNvPicPr>
          <p:nvPr/>
        </p:nvPicPr>
        <p:blipFill>
          <a:blip r:embed="rId1"/>
          <a:stretch>
            <a:fillRect/>
          </a:stretch>
        </p:blipFill>
        <p:spPr>
          <a:xfrm>
            <a:off x="777240" y="621792"/>
            <a:ext cx="4297680" cy="3090672"/>
          </a:xfrm>
          <a:prstGeom prst="rect">
            <a:avLst/>
          </a:prstGeom>
        </p:spPr>
      </p:pic>
      <p:sp>
        <p:nvSpPr>
          <p:cNvPr id="4" name="Shape 1"/>
          <p:cNvSpPr/>
          <p:nvPr/>
        </p:nvSpPr>
        <p:spPr>
          <a:xfrm>
            <a:off x="813816" y="3767328"/>
            <a:ext cx="6200000" cy="338328"/>
          </a:xfrm>
          <a:prstGeom prst="roundRect">
            <a:avLst>
              <a:gd name="adj" fmla="val 48649"/>
            </a:avLst>
          </a:prstGeom>
          <a:solidFill>
            <a:srgbClr val="DAA62F"/>
          </a:solidFill>
          <a:ln w="12700">
            <a:solidFill>
              <a:srgbClr val="DAA62F">
                <a:alpha val="0"/>
              </a:srgbClr>
            </a:solidFill>
            <a:prstDash val="solid"/>
          </a:ln>
        </p:spPr>
      </p:sp>
      <p:sp>
        <p:nvSpPr>
          <p:cNvPr id="5" name="Text 2"/>
          <p:cNvSpPr/>
          <p:nvPr/>
        </p:nvSpPr>
        <p:spPr>
          <a:xfrm>
            <a:off x="923544" y="3799332"/>
            <a:ext cx="5200000" cy="246888"/>
          </a:xfrm>
          <a:prstGeom prst="rect">
            <a:avLst/>
          </a:prstGeom>
          <a:noFill/>
        </p:spPr>
        <p:txBody>
          <a:bodyPr wrap="square" lIns="0" tIns="0" rIns="0" bIns="0" rtlCol="0" anchor="ctr">
            <a:normAutofit/>
          </a:bodyPr>
          <a:lstStyle/>
          <a:p>
            <a:pPr marL="0" indent="0" algn="ctr">
              <a:buNone/>
            </a:pPr>
            <a:r>
              <a:rPr lang="en-US" sz="1100" b="1" dirty="0">
                <a:solidFill>
                  <a:srgbClr val="092448"/>
                </a:solidFill>
                <a:latin typeface="Aptos" pitchFamily="34" charset="0"/>
                <a:ea typeface="Aptos" pitchFamily="34" charset="-122"/>
                <a:cs typeface="Aptos" pitchFamily="34" charset="-120"/>
              </a:rPr>
              <a:t>CodeWithProf · (Explorers) Cohort 1</a:t>
            </a:r>
            <a:endParaRPr lang="en-US" sz="1100" dirty="0"/>
          </a:p>
        </p:txBody>
      </p:sp>
      <p:sp>
        <p:nvSpPr>
          <p:cNvPr id="6" name="Text 3"/>
          <p:cNvSpPr/>
          <p:nvPr/>
        </p:nvSpPr>
        <p:spPr>
          <a:xfrm>
            <a:off x="804672" y="4306824"/>
            <a:ext cx="7315200" cy="493776"/>
          </a:xfrm>
          <a:prstGeom prst="rect">
            <a:avLst/>
          </a:prstGeom>
          <a:noFill/>
        </p:spPr>
        <p:txBody>
          <a:bodyPr wrap="square" lIns="0" tIns="0" rIns="0" bIns="0" rtlCol="0" anchor="ctr">
            <a:normAutofit/>
          </a:bodyPr>
          <a:lstStyle/>
          <a:p>
            <a:pPr marL="0" indent="0">
              <a:buNone/>
            </a:pPr>
            <a:r>
              <a:rPr lang="en-US" sz="3000" b="1" dirty="0">
                <a:solidFill>
                  <a:srgbClr val="DAA62F"/>
                </a:solidFill>
                <a:latin typeface="Aptos" pitchFamily="34" charset="0"/>
                <a:ea typeface="Aptos" pitchFamily="34" charset="-122"/>
                <a:cs typeface="Aptos" pitchFamily="34" charset="-120"/>
              </a:rPr>
              <a:t>WEEK 01</a:t>
            </a:r>
            <a:endParaRPr lang="en-US" sz="3000" dirty="0"/>
          </a:p>
        </p:txBody>
      </p:sp>
      <p:sp>
        <p:nvSpPr>
          <p:cNvPr id="7" name="Text 4"/>
          <p:cNvSpPr/>
          <p:nvPr/>
        </p:nvSpPr>
        <p:spPr>
          <a:xfrm>
            <a:off x="804672" y="4809744"/>
            <a:ext cx="10607040" cy="1069848"/>
          </a:xfrm>
          <a:prstGeom prst="rect">
            <a:avLst/>
          </a:prstGeom>
          <a:noFill/>
        </p:spPr>
        <p:txBody>
          <a:bodyPr wrap="square" lIns="0" tIns="0" rIns="0" bIns="0" rtlCol="0" anchor="ctr">
            <a:normAutofit/>
          </a:bodyPr>
          <a:lstStyle/>
          <a:p>
            <a:pPr marL="0" indent="0">
              <a:buNone/>
            </a:pPr>
            <a:r>
              <a:rPr lang="en-US" sz="3500" b="1" dirty="0">
                <a:solidFill>
                  <a:srgbClr val="FFFFFF"/>
                </a:solidFill>
                <a:latin typeface="Aptos" pitchFamily="34" charset="0"/>
                <a:ea typeface="Aptos" pitchFamily="34" charset="-122"/>
                <a:cs typeface="Aptos" pitchFamily="34" charset="-120"/>
              </a:rPr>
              <a:t>Welcome to Technology</a:t>
            </a:r>
            <a:endParaRPr lang="en-US" sz="3500" dirty="0"/>
          </a:p>
          <a:p>
            <a:pPr marL="0" indent="0">
              <a:buNone/>
            </a:pPr>
            <a:r>
              <a:rPr lang="en-US" sz="3500" b="1" dirty="0">
                <a:solidFill>
                  <a:srgbClr val="FFFFFF"/>
                </a:solidFill>
                <a:latin typeface="Aptos" pitchFamily="34" charset="0"/>
                <a:ea typeface="Aptos" pitchFamily="34" charset="-122"/>
                <a:cs typeface="Aptos" pitchFamily="34" charset="-120"/>
              </a:rPr>
              <a:t>&amp; How the Internet Works</a:t>
            </a:r>
            <a:endParaRPr lang="en-US" sz="3500" dirty="0"/>
          </a:p>
        </p:txBody>
      </p:sp>
      <p:sp>
        <p:nvSpPr>
          <p:cNvPr id="8" name="Text 5"/>
          <p:cNvSpPr/>
          <p:nvPr/>
        </p:nvSpPr>
        <p:spPr>
          <a:xfrm>
            <a:off x="822960" y="6355080"/>
            <a:ext cx="8500000" cy="228600"/>
          </a:xfrm>
          <a:prstGeom prst="rect">
            <a:avLst/>
          </a:prstGeom>
          <a:noFill/>
        </p:spPr>
        <p:txBody>
          <a:bodyPr wrap="square" lIns="0" tIns="0" rIns="0" bIns="0" rtlCol="0" anchor="ctr">
            <a:normAutofit/>
          </a:bodyPr>
          <a:lstStyle/>
          <a:p>
            <a:pPr marL="0" indent="0">
              <a:buNone/>
            </a:pPr>
            <a:r>
              <a:rPr lang="en-US" sz="1400" dirty="0">
                <a:solidFill>
                  <a:srgbClr val="E8EDF4"/>
                </a:solidFill>
                <a:latin typeface="Aptos" pitchFamily="34" charset="0"/>
                <a:ea typeface="Aptos" pitchFamily="34" charset="-122"/>
                <a:cs typeface="Aptos" pitchFamily="34" charset="-120"/>
              </a:rPr>
              <a:t>NextGen Web, Cloud &amp; AI Engineering Bootcamp</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DAA62F"/>
          </a:solidFill>
          <a:ln w="12700">
            <a:solidFill>
              <a:srgbClr val="DAA62F"/>
            </a:solidFill>
            <a:prstDash val="solid"/>
          </a:ln>
        </p:spPr>
      </p:sp>
      <p:sp>
        <p:nvSpPr>
          <p:cNvPr id="3" name="Text 1"/>
          <p:cNvSpPr/>
          <p:nvPr/>
        </p:nvSpPr>
        <p:spPr>
          <a:xfrm>
            <a:off x="603504" y="292608"/>
            <a:ext cx="9144000" cy="201168"/>
          </a:xfrm>
          <a:prstGeom prst="rect">
            <a:avLst/>
          </a:prstGeom>
          <a:noFill/>
        </p:spPr>
        <p:txBody>
          <a:bodyPr wrap="square" lIns="0" tIns="0" rIns="0" bIns="0" rtlCol="0" anchor="ctr">
            <a:normAutofit/>
          </a:bodyPr>
          <a:lstStyle/>
          <a:p>
            <a:pPr marL="0" indent="0">
              <a:buNone/>
            </a:pPr>
            <a:r>
              <a:rPr lang="en-US" sz="1000" b="1" kern="0" spc="120" dirty="0">
                <a:solidFill>
                  <a:srgbClr val="63738B"/>
                </a:solidFill>
                <a:latin typeface="Aptos" pitchFamily="34" charset="0"/>
                <a:ea typeface="Aptos" pitchFamily="34" charset="-122"/>
                <a:cs typeface="Aptos" pitchFamily="34" charset="-120"/>
              </a:rPr>
              <a:t>WEEK 01 · FULL-STACK JOURNEY</a:t>
            </a:r>
            <a:endParaRPr lang="en-US" sz="1000" dirty="0"/>
          </a:p>
        </p:txBody>
      </p:sp>
      <p:sp>
        <p:nvSpPr>
          <p:cNvPr id="4" name="Text 2"/>
          <p:cNvSpPr/>
          <p:nvPr/>
        </p:nvSpPr>
        <p:spPr>
          <a:xfrm>
            <a:off x="603504" y="676656"/>
            <a:ext cx="10972800" cy="658368"/>
          </a:xfrm>
          <a:prstGeom prst="rect">
            <a:avLst/>
          </a:prstGeom>
          <a:noFill/>
        </p:spPr>
        <p:txBody>
          <a:bodyPr wrap="square" lIns="0" tIns="0" rIns="0" bIns="0" rtlCol="0" anchor="ctr">
            <a:normAutofit/>
          </a:bodyPr>
          <a:lstStyle/>
          <a:p>
            <a:pPr marL="0" indent="0">
              <a:buNone/>
            </a:pPr>
            <a:r>
              <a:rPr lang="en-US" sz="3100" b="1" dirty="0">
                <a:solidFill>
                  <a:srgbClr val="0D2F5F"/>
                </a:solidFill>
                <a:latin typeface="Aptos" pitchFamily="34" charset="0"/>
                <a:ea typeface="Aptos" pitchFamily="34" charset="-122"/>
                <a:cs typeface="Aptos" pitchFamily="34" charset="-120"/>
              </a:rPr>
              <a:t>What you will be able to explain</a:t>
            </a:r>
            <a:endParaRPr lang="en-US" sz="3100" dirty="0"/>
          </a:p>
        </p:txBody>
      </p:sp>
      <p:sp>
        <p:nvSpPr>
          <p:cNvPr id="5" name="Shape 3"/>
          <p:cNvSpPr/>
          <p:nvPr/>
        </p:nvSpPr>
        <p:spPr>
          <a:xfrm>
            <a:off x="603504" y="1408176"/>
            <a:ext cx="10981944" cy="0"/>
          </a:xfrm>
          <a:prstGeom prst="line">
            <a:avLst/>
          </a:prstGeom>
          <a:noFill/>
          <a:ln w="12700">
            <a:solidFill>
              <a:srgbClr val="DEE5EF"/>
            </a:solidFill>
            <a:prstDash val="solid"/>
            <a:headEnd type="none"/>
            <a:tailEnd type="none"/>
          </a:ln>
        </p:spPr>
      </p:sp>
      <p:pic>
        <p:nvPicPr>
          <p:cNvPr id="6" name="Image 0" descr="/mnt/data/cwp-logo-primary-transparent.png"/>
          <p:cNvPicPr>
            <a:picLocks noChangeAspect="1"/>
          </p:cNvPicPr>
          <p:nvPr/>
        </p:nvPicPr>
        <p:blipFill>
          <a:blip r:embed="rId1"/>
          <a:stretch>
            <a:fillRect/>
          </a:stretch>
        </p:blipFill>
        <p:spPr>
          <a:xfrm>
            <a:off x="603250" y="6029325"/>
            <a:ext cx="946150" cy="628650"/>
          </a:xfrm>
          <a:prstGeom prst="rect">
            <a:avLst/>
          </a:prstGeom>
        </p:spPr>
      </p:pic>
      <p:sp>
        <p:nvSpPr>
          <p:cNvPr id="7" name="Text 4"/>
          <p:cNvSpPr/>
          <p:nvPr/>
        </p:nvSpPr>
        <p:spPr>
          <a:xfrm>
            <a:off x="9485884" y="6419850"/>
            <a:ext cx="1746504" cy="219456"/>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codewithprof.com</a:t>
            </a:r>
            <a:endParaRPr lang="en-US" sz="1000" dirty="0"/>
          </a:p>
        </p:txBody>
      </p:sp>
      <p:sp>
        <p:nvSpPr>
          <p:cNvPr id="8" name="Text 5"/>
          <p:cNvSpPr/>
          <p:nvPr/>
        </p:nvSpPr>
        <p:spPr>
          <a:xfrm>
            <a:off x="11338560" y="6437376"/>
            <a:ext cx="237744" cy="201168"/>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02</a:t>
            </a:r>
            <a:endParaRPr lang="en-US" sz="1000" dirty="0"/>
          </a:p>
        </p:txBody>
      </p:sp>
      <p:sp>
        <p:nvSpPr>
          <p:cNvPr id="9" name="Shape 6"/>
          <p:cNvSpPr/>
          <p:nvPr/>
        </p:nvSpPr>
        <p:spPr>
          <a:xfrm>
            <a:off x="612648" y="1719072"/>
            <a:ext cx="5340096" cy="1307592"/>
          </a:xfrm>
          <a:prstGeom prst="roundRect">
            <a:avLst>
              <a:gd name="adj" fmla="val 11189"/>
            </a:avLst>
          </a:prstGeom>
          <a:solidFill>
            <a:srgbClr val="FFFFFF"/>
          </a:solidFill>
          <a:ln w="12700">
            <a:solidFill>
              <a:srgbClr val="FFFFFF">
                <a:alpha val="0"/>
              </a:srgbClr>
            </a:solidFill>
            <a:prstDash val="solid"/>
          </a:ln>
        </p:spPr>
      </p:sp>
      <p:sp>
        <p:nvSpPr>
          <p:cNvPr id="10" name="Shape 7"/>
          <p:cNvSpPr/>
          <p:nvPr/>
        </p:nvSpPr>
        <p:spPr>
          <a:xfrm>
            <a:off x="612648" y="1719072"/>
            <a:ext cx="59436" cy="1307592"/>
          </a:xfrm>
          <a:prstGeom prst="rect">
            <a:avLst/>
          </a:prstGeom>
          <a:solidFill>
            <a:srgbClr val="DAA62F"/>
          </a:solidFill>
          <a:ln w="12700">
            <a:solidFill>
              <a:srgbClr val="DAA62F"/>
            </a:solidFill>
            <a:prstDash val="solid"/>
          </a:ln>
        </p:spPr>
      </p:sp>
      <p:sp>
        <p:nvSpPr>
          <p:cNvPr id="11" name="Text 8"/>
          <p:cNvSpPr/>
          <p:nvPr/>
        </p:nvSpPr>
        <p:spPr>
          <a:xfrm>
            <a:off x="832104" y="1892808"/>
            <a:ext cx="4901184" cy="393192"/>
          </a:xfrm>
          <a:prstGeom prst="rect">
            <a:avLst/>
          </a:prstGeom>
          <a:noFill/>
        </p:spPr>
        <p:txBody>
          <a:bodyPr wrap="square" lIns="0" tIns="0" rIns="0" bIns="0" rtlCol="0" anchor="ctr">
            <a:normAutofit/>
          </a:bodyPr>
          <a:lstStyle/>
          <a:p>
            <a:pPr marL="0" indent="0">
              <a:buNone/>
            </a:pPr>
            <a:r>
              <a:rPr lang="en-US" sz="1700" b="1" dirty="0">
                <a:solidFill>
                  <a:srgbClr val="0D2F5F"/>
                </a:solidFill>
                <a:latin typeface="Aptos" pitchFamily="34" charset="0"/>
                <a:ea typeface="Aptos" pitchFamily="34" charset="-122"/>
                <a:cs typeface="Aptos" pitchFamily="34" charset="-120"/>
              </a:rPr>
              <a:t>01 · Engineering</a:t>
            </a:r>
            <a:endParaRPr lang="en-US" sz="1700" dirty="0"/>
          </a:p>
        </p:txBody>
      </p:sp>
      <p:sp>
        <p:nvSpPr>
          <p:cNvPr id="12" name="Text 9"/>
          <p:cNvSpPr/>
          <p:nvPr/>
        </p:nvSpPr>
        <p:spPr>
          <a:xfrm>
            <a:off x="832104" y="2386584"/>
            <a:ext cx="4901184" cy="475488"/>
          </a:xfrm>
          <a:prstGeom prst="rect">
            <a:avLst/>
          </a:prstGeom>
          <a:noFill/>
        </p:spPr>
        <p:txBody>
          <a:bodyPr wrap="square" lIns="0" tIns="0" rIns="0" bIns="0" rtlCol="0" anchor="t">
            <a:normAutofit/>
          </a:bodyPr>
          <a:lstStyle/>
          <a:p>
            <a:pPr marL="0" indent="0">
              <a:buNone/>
            </a:pPr>
            <a:r>
              <a:rPr lang="en-US" sz="1450" dirty="0">
                <a:solidFill>
                  <a:srgbClr val="63738B"/>
                </a:solidFill>
                <a:latin typeface="Aptos" pitchFamily="34" charset="0"/>
                <a:ea typeface="Aptos" pitchFamily="34" charset="-122"/>
                <a:cs typeface="Aptos" pitchFamily="34" charset="-120"/>
              </a:rPr>
              <a:t>Why building dependable software is more than writing code</a:t>
            </a:r>
            <a:endParaRPr lang="en-US" sz="1450" dirty="0"/>
          </a:p>
        </p:txBody>
      </p:sp>
      <p:sp>
        <p:nvSpPr>
          <p:cNvPr id="13" name="Shape 10"/>
          <p:cNvSpPr/>
          <p:nvPr/>
        </p:nvSpPr>
        <p:spPr>
          <a:xfrm>
            <a:off x="6144768" y="1719072"/>
            <a:ext cx="5404104" cy="1307592"/>
          </a:xfrm>
          <a:prstGeom prst="roundRect">
            <a:avLst>
              <a:gd name="adj" fmla="val 11189"/>
            </a:avLst>
          </a:prstGeom>
          <a:solidFill>
            <a:srgbClr val="FFFFFF"/>
          </a:solidFill>
          <a:ln w="12700">
            <a:solidFill>
              <a:srgbClr val="FFFFFF">
                <a:alpha val="0"/>
              </a:srgbClr>
            </a:solidFill>
            <a:prstDash val="solid"/>
          </a:ln>
        </p:spPr>
      </p:sp>
      <p:sp>
        <p:nvSpPr>
          <p:cNvPr id="14" name="Shape 11"/>
          <p:cNvSpPr/>
          <p:nvPr/>
        </p:nvSpPr>
        <p:spPr>
          <a:xfrm>
            <a:off x="6144768" y="1719072"/>
            <a:ext cx="59436" cy="1307592"/>
          </a:xfrm>
          <a:prstGeom prst="rect">
            <a:avLst/>
          </a:prstGeom>
          <a:solidFill>
            <a:srgbClr val="DAA62F"/>
          </a:solidFill>
          <a:ln w="12700">
            <a:solidFill>
              <a:srgbClr val="DAA62F"/>
            </a:solidFill>
            <a:prstDash val="solid"/>
          </a:ln>
        </p:spPr>
      </p:sp>
      <p:sp>
        <p:nvSpPr>
          <p:cNvPr id="15" name="Text 12"/>
          <p:cNvSpPr/>
          <p:nvPr/>
        </p:nvSpPr>
        <p:spPr>
          <a:xfrm>
            <a:off x="6364224" y="1892808"/>
            <a:ext cx="4965192" cy="393192"/>
          </a:xfrm>
          <a:prstGeom prst="rect">
            <a:avLst/>
          </a:prstGeom>
          <a:noFill/>
        </p:spPr>
        <p:txBody>
          <a:bodyPr wrap="square" lIns="0" tIns="0" rIns="0" bIns="0" rtlCol="0" anchor="ctr">
            <a:normAutofit/>
          </a:bodyPr>
          <a:lstStyle/>
          <a:p>
            <a:pPr marL="0" indent="0">
              <a:buNone/>
            </a:pPr>
            <a:r>
              <a:rPr lang="en-US" sz="1700" b="1" dirty="0">
                <a:solidFill>
                  <a:srgbClr val="0D2F5F"/>
                </a:solidFill>
                <a:latin typeface="Aptos" pitchFamily="34" charset="0"/>
                <a:ea typeface="Aptos" pitchFamily="34" charset="-122"/>
                <a:cs typeface="Aptos" pitchFamily="34" charset="-120"/>
              </a:rPr>
              <a:t>02 · Technology careers</a:t>
            </a:r>
            <a:endParaRPr lang="en-US" sz="1700" dirty="0"/>
          </a:p>
        </p:txBody>
      </p:sp>
      <p:sp>
        <p:nvSpPr>
          <p:cNvPr id="16" name="Text 13"/>
          <p:cNvSpPr/>
          <p:nvPr/>
        </p:nvSpPr>
        <p:spPr>
          <a:xfrm>
            <a:off x="6364224" y="2386584"/>
            <a:ext cx="4965192" cy="475488"/>
          </a:xfrm>
          <a:prstGeom prst="rect">
            <a:avLst/>
          </a:prstGeom>
          <a:noFill/>
        </p:spPr>
        <p:txBody>
          <a:bodyPr wrap="square" lIns="0" tIns="0" rIns="0" bIns="0" rtlCol="0" anchor="t">
            <a:normAutofit/>
          </a:bodyPr>
          <a:lstStyle/>
          <a:p>
            <a:pPr marL="0" indent="0">
              <a:buNone/>
            </a:pPr>
            <a:r>
              <a:rPr lang="en-US" sz="1450" dirty="0">
                <a:solidFill>
                  <a:srgbClr val="63738B"/>
                </a:solidFill>
                <a:latin typeface="Aptos" pitchFamily="34" charset="0"/>
                <a:ea typeface="Aptos" pitchFamily="34" charset="-122"/>
                <a:cs typeface="Aptos" pitchFamily="34" charset="-120"/>
              </a:rPr>
              <a:t>How developers, designers, testers and other roles work together</a:t>
            </a:r>
            <a:endParaRPr lang="en-US" sz="1450" dirty="0"/>
          </a:p>
        </p:txBody>
      </p:sp>
      <p:sp>
        <p:nvSpPr>
          <p:cNvPr id="17" name="Shape 14"/>
          <p:cNvSpPr/>
          <p:nvPr/>
        </p:nvSpPr>
        <p:spPr>
          <a:xfrm>
            <a:off x="612648" y="3218688"/>
            <a:ext cx="5340096" cy="1307592"/>
          </a:xfrm>
          <a:prstGeom prst="roundRect">
            <a:avLst>
              <a:gd name="adj" fmla="val 11189"/>
            </a:avLst>
          </a:prstGeom>
          <a:solidFill>
            <a:srgbClr val="FFFFFF"/>
          </a:solidFill>
          <a:ln w="12700">
            <a:solidFill>
              <a:srgbClr val="FFFFFF">
                <a:alpha val="0"/>
              </a:srgbClr>
            </a:solidFill>
            <a:prstDash val="solid"/>
          </a:ln>
        </p:spPr>
      </p:sp>
      <p:sp>
        <p:nvSpPr>
          <p:cNvPr id="18" name="Shape 15"/>
          <p:cNvSpPr/>
          <p:nvPr/>
        </p:nvSpPr>
        <p:spPr>
          <a:xfrm>
            <a:off x="612648" y="3218688"/>
            <a:ext cx="59436" cy="1307592"/>
          </a:xfrm>
          <a:prstGeom prst="rect">
            <a:avLst/>
          </a:prstGeom>
          <a:solidFill>
            <a:srgbClr val="DAA62F"/>
          </a:solidFill>
          <a:ln w="12700">
            <a:solidFill>
              <a:srgbClr val="DAA62F"/>
            </a:solidFill>
            <a:prstDash val="solid"/>
          </a:ln>
        </p:spPr>
      </p:sp>
      <p:sp>
        <p:nvSpPr>
          <p:cNvPr id="19" name="Text 16"/>
          <p:cNvSpPr/>
          <p:nvPr/>
        </p:nvSpPr>
        <p:spPr>
          <a:xfrm>
            <a:off x="832104" y="3392424"/>
            <a:ext cx="4901184" cy="393192"/>
          </a:xfrm>
          <a:prstGeom prst="rect">
            <a:avLst/>
          </a:prstGeom>
          <a:noFill/>
        </p:spPr>
        <p:txBody>
          <a:bodyPr wrap="square" lIns="0" tIns="0" rIns="0" bIns="0" rtlCol="0" anchor="ctr">
            <a:normAutofit/>
          </a:bodyPr>
          <a:lstStyle/>
          <a:p>
            <a:pPr marL="0" indent="0">
              <a:buNone/>
            </a:pPr>
            <a:r>
              <a:rPr lang="en-US" sz="1700" b="1" dirty="0">
                <a:solidFill>
                  <a:srgbClr val="0D2F5F"/>
                </a:solidFill>
                <a:latin typeface="Aptos" pitchFamily="34" charset="0"/>
                <a:ea typeface="Aptos" pitchFamily="34" charset="-122"/>
                <a:cs typeface="Aptos" pitchFamily="34" charset="-120"/>
              </a:rPr>
              <a:t>03 · The internet</a:t>
            </a:r>
            <a:endParaRPr lang="en-US" sz="1700" dirty="0"/>
          </a:p>
        </p:txBody>
      </p:sp>
      <p:sp>
        <p:nvSpPr>
          <p:cNvPr id="20" name="Text 17"/>
          <p:cNvSpPr/>
          <p:nvPr/>
        </p:nvSpPr>
        <p:spPr>
          <a:xfrm>
            <a:off x="832104" y="3886200"/>
            <a:ext cx="4901184" cy="475488"/>
          </a:xfrm>
          <a:prstGeom prst="rect">
            <a:avLst/>
          </a:prstGeom>
          <a:noFill/>
        </p:spPr>
        <p:txBody>
          <a:bodyPr wrap="square" lIns="0" tIns="0" rIns="0" bIns="0" rtlCol="0" anchor="t">
            <a:normAutofit/>
          </a:bodyPr>
          <a:lstStyle/>
          <a:p>
            <a:pPr marL="0" indent="0">
              <a:buNone/>
            </a:pPr>
            <a:r>
              <a:rPr lang="en-US" sz="1450" dirty="0">
                <a:solidFill>
                  <a:srgbClr val="63738B"/>
                </a:solidFill>
                <a:latin typeface="Aptos" pitchFamily="34" charset="0"/>
                <a:ea typeface="Aptos" pitchFamily="34" charset="-122"/>
                <a:cs typeface="Aptos" pitchFamily="34" charset="-120"/>
              </a:rPr>
              <a:t>Clients, servers, IP addresses, DNS, URLs, HTTP and APIs</a:t>
            </a:r>
            <a:endParaRPr lang="en-US" sz="1450" dirty="0"/>
          </a:p>
        </p:txBody>
      </p:sp>
      <p:sp>
        <p:nvSpPr>
          <p:cNvPr id="21" name="Shape 18"/>
          <p:cNvSpPr/>
          <p:nvPr/>
        </p:nvSpPr>
        <p:spPr>
          <a:xfrm>
            <a:off x="6144768" y="3218688"/>
            <a:ext cx="5404104" cy="1307592"/>
          </a:xfrm>
          <a:prstGeom prst="roundRect">
            <a:avLst>
              <a:gd name="adj" fmla="val 11189"/>
            </a:avLst>
          </a:prstGeom>
          <a:solidFill>
            <a:srgbClr val="FFFFFF"/>
          </a:solidFill>
          <a:ln w="12700">
            <a:solidFill>
              <a:srgbClr val="FFFFFF">
                <a:alpha val="0"/>
              </a:srgbClr>
            </a:solidFill>
            <a:prstDash val="solid"/>
          </a:ln>
        </p:spPr>
      </p:sp>
      <p:sp>
        <p:nvSpPr>
          <p:cNvPr id="22" name="Shape 19"/>
          <p:cNvSpPr/>
          <p:nvPr/>
        </p:nvSpPr>
        <p:spPr>
          <a:xfrm>
            <a:off x="6144768" y="3218688"/>
            <a:ext cx="59436" cy="1307592"/>
          </a:xfrm>
          <a:prstGeom prst="rect">
            <a:avLst/>
          </a:prstGeom>
          <a:solidFill>
            <a:srgbClr val="DAA62F"/>
          </a:solidFill>
          <a:ln w="12700">
            <a:solidFill>
              <a:srgbClr val="DAA62F"/>
            </a:solidFill>
            <a:prstDash val="solid"/>
          </a:ln>
        </p:spPr>
      </p:sp>
      <p:sp>
        <p:nvSpPr>
          <p:cNvPr id="23" name="Text 20"/>
          <p:cNvSpPr/>
          <p:nvPr/>
        </p:nvSpPr>
        <p:spPr>
          <a:xfrm>
            <a:off x="6364224" y="3392424"/>
            <a:ext cx="4965192" cy="393192"/>
          </a:xfrm>
          <a:prstGeom prst="rect">
            <a:avLst/>
          </a:prstGeom>
          <a:noFill/>
        </p:spPr>
        <p:txBody>
          <a:bodyPr wrap="square" lIns="0" tIns="0" rIns="0" bIns="0" rtlCol="0" anchor="ctr">
            <a:normAutofit/>
          </a:bodyPr>
          <a:lstStyle/>
          <a:p>
            <a:pPr marL="0" indent="0">
              <a:buNone/>
            </a:pPr>
            <a:r>
              <a:rPr lang="en-US" sz="1700" b="1" dirty="0">
                <a:solidFill>
                  <a:srgbClr val="0D2F5F"/>
                </a:solidFill>
                <a:latin typeface="Aptos" pitchFamily="34" charset="0"/>
                <a:ea typeface="Aptos" pitchFamily="34" charset="-122"/>
                <a:cs typeface="Aptos" pitchFamily="34" charset="-120"/>
              </a:rPr>
              <a:t>04 · Responsibility</a:t>
            </a:r>
            <a:endParaRPr lang="en-US" sz="1700" dirty="0"/>
          </a:p>
        </p:txBody>
      </p:sp>
      <p:sp>
        <p:nvSpPr>
          <p:cNvPr id="24" name="Text 21"/>
          <p:cNvSpPr/>
          <p:nvPr/>
        </p:nvSpPr>
        <p:spPr>
          <a:xfrm>
            <a:off x="6364224" y="3886200"/>
            <a:ext cx="4965192" cy="475488"/>
          </a:xfrm>
          <a:prstGeom prst="rect">
            <a:avLst/>
          </a:prstGeom>
          <a:noFill/>
        </p:spPr>
        <p:txBody>
          <a:bodyPr wrap="square" lIns="0" tIns="0" rIns="0" bIns="0" rtlCol="0" anchor="t">
            <a:normAutofit/>
          </a:bodyPr>
          <a:lstStyle/>
          <a:p>
            <a:pPr marL="0" indent="0">
              <a:buNone/>
            </a:pPr>
            <a:r>
              <a:rPr lang="en-US" sz="1450" dirty="0">
                <a:solidFill>
                  <a:srgbClr val="63738B"/>
                </a:solidFill>
                <a:latin typeface="Aptos" pitchFamily="34" charset="0"/>
                <a:ea typeface="Aptos" pitchFamily="34" charset="-122"/>
                <a:cs typeface="Aptos" pitchFamily="34" charset="-120"/>
              </a:rPr>
              <a:t>Online safety, privacy and thoughtful use of AI</a:t>
            </a:r>
            <a:endParaRPr lang="en-US" sz="1450" dirty="0"/>
          </a:p>
        </p:txBody>
      </p:sp>
      <p:sp>
        <p:nvSpPr>
          <p:cNvPr id="25" name="Shape 22"/>
          <p:cNvSpPr/>
          <p:nvPr/>
        </p:nvSpPr>
        <p:spPr>
          <a:xfrm>
            <a:off x="612648" y="4864608"/>
            <a:ext cx="10936224" cy="777240"/>
          </a:xfrm>
          <a:prstGeom prst="roundRect">
            <a:avLst>
              <a:gd name="adj" fmla="val 18824"/>
            </a:avLst>
          </a:prstGeom>
          <a:solidFill>
            <a:srgbClr val="0D2F5F"/>
          </a:solidFill>
          <a:ln w="12700">
            <a:solidFill>
              <a:srgbClr val="0D2F5F">
                <a:alpha val="0"/>
              </a:srgbClr>
            </a:solidFill>
            <a:prstDash val="solid"/>
          </a:ln>
        </p:spPr>
      </p:sp>
      <p:sp>
        <p:nvSpPr>
          <p:cNvPr id="26" name="Text 23"/>
          <p:cNvSpPr/>
          <p:nvPr/>
        </p:nvSpPr>
        <p:spPr>
          <a:xfrm>
            <a:off x="886968" y="5047488"/>
            <a:ext cx="10369296" cy="374904"/>
          </a:xfrm>
          <a:prstGeom prst="rect">
            <a:avLst/>
          </a:prstGeom>
          <a:noFill/>
        </p:spPr>
        <p:txBody>
          <a:bodyPr wrap="square" lIns="0" tIns="0" rIns="0" bIns="0" rtlCol="0" anchor="ctr">
            <a:normAutofit/>
          </a:bodyPr>
          <a:lstStyle/>
          <a:p>
            <a:pPr marL="0" indent="0">
              <a:buNone/>
            </a:pPr>
            <a:r>
              <a:rPr lang="en-US" sz="2000" b="1" dirty="0">
                <a:solidFill>
                  <a:srgbClr val="FFFFFF"/>
                </a:solidFill>
                <a:latin typeface="Aptos" pitchFamily="34" charset="0"/>
                <a:ea typeface="Aptos" pitchFamily="34" charset="-122"/>
                <a:cs typeface="Aptos" pitchFamily="34" charset="-120"/>
              </a:rPr>
              <a:t>Big idea: Every app is a conversation between computers — created by a team of people.</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DAA62F"/>
          </a:solidFill>
          <a:ln w="12700">
            <a:solidFill>
              <a:srgbClr val="DAA62F"/>
            </a:solidFill>
            <a:prstDash val="solid"/>
          </a:ln>
        </p:spPr>
      </p:sp>
      <p:sp>
        <p:nvSpPr>
          <p:cNvPr id="3" name="Text 1"/>
          <p:cNvSpPr/>
          <p:nvPr/>
        </p:nvSpPr>
        <p:spPr>
          <a:xfrm>
            <a:off x="603504" y="292608"/>
            <a:ext cx="9144000" cy="201168"/>
          </a:xfrm>
          <a:prstGeom prst="rect">
            <a:avLst/>
          </a:prstGeom>
          <a:noFill/>
        </p:spPr>
        <p:txBody>
          <a:bodyPr wrap="square" lIns="0" tIns="0" rIns="0" bIns="0" rtlCol="0" anchor="ctr">
            <a:normAutofit/>
          </a:bodyPr>
          <a:lstStyle/>
          <a:p>
            <a:pPr marL="0" indent="0">
              <a:buNone/>
            </a:pPr>
            <a:r>
              <a:rPr lang="en-US" sz="1000" b="1" kern="0" spc="120" dirty="0">
                <a:solidFill>
                  <a:srgbClr val="63738B"/>
                </a:solidFill>
                <a:latin typeface="Aptos" pitchFamily="34" charset="0"/>
                <a:ea typeface="Aptos" pitchFamily="34" charset="-122"/>
                <a:cs typeface="Aptos" pitchFamily="34" charset="-120"/>
              </a:rPr>
              <a:t>WEEK 01 · FULL-STACK JOURNEY</a:t>
            </a:r>
            <a:endParaRPr lang="en-US" sz="1000" dirty="0"/>
          </a:p>
        </p:txBody>
      </p:sp>
      <p:sp>
        <p:nvSpPr>
          <p:cNvPr id="4" name="Text 2"/>
          <p:cNvSpPr/>
          <p:nvPr/>
        </p:nvSpPr>
        <p:spPr>
          <a:xfrm>
            <a:off x="603504" y="676656"/>
            <a:ext cx="10972800" cy="658368"/>
          </a:xfrm>
          <a:prstGeom prst="rect">
            <a:avLst/>
          </a:prstGeom>
          <a:noFill/>
        </p:spPr>
        <p:txBody>
          <a:bodyPr wrap="square" lIns="0" tIns="0" rIns="0" bIns="0" rtlCol="0" anchor="ctr">
            <a:normAutofit/>
          </a:bodyPr>
          <a:lstStyle/>
          <a:p>
            <a:pPr marL="0" indent="0">
              <a:buNone/>
            </a:pPr>
            <a:r>
              <a:rPr lang="en-US" sz="3100" b="1" dirty="0">
                <a:solidFill>
                  <a:srgbClr val="0D2F5F"/>
                </a:solidFill>
                <a:latin typeface="Aptos" pitchFamily="34" charset="0"/>
                <a:ea typeface="Aptos" pitchFamily="34" charset="-122"/>
                <a:cs typeface="Aptos" pitchFamily="34" charset="-120"/>
              </a:rPr>
              <a:t>Our shared example: StudyHub</a:t>
            </a:r>
            <a:endParaRPr lang="en-US" sz="3100" dirty="0"/>
          </a:p>
        </p:txBody>
      </p:sp>
      <p:sp>
        <p:nvSpPr>
          <p:cNvPr id="5" name="Shape 3"/>
          <p:cNvSpPr/>
          <p:nvPr/>
        </p:nvSpPr>
        <p:spPr>
          <a:xfrm>
            <a:off x="603504" y="1408176"/>
            <a:ext cx="10981944" cy="0"/>
          </a:xfrm>
          <a:prstGeom prst="line">
            <a:avLst/>
          </a:prstGeom>
          <a:noFill/>
          <a:ln w="12700">
            <a:solidFill>
              <a:srgbClr val="DEE5EF"/>
            </a:solidFill>
            <a:prstDash val="solid"/>
            <a:headEnd type="none"/>
            <a:tailEnd type="none"/>
          </a:ln>
        </p:spPr>
      </p:sp>
      <p:sp>
        <p:nvSpPr>
          <p:cNvPr id="8" name="Text 5"/>
          <p:cNvSpPr/>
          <p:nvPr/>
        </p:nvSpPr>
        <p:spPr>
          <a:xfrm>
            <a:off x="11338560" y="6437376"/>
            <a:ext cx="237744" cy="201168"/>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03</a:t>
            </a:r>
            <a:endParaRPr lang="en-US" sz="1000" dirty="0"/>
          </a:p>
        </p:txBody>
      </p:sp>
      <p:sp>
        <p:nvSpPr>
          <p:cNvPr id="9" name="Text 6"/>
          <p:cNvSpPr/>
          <p:nvPr/>
        </p:nvSpPr>
        <p:spPr>
          <a:xfrm>
            <a:off x="685800" y="1655064"/>
            <a:ext cx="10698480" cy="411480"/>
          </a:xfrm>
          <a:prstGeom prst="rect">
            <a:avLst/>
          </a:prstGeom>
          <a:noFill/>
        </p:spPr>
        <p:txBody>
          <a:bodyPr wrap="square" lIns="0" tIns="0" rIns="0" bIns="0" rtlCol="0" anchor="ctr">
            <a:normAutofit/>
          </a:bodyPr>
          <a:lstStyle/>
          <a:p>
            <a:pPr marL="0" indent="0">
              <a:buNone/>
            </a:pPr>
            <a:r>
              <a:rPr lang="en-US" sz="2200" dirty="0">
                <a:solidFill>
                  <a:srgbClr val="63738B"/>
                </a:solidFill>
                <a:latin typeface="Aptos" pitchFamily="34" charset="0"/>
                <a:ea typeface="Aptos" pitchFamily="34" charset="-122"/>
                <a:cs typeface="Aptos" pitchFamily="34" charset="-120"/>
              </a:rPr>
              <a:t>Imagine an online school learning platform.</a:t>
            </a:r>
            <a:endParaRPr lang="en-US" sz="2200" dirty="0"/>
          </a:p>
        </p:txBody>
      </p:sp>
      <p:sp>
        <p:nvSpPr>
          <p:cNvPr id="10" name="Shape 7"/>
          <p:cNvSpPr/>
          <p:nvPr/>
        </p:nvSpPr>
        <p:spPr>
          <a:xfrm>
            <a:off x="685800" y="2267712"/>
            <a:ext cx="3337560" cy="2331720"/>
          </a:xfrm>
          <a:prstGeom prst="roundRect">
            <a:avLst>
              <a:gd name="adj" fmla="val 6275"/>
            </a:avLst>
          </a:prstGeom>
          <a:solidFill>
            <a:srgbClr val="FFFFFF"/>
          </a:solidFill>
          <a:ln w="12700">
            <a:solidFill>
              <a:srgbClr val="FFFFFF">
                <a:alpha val="0"/>
              </a:srgbClr>
            </a:solidFill>
            <a:prstDash val="solid"/>
          </a:ln>
        </p:spPr>
      </p:sp>
      <p:sp>
        <p:nvSpPr>
          <p:cNvPr id="11" name="Shape 8"/>
          <p:cNvSpPr/>
          <p:nvPr/>
        </p:nvSpPr>
        <p:spPr>
          <a:xfrm>
            <a:off x="685800" y="2267712"/>
            <a:ext cx="59436" cy="2331720"/>
          </a:xfrm>
          <a:prstGeom prst="rect">
            <a:avLst/>
          </a:prstGeom>
          <a:solidFill>
            <a:srgbClr val="DAA62F"/>
          </a:solidFill>
          <a:ln w="12700">
            <a:solidFill>
              <a:srgbClr val="DAA62F"/>
            </a:solidFill>
            <a:prstDash val="solid"/>
          </a:ln>
        </p:spPr>
      </p:sp>
      <p:sp>
        <p:nvSpPr>
          <p:cNvPr id="12" name="Text 9"/>
          <p:cNvSpPr/>
          <p:nvPr/>
        </p:nvSpPr>
        <p:spPr>
          <a:xfrm>
            <a:off x="905256" y="2441448"/>
            <a:ext cx="2898648" cy="393192"/>
          </a:xfrm>
          <a:prstGeom prst="rect">
            <a:avLst/>
          </a:prstGeom>
          <a:noFill/>
        </p:spPr>
        <p:txBody>
          <a:bodyPr wrap="square" lIns="0" tIns="0" rIns="0" bIns="0" rtlCol="0" anchor="ctr">
            <a:normAutofit/>
          </a:bodyPr>
          <a:lstStyle/>
          <a:p>
            <a:pPr marL="0" indent="0">
              <a:buNone/>
            </a:pPr>
            <a:r>
              <a:rPr lang="en-US" sz="2100" b="1" dirty="0">
                <a:solidFill>
                  <a:srgbClr val="0D2F5F"/>
                </a:solidFill>
                <a:latin typeface="Aptos" pitchFamily="34" charset="0"/>
                <a:ea typeface="Aptos" pitchFamily="34" charset="-122"/>
                <a:cs typeface="Aptos" pitchFamily="34" charset="-120"/>
              </a:rPr>
              <a:t>See courses</a:t>
            </a:r>
            <a:endParaRPr lang="en-US" sz="2100" dirty="0"/>
          </a:p>
        </p:txBody>
      </p:sp>
      <p:sp>
        <p:nvSpPr>
          <p:cNvPr id="13" name="Text 10"/>
          <p:cNvSpPr/>
          <p:nvPr/>
        </p:nvSpPr>
        <p:spPr>
          <a:xfrm>
            <a:off x="905256" y="2935224"/>
            <a:ext cx="2898648" cy="1499616"/>
          </a:xfrm>
          <a:prstGeom prst="rect">
            <a:avLst/>
          </a:prstGeom>
          <a:noFill/>
        </p:spPr>
        <p:txBody>
          <a:bodyPr wrap="square" lIns="0" tIns="0" rIns="0" bIns="0" rtlCol="0" anchor="t">
            <a:normAutofit/>
          </a:bodyPr>
          <a:lstStyle/>
          <a:p>
            <a:pPr marL="0" indent="0">
              <a:buNone/>
            </a:pPr>
            <a:r>
              <a:rPr lang="en-US" sz="1800" dirty="0">
                <a:solidFill>
                  <a:srgbClr val="63738B"/>
                </a:solidFill>
                <a:latin typeface="Aptos" pitchFamily="34" charset="0"/>
                <a:ea typeface="Aptos" pitchFamily="34" charset="-122"/>
                <a:cs typeface="Aptos" pitchFamily="34" charset="-120"/>
              </a:rPr>
              <a:t>Students browse available lessons, find their course and track progress.</a:t>
            </a:r>
            <a:endParaRPr lang="en-US" sz="1800" dirty="0"/>
          </a:p>
        </p:txBody>
      </p:sp>
      <p:sp>
        <p:nvSpPr>
          <p:cNvPr id="14" name="Shape 11"/>
          <p:cNvSpPr/>
          <p:nvPr/>
        </p:nvSpPr>
        <p:spPr>
          <a:xfrm>
            <a:off x="4407408" y="2267712"/>
            <a:ext cx="3337560" cy="2331720"/>
          </a:xfrm>
          <a:prstGeom prst="roundRect">
            <a:avLst>
              <a:gd name="adj" fmla="val 6275"/>
            </a:avLst>
          </a:prstGeom>
          <a:solidFill>
            <a:srgbClr val="FFFFFF"/>
          </a:solidFill>
          <a:ln w="12700">
            <a:solidFill>
              <a:srgbClr val="FFFFFF">
                <a:alpha val="0"/>
              </a:srgbClr>
            </a:solidFill>
            <a:prstDash val="solid"/>
          </a:ln>
        </p:spPr>
      </p:sp>
      <p:sp>
        <p:nvSpPr>
          <p:cNvPr id="15" name="Shape 12"/>
          <p:cNvSpPr/>
          <p:nvPr/>
        </p:nvSpPr>
        <p:spPr>
          <a:xfrm>
            <a:off x="4407408" y="2267712"/>
            <a:ext cx="59436" cy="2331720"/>
          </a:xfrm>
          <a:prstGeom prst="rect">
            <a:avLst/>
          </a:prstGeom>
          <a:solidFill>
            <a:srgbClr val="DAA62F"/>
          </a:solidFill>
          <a:ln w="12700">
            <a:solidFill>
              <a:srgbClr val="DAA62F"/>
            </a:solidFill>
            <a:prstDash val="solid"/>
          </a:ln>
        </p:spPr>
      </p:sp>
      <p:sp>
        <p:nvSpPr>
          <p:cNvPr id="16" name="Text 13"/>
          <p:cNvSpPr/>
          <p:nvPr/>
        </p:nvSpPr>
        <p:spPr>
          <a:xfrm>
            <a:off x="4626864" y="2441448"/>
            <a:ext cx="2898648" cy="393192"/>
          </a:xfrm>
          <a:prstGeom prst="rect">
            <a:avLst/>
          </a:prstGeom>
          <a:noFill/>
        </p:spPr>
        <p:txBody>
          <a:bodyPr wrap="square" lIns="0" tIns="0" rIns="0" bIns="0" rtlCol="0" anchor="ctr">
            <a:normAutofit/>
          </a:bodyPr>
          <a:lstStyle/>
          <a:p>
            <a:pPr marL="0" indent="0">
              <a:buNone/>
            </a:pPr>
            <a:r>
              <a:rPr lang="en-US" sz="2100" b="1" dirty="0">
                <a:solidFill>
                  <a:srgbClr val="0D2F5F"/>
                </a:solidFill>
                <a:latin typeface="Aptos" pitchFamily="34" charset="0"/>
                <a:ea typeface="Aptos" pitchFamily="34" charset="-122"/>
                <a:cs typeface="Aptos" pitchFamily="34" charset="-120"/>
              </a:rPr>
              <a:t>Submit homework</a:t>
            </a:r>
            <a:endParaRPr lang="en-US" sz="2100" dirty="0"/>
          </a:p>
        </p:txBody>
      </p:sp>
      <p:sp>
        <p:nvSpPr>
          <p:cNvPr id="17" name="Text 14"/>
          <p:cNvSpPr/>
          <p:nvPr/>
        </p:nvSpPr>
        <p:spPr>
          <a:xfrm>
            <a:off x="4626864" y="2935224"/>
            <a:ext cx="2898648" cy="1499616"/>
          </a:xfrm>
          <a:prstGeom prst="rect">
            <a:avLst/>
          </a:prstGeom>
          <a:noFill/>
        </p:spPr>
        <p:txBody>
          <a:bodyPr wrap="square" lIns="0" tIns="0" rIns="0" bIns="0" rtlCol="0" anchor="t">
            <a:normAutofit/>
          </a:bodyPr>
          <a:lstStyle/>
          <a:p>
            <a:pPr marL="0" indent="0">
              <a:buNone/>
            </a:pPr>
            <a:r>
              <a:rPr lang="en-US" sz="1800" dirty="0">
                <a:solidFill>
                  <a:srgbClr val="63738B"/>
                </a:solidFill>
                <a:latin typeface="Aptos" pitchFamily="34" charset="0"/>
                <a:ea typeface="Aptos" pitchFamily="34" charset="-122"/>
                <a:cs typeface="Aptos" pitchFamily="34" charset="-120"/>
              </a:rPr>
              <a:t>Students upload and submit assignments, and see their status.</a:t>
            </a:r>
            <a:endParaRPr lang="en-US" sz="1800" dirty="0"/>
          </a:p>
        </p:txBody>
      </p:sp>
      <p:sp>
        <p:nvSpPr>
          <p:cNvPr id="18" name="Shape 15"/>
          <p:cNvSpPr/>
          <p:nvPr/>
        </p:nvSpPr>
        <p:spPr>
          <a:xfrm>
            <a:off x="8119872" y="2267712"/>
            <a:ext cx="3337560" cy="2331720"/>
          </a:xfrm>
          <a:prstGeom prst="roundRect">
            <a:avLst>
              <a:gd name="adj" fmla="val 6275"/>
            </a:avLst>
          </a:prstGeom>
          <a:solidFill>
            <a:srgbClr val="FFFFFF"/>
          </a:solidFill>
          <a:ln w="12700">
            <a:solidFill>
              <a:srgbClr val="FFFFFF">
                <a:alpha val="0"/>
              </a:srgbClr>
            </a:solidFill>
            <a:prstDash val="solid"/>
          </a:ln>
        </p:spPr>
      </p:sp>
      <p:sp>
        <p:nvSpPr>
          <p:cNvPr id="19" name="Shape 16"/>
          <p:cNvSpPr/>
          <p:nvPr/>
        </p:nvSpPr>
        <p:spPr>
          <a:xfrm>
            <a:off x="8119872" y="2267712"/>
            <a:ext cx="59436" cy="2331720"/>
          </a:xfrm>
          <a:prstGeom prst="rect">
            <a:avLst/>
          </a:prstGeom>
          <a:solidFill>
            <a:srgbClr val="DAA62F"/>
          </a:solidFill>
          <a:ln w="12700">
            <a:solidFill>
              <a:srgbClr val="DAA62F"/>
            </a:solidFill>
            <a:prstDash val="solid"/>
          </a:ln>
        </p:spPr>
      </p:sp>
      <p:sp>
        <p:nvSpPr>
          <p:cNvPr id="20" name="Text 17"/>
          <p:cNvSpPr/>
          <p:nvPr/>
        </p:nvSpPr>
        <p:spPr>
          <a:xfrm>
            <a:off x="8339328" y="2441448"/>
            <a:ext cx="2898648" cy="393192"/>
          </a:xfrm>
          <a:prstGeom prst="rect">
            <a:avLst/>
          </a:prstGeom>
          <a:noFill/>
        </p:spPr>
        <p:txBody>
          <a:bodyPr wrap="square" lIns="0" tIns="0" rIns="0" bIns="0" rtlCol="0" anchor="ctr">
            <a:normAutofit/>
          </a:bodyPr>
          <a:lstStyle/>
          <a:p>
            <a:pPr marL="0" indent="0">
              <a:buNone/>
            </a:pPr>
            <a:r>
              <a:rPr lang="en-US" sz="2100" b="1" dirty="0">
                <a:solidFill>
                  <a:srgbClr val="0D2F5F"/>
                </a:solidFill>
                <a:latin typeface="Aptos" pitchFamily="34" charset="0"/>
                <a:ea typeface="Aptos" pitchFamily="34" charset="-122"/>
                <a:cs typeface="Aptos" pitchFamily="34" charset="-120"/>
              </a:rPr>
              <a:t>AI revision help</a:t>
            </a:r>
            <a:endParaRPr lang="en-US" sz="2100" dirty="0"/>
          </a:p>
        </p:txBody>
      </p:sp>
      <p:sp>
        <p:nvSpPr>
          <p:cNvPr id="21" name="Text 18"/>
          <p:cNvSpPr/>
          <p:nvPr/>
        </p:nvSpPr>
        <p:spPr>
          <a:xfrm>
            <a:off x="8339328" y="2935224"/>
            <a:ext cx="2898648" cy="1499616"/>
          </a:xfrm>
          <a:prstGeom prst="rect">
            <a:avLst/>
          </a:prstGeom>
          <a:noFill/>
        </p:spPr>
        <p:txBody>
          <a:bodyPr wrap="square" lIns="0" tIns="0" rIns="0" bIns="0" rtlCol="0" anchor="t">
            <a:normAutofit/>
          </a:bodyPr>
          <a:lstStyle/>
          <a:p>
            <a:pPr marL="0" indent="0">
              <a:buNone/>
            </a:pPr>
            <a:r>
              <a:rPr lang="en-US" sz="1800" dirty="0">
                <a:solidFill>
                  <a:srgbClr val="63738B"/>
                </a:solidFill>
                <a:latin typeface="Aptos" pitchFamily="34" charset="0"/>
                <a:ea typeface="Aptos" pitchFamily="34" charset="-122"/>
                <a:cs typeface="Aptos" pitchFamily="34" charset="-120"/>
              </a:rPr>
              <a:t>Students ask for practice questions and receive revision support.</a:t>
            </a:r>
            <a:endParaRPr lang="en-US" sz="1800" dirty="0"/>
          </a:p>
        </p:txBody>
      </p:sp>
      <p:sp>
        <p:nvSpPr>
          <p:cNvPr id="22" name="Text 19"/>
          <p:cNvSpPr/>
          <p:nvPr/>
        </p:nvSpPr>
        <p:spPr>
          <a:xfrm>
            <a:off x="704088" y="5084064"/>
            <a:ext cx="10789920" cy="548640"/>
          </a:xfrm>
          <a:prstGeom prst="rect">
            <a:avLst/>
          </a:prstGeom>
          <a:noFill/>
        </p:spPr>
        <p:txBody>
          <a:bodyPr wrap="square" lIns="0" tIns="0" rIns="0" bIns="0" rtlCol="0" anchor="ctr">
            <a:normAutofit/>
          </a:bodyPr>
          <a:lstStyle/>
          <a:p>
            <a:pPr marL="0" indent="0">
              <a:buNone/>
            </a:pPr>
            <a:r>
              <a:rPr lang="en-US" sz="2000" b="1" dirty="0">
                <a:solidFill>
                  <a:srgbClr val="0D2F5F"/>
                </a:solidFill>
                <a:latin typeface="Aptos" pitchFamily="34" charset="0"/>
                <a:ea typeface="Aptos" pitchFamily="34" charset="-122"/>
                <a:cs typeface="Aptos" pitchFamily="34" charset="-120"/>
              </a:rPr>
              <a:t>Across Week 01, we will trace what happens when a learner opens StudyHub.</a:t>
            </a:r>
            <a:endParaRPr lang="en-US" sz="2000" dirty="0"/>
          </a:p>
        </p:txBody>
      </p:sp>
      <p:pic>
        <p:nvPicPr>
          <p:cNvPr id="23" name="Image 0" descr="/mnt/data/cwp-logo-primary-transparent.png"/>
          <p:cNvPicPr>
            <a:picLocks noChangeAspect="1"/>
          </p:cNvPicPr>
          <p:nvPr/>
        </p:nvPicPr>
        <p:blipFill>
          <a:blip r:embed="rId1"/>
          <a:stretch>
            <a:fillRect/>
          </a:stretch>
        </p:blipFill>
        <p:spPr>
          <a:xfrm>
            <a:off x="603250" y="6029325"/>
            <a:ext cx="946150" cy="628650"/>
          </a:xfrm>
          <a:prstGeom prst="rect">
            <a:avLst/>
          </a:prstGeom>
        </p:spPr>
      </p:pic>
      <p:sp>
        <p:nvSpPr>
          <p:cNvPr id="24" name="Text 4"/>
          <p:cNvSpPr/>
          <p:nvPr/>
        </p:nvSpPr>
        <p:spPr>
          <a:xfrm>
            <a:off x="9485884" y="6419850"/>
            <a:ext cx="1746504" cy="219456"/>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codewithprof.com</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DAA62F"/>
          </a:solidFill>
          <a:ln w="12700">
            <a:solidFill>
              <a:srgbClr val="DAA62F"/>
            </a:solidFill>
            <a:prstDash val="solid"/>
          </a:ln>
        </p:spPr>
      </p:sp>
      <p:sp>
        <p:nvSpPr>
          <p:cNvPr id="3" name="Text 1"/>
          <p:cNvSpPr/>
          <p:nvPr/>
        </p:nvSpPr>
        <p:spPr>
          <a:xfrm>
            <a:off x="603504" y="292608"/>
            <a:ext cx="9144000" cy="201168"/>
          </a:xfrm>
          <a:prstGeom prst="rect">
            <a:avLst/>
          </a:prstGeom>
          <a:noFill/>
        </p:spPr>
        <p:txBody>
          <a:bodyPr wrap="square" lIns="0" tIns="0" rIns="0" bIns="0" rtlCol="0" anchor="ctr">
            <a:normAutofit/>
          </a:bodyPr>
          <a:lstStyle/>
          <a:p>
            <a:pPr marL="0" indent="0">
              <a:buNone/>
            </a:pPr>
            <a:r>
              <a:rPr lang="en-US" sz="1000" b="1" kern="0" spc="120" dirty="0">
                <a:solidFill>
                  <a:srgbClr val="63738B"/>
                </a:solidFill>
                <a:latin typeface="Aptos" pitchFamily="34" charset="0"/>
                <a:ea typeface="Aptos" pitchFamily="34" charset="-122"/>
                <a:cs typeface="Aptos" pitchFamily="34" charset="-120"/>
              </a:rPr>
              <a:t>WEEK 01 · FULL-STACK JOURNEY</a:t>
            </a:r>
            <a:endParaRPr lang="en-US" sz="1000" dirty="0"/>
          </a:p>
        </p:txBody>
      </p:sp>
      <p:sp>
        <p:nvSpPr>
          <p:cNvPr id="4" name="Text 2"/>
          <p:cNvSpPr/>
          <p:nvPr/>
        </p:nvSpPr>
        <p:spPr>
          <a:xfrm>
            <a:off x="603504" y="676656"/>
            <a:ext cx="10972800" cy="658368"/>
          </a:xfrm>
          <a:prstGeom prst="rect">
            <a:avLst/>
          </a:prstGeom>
          <a:noFill/>
        </p:spPr>
        <p:txBody>
          <a:bodyPr wrap="square" lIns="0" tIns="0" rIns="0" bIns="0" rtlCol="0" anchor="ctr">
            <a:normAutofit/>
          </a:bodyPr>
          <a:lstStyle/>
          <a:p>
            <a:pPr marL="0" indent="0">
              <a:buNone/>
            </a:pPr>
            <a:r>
              <a:rPr lang="en-US" sz="3100" b="1" dirty="0">
                <a:solidFill>
                  <a:srgbClr val="0D2F5F"/>
                </a:solidFill>
                <a:latin typeface="Aptos" pitchFamily="34" charset="0"/>
                <a:ea typeface="Aptos" pitchFamily="34" charset="-122"/>
                <a:cs typeface="Aptos" pitchFamily="34" charset="-120"/>
              </a:rPr>
              <a:t>The engineering loop</a:t>
            </a:r>
            <a:endParaRPr lang="en-US" sz="3100" dirty="0"/>
          </a:p>
        </p:txBody>
      </p:sp>
      <p:sp>
        <p:nvSpPr>
          <p:cNvPr id="5" name="Shape 3"/>
          <p:cNvSpPr/>
          <p:nvPr/>
        </p:nvSpPr>
        <p:spPr>
          <a:xfrm>
            <a:off x="603504" y="1408176"/>
            <a:ext cx="10981944" cy="0"/>
          </a:xfrm>
          <a:prstGeom prst="line">
            <a:avLst/>
          </a:prstGeom>
          <a:noFill/>
          <a:ln w="12700">
            <a:solidFill>
              <a:srgbClr val="DEE5EF"/>
            </a:solidFill>
            <a:prstDash val="solid"/>
            <a:headEnd type="none"/>
            <a:tailEnd type="none"/>
          </a:ln>
        </p:spPr>
      </p:sp>
      <p:sp>
        <p:nvSpPr>
          <p:cNvPr id="8" name="Text 5"/>
          <p:cNvSpPr/>
          <p:nvPr/>
        </p:nvSpPr>
        <p:spPr>
          <a:xfrm>
            <a:off x="11338560" y="6437376"/>
            <a:ext cx="237744" cy="201168"/>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05</a:t>
            </a:r>
            <a:endParaRPr lang="en-US" sz="1000" dirty="0"/>
          </a:p>
        </p:txBody>
      </p:sp>
      <p:sp>
        <p:nvSpPr>
          <p:cNvPr id="9" name="Shape 6"/>
          <p:cNvSpPr/>
          <p:nvPr/>
        </p:nvSpPr>
        <p:spPr>
          <a:xfrm>
            <a:off x="658368" y="2240280"/>
            <a:ext cx="1673352" cy="1051560"/>
          </a:xfrm>
          <a:prstGeom prst="roundRect">
            <a:avLst>
              <a:gd name="adj" fmla="val 13913"/>
            </a:avLst>
          </a:prstGeom>
          <a:solidFill>
            <a:srgbClr val="FFFFFF"/>
          </a:solidFill>
          <a:ln w="12700">
            <a:solidFill>
              <a:srgbClr val="FFFFFF">
                <a:alpha val="0"/>
              </a:srgbClr>
            </a:solidFill>
            <a:prstDash val="solid"/>
          </a:ln>
        </p:spPr>
      </p:sp>
      <p:sp>
        <p:nvSpPr>
          <p:cNvPr id="10" name="Text 7"/>
          <p:cNvSpPr/>
          <p:nvPr/>
        </p:nvSpPr>
        <p:spPr>
          <a:xfrm>
            <a:off x="758952" y="2569464"/>
            <a:ext cx="1472184" cy="320040"/>
          </a:xfrm>
          <a:prstGeom prst="rect">
            <a:avLst/>
          </a:prstGeom>
          <a:noFill/>
        </p:spPr>
        <p:txBody>
          <a:bodyPr wrap="square" lIns="0" tIns="0" rIns="0" bIns="0" rtlCol="0" anchor="ctr">
            <a:normAutofit/>
          </a:bodyPr>
          <a:lstStyle/>
          <a:p>
            <a:pPr marL="0" indent="0" algn="ctr">
              <a:buNone/>
            </a:pPr>
            <a:r>
              <a:rPr lang="en-US" sz="1900" b="1" dirty="0">
                <a:solidFill>
                  <a:srgbClr val="0D2F5F"/>
                </a:solidFill>
                <a:latin typeface="Aptos" pitchFamily="34" charset="0"/>
                <a:ea typeface="Aptos" pitchFamily="34" charset="-122"/>
                <a:cs typeface="Aptos" pitchFamily="34" charset="-120"/>
              </a:rPr>
              <a:t>Plan</a:t>
            </a:r>
            <a:endParaRPr lang="en-US" sz="1900" dirty="0"/>
          </a:p>
        </p:txBody>
      </p:sp>
      <p:sp>
        <p:nvSpPr>
          <p:cNvPr id="11" name="Shape 8"/>
          <p:cNvSpPr/>
          <p:nvPr/>
        </p:nvSpPr>
        <p:spPr>
          <a:xfrm>
            <a:off x="2340864" y="2770632"/>
            <a:ext cx="201168" cy="0"/>
          </a:xfrm>
          <a:prstGeom prst="line">
            <a:avLst/>
          </a:prstGeom>
          <a:noFill/>
          <a:ln w="25400">
            <a:solidFill>
              <a:srgbClr val="DAA62F"/>
            </a:solidFill>
            <a:prstDash val="solid"/>
            <a:headEnd type="none"/>
            <a:tailEnd type="triangle"/>
          </a:ln>
        </p:spPr>
      </p:sp>
      <p:sp>
        <p:nvSpPr>
          <p:cNvPr id="12" name="Shape 9"/>
          <p:cNvSpPr/>
          <p:nvPr/>
        </p:nvSpPr>
        <p:spPr>
          <a:xfrm>
            <a:off x="2560320" y="2240280"/>
            <a:ext cx="1673352" cy="1051560"/>
          </a:xfrm>
          <a:prstGeom prst="roundRect">
            <a:avLst>
              <a:gd name="adj" fmla="val 13913"/>
            </a:avLst>
          </a:prstGeom>
          <a:solidFill>
            <a:srgbClr val="FFFFFF"/>
          </a:solidFill>
          <a:ln w="12700">
            <a:solidFill>
              <a:srgbClr val="FFFFFF">
                <a:alpha val="0"/>
              </a:srgbClr>
            </a:solidFill>
            <a:prstDash val="solid"/>
          </a:ln>
        </p:spPr>
      </p:sp>
      <p:sp>
        <p:nvSpPr>
          <p:cNvPr id="13" name="Text 10"/>
          <p:cNvSpPr/>
          <p:nvPr/>
        </p:nvSpPr>
        <p:spPr>
          <a:xfrm>
            <a:off x="2660904" y="2569464"/>
            <a:ext cx="1472184" cy="320040"/>
          </a:xfrm>
          <a:prstGeom prst="rect">
            <a:avLst/>
          </a:prstGeom>
          <a:noFill/>
        </p:spPr>
        <p:txBody>
          <a:bodyPr wrap="square" lIns="0" tIns="0" rIns="0" bIns="0" rtlCol="0" anchor="ctr">
            <a:normAutofit/>
          </a:bodyPr>
          <a:lstStyle/>
          <a:p>
            <a:pPr marL="0" indent="0" algn="ctr">
              <a:buNone/>
            </a:pPr>
            <a:r>
              <a:rPr lang="en-US" sz="1900" b="1" dirty="0">
                <a:solidFill>
                  <a:srgbClr val="0D2F5F"/>
                </a:solidFill>
                <a:latin typeface="Aptos" pitchFamily="34" charset="0"/>
                <a:ea typeface="Aptos" pitchFamily="34" charset="-122"/>
                <a:cs typeface="Aptos" pitchFamily="34" charset="-120"/>
              </a:rPr>
              <a:t>Design</a:t>
            </a:r>
            <a:endParaRPr lang="en-US" sz="1900" dirty="0"/>
          </a:p>
        </p:txBody>
      </p:sp>
      <p:sp>
        <p:nvSpPr>
          <p:cNvPr id="14" name="Shape 11"/>
          <p:cNvSpPr/>
          <p:nvPr/>
        </p:nvSpPr>
        <p:spPr>
          <a:xfrm>
            <a:off x="4242816" y="2770632"/>
            <a:ext cx="201168" cy="0"/>
          </a:xfrm>
          <a:prstGeom prst="line">
            <a:avLst/>
          </a:prstGeom>
          <a:noFill/>
          <a:ln w="25400">
            <a:solidFill>
              <a:srgbClr val="DAA62F"/>
            </a:solidFill>
            <a:prstDash val="solid"/>
            <a:headEnd type="none"/>
            <a:tailEnd type="triangle"/>
          </a:ln>
        </p:spPr>
      </p:sp>
      <p:sp>
        <p:nvSpPr>
          <p:cNvPr id="15" name="Shape 12"/>
          <p:cNvSpPr/>
          <p:nvPr/>
        </p:nvSpPr>
        <p:spPr>
          <a:xfrm>
            <a:off x="4462272" y="2240280"/>
            <a:ext cx="1673352" cy="1051560"/>
          </a:xfrm>
          <a:prstGeom prst="roundRect">
            <a:avLst>
              <a:gd name="adj" fmla="val 13913"/>
            </a:avLst>
          </a:prstGeom>
          <a:solidFill>
            <a:srgbClr val="DAA62F"/>
          </a:solidFill>
          <a:ln w="12700">
            <a:solidFill>
              <a:srgbClr val="DAA62F">
                <a:alpha val="0"/>
              </a:srgbClr>
            </a:solidFill>
            <a:prstDash val="solid"/>
          </a:ln>
        </p:spPr>
      </p:sp>
      <p:sp>
        <p:nvSpPr>
          <p:cNvPr id="16" name="Text 13"/>
          <p:cNvSpPr/>
          <p:nvPr/>
        </p:nvSpPr>
        <p:spPr>
          <a:xfrm>
            <a:off x="4562856" y="2569464"/>
            <a:ext cx="1472184" cy="320040"/>
          </a:xfrm>
          <a:prstGeom prst="rect">
            <a:avLst/>
          </a:prstGeom>
          <a:noFill/>
        </p:spPr>
        <p:txBody>
          <a:bodyPr wrap="square" lIns="0" tIns="0" rIns="0" bIns="0" rtlCol="0" anchor="ctr">
            <a:normAutofit/>
          </a:bodyPr>
          <a:lstStyle/>
          <a:p>
            <a:pPr marL="0" indent="0" algn="ctr">
              <a:buNone/>
            </a:pPr>
            <a:r>
              <a:rPr lang="en-US" sz="1900" b="1" dirty="0">
                <a:solidFill>
                  <a:srgbClr val="0D2F5F"/>
                </a:solidFill>
                <a:latin typeface="Aptos" pitchFamily="34" charset="0"/>
                <a:ea typeface="Aptos" pitchFamily="34" charset="-122"/>
                <a:cs typeface="Aptos" pitchFamily="34" charset="-120"/>
              </a:rPr>
              <a:t>Build</a:t>
            </a:r>
            <a:endParaRPr lang="en-US" sz="1900" dirty="0"/>
          </a:p>
        </p:txBody>
      </p:sp>
      <p:sp>
        <p:nvSpPr>
          <p:cNvPr id="17" name="Shape 14"/>
          <p:cNvSpPr/>
          <p:nvPr/>
        </p:nvSpPr>
        <p:spPr>
          <a:xfrm>
            <a:off x="6144768" y="2770632"/>
            <a:ext cx="201168" cy="0"/>
          </a:xfrm>
          <a:prstGeom prst="line">
            <a:avLst/>
          </a:prstGeom>
          <a:noFill/>
          <a:ln w="25400">
            <a:solidFill>
              <a:srgbClr val="DAA62F"/>
            </a:solidFill>
            <a:prstDash val="solid"/>
            <a:headEnd type="none"/>
            <a:tailEnd type="triangle"/>
          </a:ln>
        </p:spPr>
      </p:sp>
      <p:sp>
        <p:nvSpPr>
          <p:cNvPr id="18" name="Shape 15"/>
          <p:cNvSpPr/>
          <p:nvPr/>
        </p:nvSpPr>
        <p:spPr>
          <a:xfrm>
            <a:off x="6364224" y="2240280"/>
            <a:ext cx="1673352" cy="1051560"/>
          </a:xfrm>
          <a:prstGeom prst="roundRect">
            <a:avLst>
              <a:gd name="adj" fmla="val 13913"/>
            </a:avLst>
          </a:prstGeom>
          <a:solidFill>
            <a:srgbClr val="FFFFFF"/>
          </a:solidFill>
          <a:ln w="12700">
            <a:solidFill>
              <a:srgbClr val="FFFFFF">
                <a:alpha val="0"/>
              </a:srgbClr>
            </a:solidFill>
            <a:prstDash val="solid"/>
          </a:ln>
        </p:spPr>
      </p:sp>
      <p:sp>
        <p:nvSpPr>
          <p:cNvPr id="19" name="Text 16"/>
          <p:cNvSpPr/>
          <p:nvPr/>
        </p:nvSpPr>
        <p:spPr>
          <a:xfrm>
            <a:off x="6464808" y="2569464"/>
            <a:ext cx="1472184" cy="320040"/>
          </a:xfrm>
          <a:prstGeom prst="rect">
            <a:avLst/>
          </a:prstGeom>
          <a:noFill/>
        </p:spPr>
        <p:txBody>
          <a:bodyPr wrap="square" lIns="0" tIns="0" rIns="0" bIns="0" rtlCol="0" anchor="ctr">
            <a:normAutofit/>
          </a:bodyPr>
          <a:lstStyle/>
          <a:p>
            <a:pPr marL="0" indent="0" algn="ctr">
              <a:buNone/>
            </a:pPr>
            <a:r>
              <a:rPr lang="en-US" sz="1900" b="1" dirty="0">
                <a:solidFill>
                  <a:srgbClr val="0D2F5F"/>
                </a:solidFill>
                <a:latin typeface="Aptos" pitchFamily="34" charset="0"/>
                <a:ea typeface="Aptos" pitchFamily="34" charset="-122"/>
                <a:cs typeface="Aptos" pitchFamily="34" charset="-120"/>
              </a:rPr>
              <a:t>Test</a:t>
            </a:r>
            <a:endParaRPr lang="en-US" sz="1900" dirty="0"/>
          </a:p>
        </p:txBody>
      </p:sp>
      <p:sp>
        <p:nvSpPr>
          <p:cNvPr id="20" name="Shape 17"/>
          <p:cNvSpPr/>
          <p:nvPr/>
        </p:nvSpPr>
        <p:spPr>
          <a:xfrm>
            <a:off x="8046720" y="2770632"/>
            <a:ext cx="201168" cy="0"/>
          </a:xfrm>
          <a:prstGeom prst="line">
            <a:avLst/>
          </a:prstGeom>
          <a:noFill/>
          <a:ln w="25400">
            <a:solidFill>
              <a:srgbClr val="DAA62F"/>
            </a:solidFill>
            <a:prstDash val="solid"/>
            <a:headEnd type="none"/>
            <a:tailEnd type="triangle"/>
          </a:ln>
        </p:spPr>
      </p:sp>
      <p:sp>
        <p:nvSpPr>
          <p:cNvPr id="21" name="Shape 18"/>
          <p:cNvSpPr/>
          <p:nvPr/>
        </p:nvSpPr>
        <p:spPr>
          <a:xfrm>
            <a:off x="8266176" y="2240280"/>
            <a:ext cx="1673352" cy="1051560"/>
          </a:xfrm>
          <a:prstGeom prst="roundRect">
            <a:avLst>
              <a:gd name="adj" fmla="val 13913"/>
            </a:avLst>
          </a:prstGeom>
          <a:solidFill>
            <a:srgbClr val="FFFFFF"/>
          </a:solidFill>
          <a:ln w="12700">
            <a:solidFill>
              <a:srgbClr val="FFFFFF">
                <a:alpha val="0"/>
              </a:srgbClr>
            </a:solidFill>
            <a:prstDash val="solid"/>
          </a:ln>
        </p:spPr>
      </p:sp>
      <p:sp>
        <p:nvSpPr>
          <p:cNvPr id="22" name="Text 19"/>
          <p:cNvSpPr/>
          <p:nvPr/>
        </p:nvSpPr>
        <p:spPr>
          <a:xfrm>
            <a:off x="8366760" y="2569464"/>
            <a:ext cx="1472184" cy="320040"/>
          </a:xfrm>
          <a:prstGeom prst="rect">
            <a:avLst/>
          </a:prstGeom>
          <a:noFill/>
        </p:spPr>
        <p:txBody>
          <a:bodyPr wrap="square" lIns="0" tIns="0" rIns="0" bIns="0" rtlCol="0" anchor="ctr">
            <a:normAutofit/>
          </a:bodyPr>
          <a:lstStyle/>
          <a:p>
            <a:pPr marL="0" indent="0" algn="ctr">
              <a:buNone/>
            </a:pPr>
            <a:r>
              <a:rPr lang="en-US" sz="1900" b="1" dirty="0">
                <a:solidFill>
                  <a:srgbClr val="0D2F5F"/>
                </a:solidFill>
                <a:latin typeface="Aptos" pitchFamily="34" charset="0"/>
                <a:ea typeface="Aptos" pitchFamily="34" charset="-122"/>
                <a:cs typeface="Aptos" pitchFamily="34" charset="-120"/>
              </a:rPr>
              <a:t>Release</a:t>
            </a:r>
            <a:endParaRPr lang="en-US" sz="1900" dirty="0"/>
          </a:p>
        </p:txBody>
      </p:sp>
      <p:sp>
        <p:nvSpPr>
          <p:cNvPr id="23" name="Shape 20"/>
          <p:cNvSpPr/>
          <p:nvPr/>
        </p:nvSpPr>
        <p:spPr>
          <a:xfrm>
            <a:off x="9948672" y="2770632"/>
            <a:ext cx="201168" cy="0"/>
          </a:xfrm>
          <a:prstGeom prst="line">
            <a:avLst/>
          </a:prstGeom>
          <a:noFill/>
          <a:ln w="25400">
            <a:solidFill>
              <a:srgbClr val="DAA62F"/>
            </a:solidFill>
            <a:prstDash val="solid"/>
            <a:headEnd type="none"/>
            <a:tailEnd type="triangle"/>
          </a:ln>
        </p:spPr>
      </p:sp>
      <p:sp>
        <p:nvSpPr>
          <p:cNvPr id="24" name="Shape 21"/>
          <p:cNvSpPr/>
          <p:nvPr/>
        </p:nvSpPr>
        <p:spPr>
          <a:xfrm>
            <a:off x="10168128" y="2240280"/>
            <a:ext cx="1673352" cy="1051560"/>
          </a:xfrm>
          <a:prstGeom prst="roundRect">
            <a:avLst>
              <a:gd name="adj" fmla="val 13913"/>
            </a:avLst>
          </a:prstGeom>
          <a:solidFill>
            <a:srgbClr val="FFFFFF"/>
          </a:solidFill>
          <a:ln w="12700">
            <a:solidFill>
              <a:srgbClr val="FFFFFF">
                <a:alpha val="0"/>
              </a:srgbClr>
            </a:solidFill>
            <a:prstDash val="solid"/>
          </a:ln>
        </p:spPr>
      </p:sp>
      <p:sp>
        <p:nvSpPr>
          <p:cNvPr id="25" name="Text 22"/>
          <p:cNvSpPr/>
          <p:nvPr/>
        </p:nvSpPr>
        <p:spPr>
          <a:xfrm>
            <a:off x="10268712" y="2569464"/>
            <a:ext cx="1472184" cy="320040"/>
          </a:xfrm>
          <a:prstGeom prst="rect">
            <a:avLst/>
          </a:prstGeom>
          <a:noFill/>
        </p:spPr>
        <p:txBody>
          <a:bodyPr wrap="square" lIns="0" tIns="0" rIns="0" bIns="0" rtlCol="0" anchor="ctr">
            <a:normAutofit/>
          </a:bodyPr>
          <a:lstStyle/>
          <a:p>
            <a:pPr marL="0" indent="0" algn="ctr">
              <a:buNone/>
            </a:pPr>
            <a:r>
              <a:rPr lang="en-US" sz="1900" b="1" dirty="0">
                <a:solidFill>
                  <a:srgbClr val="0D2F5F"/>
                </a:solidFill>
                <a:latin typeface="Aptos" pitchFamily="34" charset="0"/>
                <a:ea typeface="Aptos" pitchFamily="34" charset="-122"/>
                <a:cs typeface="Aptos" pitchFamily="34" charset="-120"/>
              </a:rPr>
              <a:t>Monitor</a:t>
            </a:r>
            <a:endParaRPr lang="en-US" sz="1900" dirty="0"/>
          </a:p>
        </p:txBody>
      </p:sp>
      <p:sp>
        <p:nvSpPr>
          <p:cNvPr id="26" name="Shape 23"/>
          <p:cNvSpPr/>
          <p:nvPr/>
        </p:nvSpPr>
        <p:spPr>
          <a:xfrm>
            <a:off x="1481328" y="3730752"/>
            <a:ext cx="9454896" cy="0"/>
          </a:xfrm>
          <a:prstGeom prst="line">
            <a:avLst/>
          </a:prstGeom>
          <a:noFill/>
          <a:ln w="25400">
            <a:solidFill>
              <a:srgbClr val="DAA62F"/>
            </a:solidFill>
            <a:prstDash val="solid"/>
            <a:headEnd type="none"/>
            <a:tailEnd type="triangle"/>
          </a:ln>
        </p:spPr>
      </p:sp>
      <p:sp>
        <p:nvSpPr>
          <p:cNvPr id="27" name="Text 24"/>
          <p:cNvSpPr/>
          <p:nvPr/>
        </p:nvSpPr>
        <p:spPr>
          <a:xfrm>
            <a:off x="1097280" y="4133088"/>
            <a:ext cx="9966960" cy="512064"/>
          </a:xfrm>
          <a:prstGeom prst="rect">
            <a:avLst/>
          </a:prstGeom>
          <a:noFill/>
        </p:spPr>
        <p:txBody>
          <a:bodyPr wrap="square" lIns="0" tIns="0" rIns="0" bIns="0" rtlCol="0" anchor="ctr">
            <a:normAutofit/>
          </a:bodyPr>
          <a:lstStyle/>
          <a:p>
            <a:pPr marL="0" indent="0" algn="ctr">
              <a:buNone/>
            </a:pPr>
            <a:r>
              <a:rPr lang="en-US" sz="2200" b="1" dirty="0">
                <a:solidFill>
                  <a:srgbClr val="0D2F5F"/>
                </a:solidFill>
                <a:latin typeface="Aptos" pitchFamily="34" charset="0"/>
                <a:ea typeface="Aptos" pitchFamily="34" charset="-122"/>
                <a:cs typeface="Aptos" pitchFamily="34" charset="-120"/>
              </a:rPr>
              <a:t>Learn, fix and improve — then plan the next change.</a:t>
            </a:r>
            <a:endParaRPr lang="en-US" sz="2200" dirty="0"/>
          </a:p>
        </p:txBody>
      </p:sp>
      <p:sp>
        <p:nvSpPr>
          <p:cNvPr id="28" name="Text 25"/>
          <p:cNvSpPr/>
          <p:nvPr/>
        </p:nvSpPr>
        <p:spPr>
          <a:xfrm>
            <a:off x="1042416" y="4956048"/>
            <a:ext cx="10149840" cy="502920"/>
          </a:xfrm>
          <a:prstGeom prst="rect">
            <a:avLst/>
          </a:prstGeom>
          <a:noFill/>
        </p:spPr>
        <p:txBody>
          <a:bodyPr wrap="square" lIns="0" tIns="0" rIns="0" bIns="0" rtlCol="0" anchor="ctr">
            <a:normAutofit/>
          </a:bodyPr>
          <a:lstStyle/>
          <a:p>
            <a:pPr marL="0" indent="0" algn="ctr">
              <a:buNone/>
            </a:pPr>
            <a:r>
              <a:rPr lang="en-US" sz="1900" dirty="0">
                <a:solidFill>
                  <a:srgbClr val="63738B"/>
                </a:solidFill>
                <a:latin typeface="Aptos" pitchFamily="34" charset="0"/>
                <a:ea typeface="Aptos" pitchFamily="34" charset="-122"/>
                <a:cs typeface="Aptos" pitchFamily="34" charset="-120"/>
              </a:rPr>
              <a:t>Teamwork happens at every stage: discussions, tickets, reviews and documentation.</a:t>
            </a:r>
            <a:endParaRPr lang="en-US" sz="1900" dirty="0"/>
          </a:p>
        </p:txBody>
      </p:sp>
      <p:pic>
        <p:nvPicPr>
          <p:cNvPr id="29" name="Image 0" descr="/mnt/data/cwp-logo-primary-transparent.png"/>
          <p:cNvPicPr>
            <a:picLocks noChangeAspect="1"/>
          </p:cNvPicPr>
          <p:nvPr/>
        </p:nvPicPr>
        <p:blipFill>
          <a:blip r:embed="rId1"/>
          <a:stretch>
            <a:fillRect/>
          </a:stretch>
        </p:blipFill>
        <p:spPr>
          <a:xfrm>
            <a:off x="603250" y="6029325"/>
            <a:ext cx="946150" cy="628650"/>
          </a:xfrm>
          <a:prstGeom prst="rect">
            <a:avLst/>
          </a:prstGeom>
        </p:spPr>
      </p:pic>
      <p:sp>
        <p:nvSpPr>
          <p:cNvPr id="30" name="Text 4"/>
          <p:cNvSpPr/>
          <p:nvPr/>
        </p:nvSpPr>
        <p:spPr>
          <a:xfrm>
            <a:off x="9485884" y="6419850"/>
            <a:ext cx="1746504" cy="219456"/>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codewithprof.com</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DAA62F"/>
          </a:solidFill>
          <a:ln w="12700">
            <a:solidFill>
              <a:srgbClr val="DAA62F"/>
            </a:solidFill>
            <a:prstDash val="solid"/>
          </a:ln>
        </p:spPr>
      </p:sp>
      <p:sp>
        <p:nvSpPr>
          <p:cNvPr id="3" name="Text 1"/>
          <p:cNvSpPr/>
          <p:nvPr/>
        </p:nvSpPr>
        <p:spPr>
          <a:xfrm>
            <a:off x="603504" y="292608"/>
            <a:ext cx="9144000" cy="201168"/>
          </a:xfrm>
          <a:prstGeom prst="rect">
            <a:avLst/>
          </a:prstGeom>
          <a:noFill/>
        </p:spPr>
        <p:txBody>
          <a:bodyPr wrap="square" lIns="0" tIns="0" rIns="0" bIns="0" rtlCol="0" anchor="ctr">
            <a:normAutofit/>
          </a:bodyPr>
          <a:lstStyle/>
          <a:p>
            <a:pPr marL="0" indent="0">
              <a:buNone/>
            </a:pPr>
            <a:r>
              <a:rPr lang="en-US" sz="1000" b="1" kern="0" spc="120" dirty="0">
                <a:solidFill>
                  <a:srgbClr val="63738B"/>
                </a:solidFill>
                <a:latin typeface="Aptos" pitchFamily="34" charset="0"/>
                <a:ea typeface="Aptos" pitchFamily="34" charset="-122"/>
                <a:cs typeface="Aptos" pitchFamily="34" charset="-120"/>
              </a:rPr>
              <a:t>WEEK 01 · FULL-STACK JOURNEY</a:t>
            </a:r>
            <a:endParaRPr lang="en-US" sz="1000" dirty="0"/>
          </a:p>
        </p:txBody>
      </p:sp>
      <p:sp>
        <p:nvSpPr>
          <p:cNvPr id="4" name="Text 2"/>
          <p:cNvSpPr/>
          <p:nvPr/>
        </p:nvSpPr>
        <p:spPr>
          <a:xfrm>
            <a:off x="603504" y="676656"/>
            <a:ext cx="10972800" cy="658368"/>
          </a:xfrm>
          <a:prstGeom prst="rect">
            <a:avLst/>
          </a:prstGeom>
          <a:noFill/>
        </p:spPr>
        <p:txBody>
          <a:bodyPr wrap="square" lIns="0" tIns="0" rIns="0" bIns="0" rtlCol="0" anchor="ctr">
            <a:normAutofit/>
          </a:bodyPr>
          <a:lstStyle/>
          <a:p>
            <a:pPr marL="0" indent="0">
              <a:buNone/>
            </a:pPr>
            <a:r>
              <a:rPr lang="en-US" sz="3100" b="1" dirty="0">
                <a:solidFill>
                  <a:srgbClr val="0D2F5F"/>
                </a:solidFill>
                <a:latin typeface="Aptos" pitchFamily="34" charset="0"/>
                <a:ea typeface="Aptos" pitchFamily="34" charset="-122"/>
                <a:cs typeface="Aptos" pitchFamily="34" charset="-120"/>
              </a:rPr>
              <a:t>Software vs software engineering</a:t>
            </a:r>
            <a:endParaRPr lang="en-US" sz="3100" dirty="0"/>
          </a:p>
        </p:txBody>
      </p:sp>
      <p:sp>
        <p:nvSpPr>
          <p:cNvPr id="5" name="Shape 3"/>
          <p:cNvSpPr/>
          <p:nvPr/>
        </p:nvSpPr>
        <p:spPr>
          <a:xfrm>
            <a:off x="603504" y="1408176"/>
            <a:ext cx="10981944" cy="0"/>
          </a:xfrm>
          <a:prstGeom prst="line">
            <a:avLst/>
          </a:prstGeom>
          <a:noFill/>
          <a:ln w="12700">
            <a:solidFill>
              <a:srgbClr val="DEE5EF"/>
            </a:solidFill>
            <a:prstDash val="solid"/>
            <a:headEnd type="none"/>
            <a:tailEnd type="none"/>
          </a:ln>
        </p:spPr>
      </p:sp>
      <p:sp>
        <p:nvSpPr>
          <p:cNvPr id="8" name="Text 5"/>
          <p:cNvSpPr/>
          <p:nvPr/>
        </p:nvSpPr>
        <p:spPr>
          <a:xfrm>
            <a:off x="11338560" y="6437376"/>
            <a:ext cx="237744" cy="201168"/>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04</a:t>
            </a:r>
            <a:endParaRPr lang="en-US" sz="1000" dirty="0"/>
          </a:p>
        </p:txBody>
      </p:sp>
      <p:sp>
        <p:nvSpPr>
          <p:cNvPr id="9" name="Shape 6"/>
          <p:cNvSpPr/>
          <p:nvPr/>
        </p:nvSpPr>
        <p:spPr>
          <a:xfrm>
            <a:off x="685800" y="1847088"/>
            <a:ext cx="5212080" cy="2221992"/>
          </a:xfrm>
          <a:prstGeom prst="roundRect">
            <a:avLst>
              <a:gd name="adj" fmla="val 6584"/>
            </a:avLst>
          </a:prstGeom>
          <a:solidFill>
            <a:srgbClr val="FFFFFF"/>
          </a:solidFill>
          <a:ln w="12700">
            <a:solidFill>
              <a:srgbClr val="FFFFFF">
                <a:alpha val="0"/>
              </a:srgbClr>
            </a:solidFill>
            <a:prstDash val="solid"/>
          </a:ln>
        </p:spPr>
      </p:sp>
      <p:sp>
        <p:nvSpPr>
          <p:cNvPr id="10" name="Shape 7"/>
          <p:cNvSpPr/>
          <p:nvPr/>
        </p:nvSpPr>
        <p:spPr>
          <a:xfrm>
            <a:off x="685800" y="1847088"/>
            <a:ext cx="59436" cy="2221992"/>
          </a:xfrm>
          <a:prstGeom prst="rect">
            <a:avLst/>
          </a:prstGeom>
          <a:solidFill>
            <a:srgbClr val="DAA62F"/>
          </a:solidFill>
          <a:ln w="12700">
            <a:solidFill>
              <a:srgbClr val="DAA62F"/>
            </a:solidFill>
            <a:prstDash val="solid"/>
          </a:ln>
        </p:spPr>
      </p:sp>
      <p:sp>
        <p:nvSpPr>
          <p:cNvPr id="11" name="Text 8"/>
          <p:cNvSpPr/>
          <p:nvPr/>
        </p:nvSpPr>
        <p:spPr>
          <a:xfrm>
            <a:off x="905256" y="2020824"/>
            <a:ext cx="4773168" cy="393192"/>
          </a:xfrm>
          <a:prstGeom prst="rect">
            <a:avLst/>
          </a:prstGeom>
          <a:noFill/>
        </p:spPr>
        <p:txBody>
          <a:bodyPr wrap="square" lIns="0" tIns="0" rIns="0" bIns="0" rtlCol="0" anchor="ctr">
            <a:normAutofit/>
          </a:bodyPr>
          <a:lstStyle/>
          <a:p>
            <a:pPr marL="0" indent="0">
              <a:buNone/>
            </a:pPr>
            <a:r>
              <a:rPr lang="en-US" sz="2500" b="1" dirty="0">
                <a:solidFill>
                  <a:srgbClr val="0D2F5F"/>
                </a:solidFill>
                <a:latin typeface="Aptos" pitchFamily="34" charset="0"/>
                <a:ea typeface="Aptos" pitchFamily="34" charset="-122"/>
                <a:cs typeface="Aptos" pitchFamily="34" charset="-120"/>
              </a:rPr>
              <a:t>Software</a:t>
            </a:r>
            <a:endParaRPr lang="en-US" sz="2500" dirty="0"/>
          </a:p>
        </p:txBody>
      </p:sp>
      <p:sp>
        <p:nvSpPr>
          <p:cNvPr id="12" name="Text 9"/>
          <p:cNvSpPr/>
          <p:nvPr/>
        </p:nvSpPr>
        <p:spPr>
          <a:xfrm>
            <a:off x="905256" y="2514600"/>
            <a:ext cx="4773168" cy="1389888"/>
          </a:xfrm>
          <a:prstGeom prst="rect">
            <a:avLst/>
          </a:prstGeom>
          <a:noFill/>
        </p:spPr>
        <p:txBody>
          <a:bodyPr wrap="square" lIns="0" tIns="0" rIns="0" bIns="0" rtlCol="0" anchor="t">
            <a:normAutofit/>
          </a:bodyPr>
          <a:lstStyle/>
          <a:p>
            <a:pPr marL="0" indent="0">
              <a:buNone/>
            </a:pPr>
            <a:r>
              <a:rPr lang="en-US" sz="1800" dirty="0">
                <a:solidFill>
                  <a:srgbClr val="63738B"/>
                </a:solidFill>
                <a:latin typeface="Aptos" pitchFamily="34" charset="0"/>
                <a:ea typeface="Aptos" pitchFamily="34" charset="-122"/>
                <a:cs typeface="Aptos" pitchFamily="34" charset="-120"/>
              </a:rPr>
              <a:t>Instructions that tell a computer what to do.</a:t>
            </a:r>
            <a:endParaRPr lang="en-US" sz="1800" dirty="0"/>
          </a:p>
          <a:p>
            <a:pPr marL="0" indent="0">
              <a:buNone/>
            </a:pPr>
            <a:endParaRPr lang="en-US" sz="1800" dirty="0"/>
          </a:p>
          <a:p>
            <a:pPr marL="0" indent="0">
              <a:buNone/>
            </a:pPr>
            <a:r>
              <a:rPr lang="en-US" sz="1800" dirty="0">
                <a:solidFill>
                  <a:srgbClr val="63738B"/>
                </a:solidFill>
                <a:latin typeface="Aptos" pitchFamily="34" charset="0"/>
                <a:ea typeface="Aptos" pitchFamily="34" charset="-122"/>
                <a:cs typeface="Aptos" pitchFamily="34" charset="-120"/>
              </a:rPr>
              <a:t>Examples: websites, games, phone apps and smart appliances.</a:t>
            </a:r>
            <a:endParaRPr lang="en-US" sz="1800" dirty="0"/>
          </a:p>
        </p:txBody>
      </p:sp>
      <p:sp>
        <p:nvSpPr>
          <p:cNvPr id="13" name="Shape 10"/>
          <p:cNvSpPr/>
          <p:nvPr/>
        </p:nvSpPr>
        <p:spPr>
          <a:xfrm>
            <a:off x="6208776" y="1847088"/>
            <a:ext cx="5212080" cy="2221992"/>
          </a:xfrm>
          <a:prstGeom prst="roundRect">
            <a:avLst>
              <a:gd name="adj" fmla="val 6584"/>
            </a:avLst>
          </a:prstGeom>
          <a:solidFill>
            <a:srgbClr val="FFFFFF"/>
          </a:solidFill>
          <a:ln w="12700">
            <a:solidFill>
              <a:srgbClr val="FFFFFF">
                <a:alpha val="0"/>
              </a:srgbClr>
            </a:solidFill>
            <a:prstDash val="solid"/>
          </a:ln>
        </p:spPr>
      </p:sp>
      <p:sp>
        <p:nvSpPr>
          <p:cNvPr id="14" name="Shape 11"/>
          <p:cNvSpPr/>
          <p:nvPr/>
        </p:nvSpPr>
        <p:spPr>
          <a:xfrm>
            <a:off x="6208776" y="1847088"/>
            <a:ext cx="59436" cy="2221992"/>
          </a:xfrm>
          <a:prstGeom prst="rect">
            <a:avLst/>
          </a:prstGeom>
          <a:solidFill>
            <a:srgbClr val="197B66"/>
          </a:solidFill>
          <a:ln w="12700">
            <a:solidFill>
              <a:srgbClr val="197B66"/>
            </a:solidFill>
            <a:prstDash val="solid"/>
          </a:ln>
        </p:spPr>
      </p:sp>
      <p:sp>
        <p:nvSpPr>
          <p:cNvPr id="15" name="Text 12"/>
          <p:cNvSpPr/>
          <p:nvPr/>
        </p:nvSpPr>
        <p:spPr>
          <a:xfrm>
            <a:off x="6428232" y="2020824"/>
            <a:ext cx="4773168" cy="393192"/>
          </a:xfrm>
          <a:prstGeom prst="rect">
            <a:avLst/>
          </a:prstGeom>
          <a:noFill/>
        </p:spPr>
        <p:txBody>
          <a:bodyPr wrap="square" lIns="0" tIns="0" rIns="0" bIns="0" rtlCol="0" anchor="ctr">
            <a:normAutofit/>
          </a:bodyPr>
          <a:lstStyle/>
          <a:p>
            <a:pPr marL="0" indent="0">
              <a:buNone/>
            </a:pPr>
            <a:r>
              <a:rPr lang="en-US" sz="2500" b="1" dirty="0">
                <a:solidFill>
                  <a:srgbClr val="0D2F5F"/>
                </a:solidFill>
                <a:latin typeface="Aptos" pitchFamily="34" charset="0"/>
                <a:ea typeface="Aptos" pitchFamily="34" charset="-122"/>
                <a:cs typeface="Aptos" pitchFamily="34" charset="-120"/>
              </a:rPr>
              <a:t>Software engineering</a:t>
            </a:r>
            <a:endParaRPr lang="en-US" sz="2500" dirty="0"/>
          </a:p>
        </p:txBody>
      </p:sp>
      <p:sp>
        <p:nvSpPr>
          <p:cNvPr id="16" name="Text 13"/>
          <p:cNvSpPr/>
          <p:nvPr/>
        </p:nvSpPr>
        <p:spPr>
          <a:xfrm>
            <a:off x="6428232" y="2514600"/>
            <a:ext cx="4773168" cy="1389888"/>
          </a:xfrm>
          <a:prstGeom prst="rect">
            <a:avLst/>
          </a:prstGeom>
          <a:noFill/>
        </p:spPr>
        <p:txBody>
          <a:bodyPr wrap="square" lIns="0" tIns="0" rIns="0" bIns="0" rtlCol="0" anchor="t">
            <a:normAutofit/>
          </a:bodyPr>
          <a:lstStyle/>
          <a:p>
            <a:pPr marL="0" indent="0">
              <a:buNone/>
            </a:pPr>
            <a:r>
              <a:rPr lang="en-US" sz="1800" dirty="0">
                <a:solidFill>
                  <a:srgbClr val="63738B"/>
                </a:solidFill>
                <a:latin typeface="Aptos" pitchFamily="34" charset="0"/>
                <a:ea typeface="Aptos" pitchFamily="34" charset="-122"/>
                <a:cs typeface="Aptos" pitchFamily="34" charset="-120"/>
              </a:rPr>
              <a:t>Planning, designing, building, testing, releasing and improving useful, dependable software.</a:t>
            </a:r>
            <a:endParaRPr lang="en-US" sz="1800" dirty="0"/>
          </a:p>
        </p:txBody>
      </p:sp>
      <p:sp>
        <p:nvSpPr>
          <p:cNvPr id="17" name="Shape 14"/>
          <p:cNvSpPr/>
          <p:nvPr/>
        </p:nvSpPr>
        <p:spPr>
          <a:xfrm>
            <a:off x="685800" y="4526280"/>
            <a:ext cx="10735056" cy="950976"/>
          </a:xfrm>
          <a:prstGeom prst="roundRect">
            <a:avLst>
              <a:gd name="adj" fmla="val 15385"/>
            </a:avLst>
          </a:prstGeom>
          <a:solidFill>
            <a:srgbClr val="0D2F5F"/>
          </a:solidFill>
          <a:ln w="12700">
            <a:solidFill>
              <a:srgbClr val="0D2F5F">
                <a:alpha val="0"/>
              </a:srgbClr>
            </a:solidFill>
            <a:prstDash val="solid"/>
          </a:ln>
        </p:spPr>
      </p:sp>
      <p:sp>
        <p:nvSpPr>
          <p:cNvPr id="18" name="Text 15"/>
          <p:cNvSpPr/>
          <p:nvPr/>
        </p:nvSpPr>
        <p:spPr>
          <a:xfrm>
            <a:off x="950976" y="4745736"/>
            <a:ext cx="10222992" cy="448056"/>
          </a:xfrm>
          <a:prstGeom prst="rect">
            <a:avLst/>
          </a:prstGeom>
          <a:noFill/>
        </p:spPr>
        <p:txBody>
          <a:bodyPr wrap="square" lIns="0" tIns="0" rIns="0" bIns="0" rtlCol="0" anchor="ctr">
            <a:normAutofit fontScale="90000"/>
          </a:bodyPr>
          <a:lstStyle/>
          <a:p>
            <a:pPr marL="0" indent="0" algn="ctr">
              <a:buNone/>
            </a:pPr>
            <a:r>
              <a:rPr lang="en-US" sz="2200" b="1" dirty="0">
                <a:solidFill>
                  <a:srgbClr val="FFFFFF"/>
                </a:solidFill>
                <a:latin typeface="Aptos" pitchFamily="34" charset="0"/>
                <a:ea typeface="Aptos" pitchFamily="34" charset="-122"/>
                <a:cs typeface="Aptos" pitchFamily="34" charset="-120"/>
              </a:rPr>
              <a:t>Programming writes the code. Engineering takes responsibility for the product.</a:t>
            </a:r>
            <a:endParaRPr lang="en-US" sz="2200" dirty="0"/>
          </a:p>
        </p:txBody>
      </p:sp>
      <p:pic>
        <p:nvPicPr>
          <p:cNvPr id="19" name="Image 0" descr="/mnt/data/cwp-logo-primary-transparent.png"/>
          <p:cNvPicPr>
            <a:picLocks noChangeAspect="1"/>
          </p:cNvPicPr>
          <p:nvPr/>
        </p:nvPicPr>
        <p:blipFill>
          <a:blip r:embed="rId1"/>
          <a:stretch>
            <a:fillRect/>
          </a:stretch>
        </p:blipFill>
        <p:spPr>
          <a:xfrm>
            <a:off x="603250" y="6029325"/>
            <a:ext cx="946150" cy="628650"/>
          </a:xfrm>
          <a:prstGeom prst="rect">
            <a:avLst/>
          </a:prstGeom>
        </p:spPr>
      </p:pic>
      <p:sp>
        <p:nvSpPr>
          <p:cNvPr id="20" name="Text 4"/>
          <p:cNvSpPr/>
          <p:nvPr/>
        </p:nvSpPr>
        <p:spPr>
          <a:xfrm>
            <a:off x="9485884" y="6419850"/>
            <a:ext cx="1746504" cy="219456"/>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codewithprof.com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DAA62F"/>
          </a:solidFill>
          <a:ln w="12700">
            <a:solidFill>
              <a:srgbClr val="DAA62F"/>
            </a:solidFill>
            <a:prstDash val="solid"/>
          </a:ln>
        </p:spPr>
      </p:sp>
      <p:sp>
        <p:nvSpPr>
          <p:cNvPr id="3" name="Text 1"/>
          <p:cNvSpPr/>
          <p:nvPr/>
        </p:nvSpPr>
        <p:spPr>
          <a:xfrm>
            <a:off x="603504" y="292608"/>
            <a:ext cx="9144000" cy="201168"/>
          </a:xfrm>
          <a:prstGeom prst="rect">
            <a:avLst/>
          </a:prstGeom>
          <a:noFill/>
        </p:spPr>
        <p:txBody>
          <a:bodyPr wrap="square" lIns="0" tIns="0" rIns="0" bIns="0" rtlCol="0" anchor="ctr">
            <a:normAutofit/>
          </a:bodyPr>
          <a:lstStyle/>
          <a:p>
            <a:pPr marL="0" indent="0">
              <a:buNone/>
            </a:pPr>
            <a:r>
              <a:rPr lang="en-US" sz="1000" b="1" kern="0" spc="120" dirty="0">
                <a:solidFill>
                  <a:srgbClr val="63738B"/>
                </a:solidFill>
                <a:latin typeface="Aptos" pitchFamily="34" charset="0"/>
                <a:ea typeface="Aptos" pitchFamily="34" charset="-122"/>
                <a:cs typeface="Aptos" pitchFamily="34" charset="-120"/>
              </a:rPr>
              <a:t>WEEK 01 · FULL-STACK JOURNEY</a:t>
            </a:r>
            <a:endParaRPr lang="en-US" sz="1000" dirty="0"/>
          </a:p>
        </p:txBody>
      </p:sp>
      <p:sp>
        <p:nvSpPr>
          <p:cNvPr id="4" name="Text 2"/>
          <p:cNvSpPr/>
          <p:nvPr/>
        </p:nvSpPr>
        <p:spPr>
          <a:xfrm>
            <a:off x="603504" y="676656"/>
            <a:ext cx="10972800" cy="658368"/>
          </a:xfrm>
          <a:prstGeom prst="rect">
            <a:avLst/>
          </a:prstGeom>
          <a:noFill/>
        </p:spPr>
        <p:txBody>
          <a:bodyPr wrap="square" lIns="0" tIns="0" rIns="0" bIns="0" rtlCol="0" anchor="ctr">
            <a:normAutofit/>
          </a:bodyPr>
          <a:lstStyle/>
          <a:p>
            <a:pPr marL="0" indent="0">
              <a:buNone/>
            </a:pPr>
            <a:r>
              <a:rPr lang="en-US" sz="3100" b="1" dirty="0">
                <a:solidFill>
                  <a:srgbClr val="0D2F5F"/>
                </a:solidFill>
                <a:latin typeface="Aptos" pitchFamily="34" charset="0"/>
                <a:ea typeface="Aptos" pitchFamily="34" charset="-122"/>
                <a:cs typeface="Aptos" pitchFamily="34" charset="-120"/>
              </a:rPr>
              <a:t>A day in a software engineer’s work</a:t>
            </a:r>
            <a:endParaRPr lang="en-US" sz="3100" dirty="0"/>
          </a:p>
        </p:txBody>
      </p:sp>
      <p:sp>
        <p:nvSpPr>
          <p:cNvPr id="5" name="Shape 3"/>
          <p:cNvSpPr/>
          <p:nvPr/>
        </p:nvSpPr>
        <p:spPr>
          <a:xfrm>
            <a:off x="603504" y="1408176"/>
            <a:ext cx="10981944" cy="0"/>
          </a:xfrm>
          <a:prstGeom prst="line">
            <a:avLst/>
          </a:prstGeom>
          <a:noFill/>
          <a:ln w="12700">
            <a:solidFill>
              <a:srgbClr val="DEE5EF"/>
            </a:solidFill>
            <a:prstDash val="solid"/>
            <a:headEnd type="none"/>
            <a:tailEnd type="none"/>
          </a:ln>
        </p:spPr>
      </p:sp>
      <p:sp>
        <p:nvSpPr>
          <p:cNvPr id="8" name="Text 5"/>
          <p:cNvSpPr/>
          <p:nvPr/>
        </p:nvSpPr>
        <p:spPr>
          <a:xfrm>
            <a:off x="11338560" y="6437376"/>
            <a:ext cx="237744" cy="201168"/>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06</a:t>
            </a:r>
            <a:endParaRPr lang="en-US" sz="1000" dirty="0"/>
          </a:p>
        </p:txBody>
      </p:sp>
      <p:sp>
        <p:nvSpPr>
          <p:cNvPr id="9" name="Shape 6"/>
          <p:cNvSpPr/>
          <p:nvPr/>
        </p:nvSpPr>
        <p:spPr>
          <a:xfrm>
            <a:off x="685800" y="1700784"/>
            <a:ext cx="10835640" cy="640080"/>
          </a:xfrm>
          <a:prstGeom prst="roundRect">
            <a:avLst>
              <a:gd name="adj" fmla="val 22857"/>
            </a:avLst>
          </a:prstGeom>
          <a:solidFill>
            <a:srgbClr val="EDF3F8"/>
          </a:solidFill>
          <a:ln w="12700">
            <a:solidFill>
              <a:srgbClr val="EDF3F8">
                <a:alpha val="0"/>
              </a:srgbClr>
            </a:solidFill>
            <a:prstDash val="solid"/>
          </a:ln>
        </p:spPr>
      </p:sp>
      <p:sp>
        <p:nvSpPr>
          <p:cNvPr id="10" name="Shape 7"/>
          <p:cNvSpPr/>
          <p:nvPr/>
        </p:nvSpPr>
        <p:spPr>
          <a:xfrm>
            <a:off x="905256" y="1847088"/>
            <a:ext cx="338328" cy="338328"/>
          </a:xfrm>
          <a:prstGeom prst="ellipse">
            <a:avLst/>
          </a:prstGeom>
          <a:solidFill>
            <a:srgbClr val="DAA62F"/>
          </a:solidFill>
          <a:ln w="12700">
            <a:solidFill>
              <a:srgbClr val="DAA62F"/>
            </a:solidFill>
            <a:prstDash val="solid"/>
          </a:ln>
        </p:spPr>
      </p:sp>
      <p:sp>
        <p:nvSpPr>
          <p:cNvPr id="11" name="Text 8"/>
          <p:cNvSpPr/>
          <p:nvPr/>
        </p:nvSpPr>
        <p:spPr>
          <a:xfrm>
            <a:off x="905256" y="1888236"/>
            <a:ext cx="338328" cy="201168"/>
          </a:xfrm>
          <a:prstGeom prst="rect">
            <a:avLst/>
          </a:prstGeom>
          <a:noFill/>
        </p:spPr>
        <p:txBody>
          <a:bodyPr wrap="square" lIns="0" tIns="0" rIns="0" bIns="0" rtlCol="0" anchor="ctr">
            <a:normAutofit/>
          </a:bodyPr>
          <a:lstStyle/>
          <a:p>
            <a:pPr marL="0" indent="0" algn="ctr">
              <a:buNone/>
            </a:pPr>
            <a:r>
              <a:rPr lang="en-US" sz="1300" b="1" dirty="0">
                <a:solidFill>
                  <a:srgbClr val="0D2F5F"/>
                </a:solidFill>
                <a:latin typeface="Aptos" pitchFamily="34" charset="0"/>
                <a:ea typeface="Aptos" pitchFamily="34" charset="-122"/>
                <a:cs typeface="Aptos" pitchFamily="34" charset="-120"/>
              </a:rPr>
              <a:t>1</a:t>
            </a:r>
            <a:endParaRPr lang="en-US" sz="1300" dirty="0"/>
          </a:p>
        </p:txBody>
      </p:sp>
      <p:sp>
        <p:nvSpPr>
          <p:cNvPr id="12" name="Text 9"/>
          <p:cNvSpPr/>
          <p:nvPr/>
        </p:nvSpPr>
        <p:spPr>
          <a:xfrm>
            <a:off x="1453896" y="1819656"/>
            <a:ext cx="2788920" cy="320040"/>
          </a:xfrm>
          <a:prstGeom prst="rect">
            <a:avLst/>
          </a:prstGeom>
          <a:noFill/>
        </p:spPr>
        <p:txBody>
          <a:bodyPr wrap="square" lIns="0" tIns="0" rIns="0" bIns="0" rtlCol="0" anchor="ctr">
            <a:normAutofit/>
          </a:bodyPr>
          <a:lstStyle/>
          <a:p>
            <a:pPr marL="0" indent="0">
              <a:buNone/>
            </a:pPr>
            <a:r>
              <a:rPr lang="en-US" sz="1800" b="1" dirty="0">
                <a:solidFill>
                  <a:srgbClr val="0D2F5F"/>
                </a:solidFill>
                <a:latin typeface="Aptos" pitchFamily="34" charset="0"/>
                <a:ea typeface="Aptos" pitchFamily="34" charset="-122"/>
                <a:cs typeface="Aptos" pitchFamily="34" charset="-120"/>
              </a:rPr>
              <a:t>Team check-in</a:t>
            </a:r>
            <a:endParaRPr lang="en-US" sz="1800" dirty="0"/>
          </a:p>
        </p:txBody>
      </p:sp>
      <p:sp>
        <p:nvSpPr>
          <p:cNvPr id="13" name="Text 10"/>
          <p:cNvSpPr/>
          <p:nvPr/>
        </p:nvSpPr>
        <p:spPr>
          <a:xfrm>
            <a:off x="4279392" y="1819656"/>
            <a:ext cx="6858000" cy="320040"/>
          </a:xfrm>
          <a:prstGeom prst="rect">
            <a:avLst/>
          </a:prstGeom>
          <a:noFill/>
        </p:spPr>
        <p:txBody>
          <a:bodyPr wrap="square" lIns="0" tIns="0" rIns="0" bIns="0" rtlCol="0" anchor="ctr">
            <a:normAutofit/>
          </a:bodyPr>
          <a:lstStyle/>
          <a:p>
            <a:pPr marL="0" indent="0">
              <a:buNone/>
            </a:pPr>
            <a:r>
              <a:rPr lang="en-US" sz="1700" dirty="0">
                <a:solidFill>
                  <a:srgbClr val="63738B"/>
                </a:solidFill>
                <a:latin typeface="Aptos" pitchFamily="34" charset="0"/>
                <a:ea typeface="Aptos" pitchFamily="34" charset="-122"/>
                <a:cs typeface="Aptos" pitchFamily="34" charset="-120"/>
              </a:rPr>
              <a:t>What is done, next and blocked?</a:t>
            </a:r>
            <a:endParaRPr lang="en-US" sz="1700" dirty="0"/>
          </a:p>
        </p:txBody>
      </p:sp>
      <p:sp>
        <p:nvSpPr>
          <p:cNvPr id="14" name="Shape 11"/>
          <p:cNvSpPr/>
          <p:nvPr/>
        </p:nvSpPr>
        <p:spPr>
          <a:xfrm>
            <a:off x="685800" y="2496312"/>
            <a:ext cx="10835640" cy="640080"/>
          </a:xfrm>
          <a:prstGeom prst="roundRect">
            <a:avLst>
              <a:gd name="adj" fmla="val 22857"/>
            </a:avLst>
          </a:prstGeom>
          <a:solidFill>
            <a:srgbClr val="FFFFFF"/>
          </a:solidFill>
          <a:ln w="12700">
            <a:solidFill>
              <a:srgbClr val="FFFFFF">
                <a:alpha val="0"/>
              </a:srgbClr>
            </a:solidFill>
            <a:prstDash val="solid"/>
          </a:ln>
        </p:spPr>
      </p:sp>
      <p:sp>
        <p:nvSpPr>
          <p:cNvPr id="15" name="Shape 12"/>
          <p:cNvSpPr/>
          <p:nvPr/>
        </p:nvSpPr>
        <p:spPr>
          <a:xfrm>
            <a:off x="905256" y="2642616"/>
            <a:ext cx="338328" cy="338328"/>
          </a:xfrm>
          <a:prstGeom prst="ellipse">
            <a:avLst/>
          </a:prstGeom>
          <a:solidFill>
            <a:srgbClr val="DAA62F"/>
          </a:solidFill>
          <a:ln w="12700">
            <a:solidFill>
              <a:srgbClr val="DAA62F"/>
            </a:solidFill>
            <a:prstDash val="solid"/>
          </a:ln>
        </p:spPr>
      </p:sp>
      <p:sp>
        <p:nvSpPr>
          <p:cNvPr id="16" name="Text 13"/>
          <p:cNvSpPr/>
          <p:nvPr/>
        </p:nvSpPr>
        <p:spPr>
          <a:xfrm>
            <a:off x="905256" y="2683764"/>
            <a:ext cx="338328" cy="201168"/>
          </a:xfrm>
          <a:prstGeom prst="rect">
            <a:avLst/>
          </a:prstGeom>
          <a:noFill/>
        </p:spPr>
        <p:txBody>
          <a:bodyPr wrap="square" lIns="0" tIns="0" rIns="0" bIns="0" rtlCol="0" anchor="ctr">
            <a:normAutofit/>
          </a:bodyPr>
          <a:lstStyle/>
          <a:p>
            <a:pPr marL="0" indent="0" algn="ctr">
              <a:buNone/>
            </a:pPr>
            <a:r>
              <a:rPr lang="en-US" sz="1300" b="1" dirty="0">
                <a:solidFill>
                  <a:srgbClr val="0D2F5F"/>
                </a:solidFill>
                <a:latin typeface="Aptos" pitchFamily="34" charset="0"/>
                <a:ea typeface="Aptos" pitchFamily="34" charset="-122"/>
                <a:cs typeface="Aptos" pitchFamily="34" charset="-120"/>
              </a:rPr>
              <a:t>2</a:t>
            </a:r>
            <a:endParaRPr lang="en-US" sz="1300" dirty="0"/>
          </a:p>
        </p:txBody>
      </p:sp>
      <p:sp>
        <p:nvSpPr>
          <p:cNvPr id="17" name="Text 14"/>
          <p:cNvSpPr/>
          <p:nvPr/>
        </p:nvSpPr>
        <p:spPr>
          <a:xfrm>
            <a:off x="1453896" y="2615184"/>
            <a:ext cx="2788920" cy="320040"/>
          </a:xfrm>
          <a:prstGeom prst="rect">
            <a:avLst/>
          </a:prstGeom>
          <a:noFill/>
        </p:spPr>
        <p:txBody>
          <a:bodyPr wrap="square" lIns="0" tIns="0" rIns="0" bIns="0" rtlCol="0" anchor="ctr">
            <a:normAutofit/>
          </a:bodyPr>
          <a:lstStyle/>
          <a:p>
            <a:pPr marL="0" indent="0">
              <a:buNone/>
            </a:pPr>
            <a:r>
              <a:rPr lang="en-US" sz="1800" b="1" dirty="0">
                <a:solidFill>
                  <a:srgbClr val="0D2F5F"/>
                </a:solidFill>
                <a:latin typeface="Aptos" pitchFamily="34" charset="0"/>
                <a:ea typeface="Aptos" pitchFamily="34" charset="-122"/>
                <a:cs typeface="Aptos" pitchFamily="34" charset="-120"/>
              </a:rPr>
              <a:t>Pick a task</a:t>
            </a:r>
            <a:endParaRPr lang="en-US" sz="1800" dirty="0"/>
          </a:p>
        </p:txBody>
      </p:sp>
      <p:sp>
        <p:nvSpPr>
          <p:cNvPr id="18" name="Text 15"/>
          <p:cNvSpPr/>
          <p:nvPr/>
        </p:nvSpPr>
        <p:spPr>
          <a:xfrm>
            <a:off x="4279392" y="2615184"/>
            <a:ext cx="6858000" cy="320040"/>
          </a:xfrm>
          <a:prstGeom prst="rect">
            <a:avLst/>
          </a:prstGeom>
          <a:noFill/>
        </p:spPr>
        <p:txBody>
          <a:bodyPr wrap="square" lIns="0" tIns="0" rIns="0" bIns="0" rtlCol="0" anchor="ctr">
            <a:normAutofit/>
          </a:bodyPr>
          <a:lstStyle/>
          <a:p>
            <a:pPr marL="0" indent="0">
              <a:buNone/>
            </a:pPr>
            <a:r>
              <a:rPr lang="en-US" sz="1700" dirty="0">
                <a:solidFill>
                  <a:srgbClr val="63738B"/>
                </a:solidFill>
                <a:latin typeface="Aptos" pitchFamily="34" charset="0"/>
                <a:ea typeface="Aptos" pitchFamily="34" charset="-122"/>
                <a:cs typeface="Aptos" pitchFamily="34" charset="-120"/>
              </a:rPr>
              <a:t>Read a ticket and existing code</a:t>
            </a:r>
            <a:endParaRPr lang="en-US" sz="1700" dirty="0"/>
          </a:p>
        </p:txBody>
      </p:sp>
      <p:sp>
        <p:nvSpPr>
          <p:cNvPr id="19" name="Shape 16"/>
          <p:cNvSpPr/>
          <p:nvPr/>
        </p:nvSpPr>
        <p:spPr>
          <a:xfrm>
            <a:off x="685800" y="3291840"/>
            <a:ext cx="10835640" cy="640080"/>
          </a:xfrm>
          <a:prstGeom prst="roundRect">
            <a:avLst>
              <a:gd name="adj" fmla="val 22857"/>
            </a:avLst>
          </a:prstGeom>
          <a:solidFill>
            <a:srgbClr val="EDF3F8"/>
          </a:solidFill>
          <a:ln w="12700">
            <a:solidFill>
              <a:srgbClr val="EDF3F8">
                <a:alpha val="0"/>
              </a:srgbClr>
            </a:solidFill>
            <a:prstDash val="solid"/>
          </a:ln>
        </p:spPr>
      </p:sp>
      <p:sp>
        <p:nvSpPr>
          <p:cNvPr id="20" name="Shape 17"/>
          <p:cNvSpPr/>
          <p:nvPr/>
        </p:nvSpPr>
        <p:spPr>
          <a:xfrm>
            <a:off x="905256" y="3438144"/>
            <a:ext cx="338328" cy="338328"/>
          </a:xfrm>
          <a:prstGeom prst="ellipse">
            <a:avLst/>
          </a:prstGeom>
          <a:solidFill>
            <a:srgbClr val="DAA62F"/>
          </a:solidFill>
          <a:ln w="12700">
            <a:solidFill>
              <a:srgbClr val="DAA62F"/>
            </a:solidFill>
            <a:prstDash val="solid"/>
          </a:ln>
        </p:spPr>
      </p:sp>
      <p:sp>
        <p:nvSpPr>
          <p:cNvPr id="21" name="Text 18"/>
          <p:cNvSpPr/>
          <p:nvPr/>
        </p:nvSpPr>
        <p:spPr>
          <a:xfrm>
            <a:off x="905256" y="3479292"/>
            <a:ext cx="338328" cy="201168"/>
          </a:xfrm>
          <a:prstGeom prst="rect">
            <a:avLst/>
          </a:prstGeom>
          <a:noFill/>
        </p:spPr>
        <p:txBody>
          <a:bodyPr wrap="square" lIns="0" tIns="0" rIns="0" bIns="0" rtlCol="0" anchor="ctr">
            <a:normAutofit/>
          </a:bodyPr>
          <a:lstStyle/>
          <a:p>
            <a:pPr marL="0" indent="0" algn="ctr">
              <a:buNone/>
            </a:pPr>
            <a:r>
              <a:rPr lang="en-US" sz="1300" b="1" dirty="0">
                <a:solidFill>
                  <a:srgbClr val="0D2F5F"/>
                </a:solidFill>
                <a:latin typeface="Aptos" pitchFamily="34" charset="0"/>
                <a:ea typeface="Aptos" pitchFamily="34" charset="-122"/>
                <a:cs typeface="Aptos" pitchFamily="34" charset="-120"/>
              </a:rPr>
              <a:t>3</a:t>
            </a:r>
            <a:endParaRPr lang="en-US" sz="1300" dirty="0"/>
          </a:p>
        </p:txBody>
      </p:sp>
      <p:sp>
        <p:nvSpPr>
          <p:cNvPr id="22" name="Text 19"/>
          <p:cNvSpPr/>
          <p:nvPr/>
        </p:nvSpPr>
        <p:spPr>
          <a:xfrm>
            <a:off x="1453896" y="3410712"/>
            <a:ext cx="2788920" cy="320040"/>
          </a:xfrm>
          <a:prstGeom prst="rect">
            <a:avLst/>
          </a:prstGeom>
          <a:noFill/>
        </p:spPr>
        <p:txBody>
          <a:bodyPr wrap="square" lIns="0" tIns="0" rIns="0" bIns="0" rtlCol="0" anchor="ctr">
            <a:normAutofit/>
          </a:bodyPr>
          <a:lstStyle/>
          <a:p>
            <a:pPr marL="0" indent="0">
              <a:buNone/>
            </a:pPr>
            <a:r>
              <a:rPr lang="en-US" sz="1800" b="1" dirty="0">
                <a:solidFill>
                  <a:srgbClr val="0D2F5F"/>
                </a:solidFill>
                <a:latin typeface="Aptos" pitchFamily="34" charset="0"/>
                <a:ea typeface="Aptos" pitchFamily="34" charset="-122"/>
                <a:cs typeface="Aptos" pitchFamily="34" charset="-120"/>
              </a:rPr>
              <a:t>Build + test</a:t>
            </a:r>
            <a:endParaRPr lang="en-US" sz="1800" dirty="0"/>
          </a:p>
        </p:txBody>
      </p:sp>
      <p:sp>
        <p:nvSpPr>
          <p:cNvPr id="23" name="Text 20"/>
          <p:cNvSpPr/>
          <p:nvPr/>
        </p:nvSpPr>
        <p:spPr>
          <a:xfrm>
            <a:off x="4279392" y="3410712"/>
            <a:ext cx="6858000" cy="320040"/>
          </a:xfrm>
          <a:prstGeom prst="rect">
            <a:avLst/>
          </a:prstGeom>
          <a:noFill/>
        </p:spPr>
        <p:txBody>
          <a:bodyPr wrap="square" lIns="0" tIns="0" rIns="0" bIns="0" rtlCol="0" anchor="ctr">
            <a:normAutofit/>
          </a:bodyPr>
          <a:lstStyle/>
          <a:p>
            <a:pPr marL="0" indent="0">
              <a:buNone/>
            </a:pPr>
            <a:r>
              <a:rPr lang="en-US" sz="1700" dirty="0">
                <a:solidFill>
                  <a:srgbClr val="63738B"/>
                </a:solidFill>
                <a:latin typeface="Aptos" pitchFamily="34" charset="0"/>
                <a:ea typeface="Aptos" pitchFamily="34" charset="-122"/>
                <a:cs typeface="Aptos" pitchFamily="34" charset="-120"/>
              </a:rPr>
              <a:t>Implement and verify behaviour</a:t>
            </a:r>
            <a:endParaRPr lang="en-US" sz="1700" dirty="0"/>
          </a:p>
        </p:txBody>
      </p:sp>
      <p:sp>
        <p:nvSpPr>
          <p:cNvPr id="24" name="Shape 21"/>
          <p:cNvSpPr/>
          <p:nvPr/>
        </p:nvSpPr>
        <p:spPr>
          <a:xfrm>
            <a:off x="685800" y="4087368"/>
            <a:ext cx="10835640" cy="640080"/>
          </a:xfrm>
          <a:prstGeom prst="roundRect">
            <a:avLst>
              <a:gd name="adj" fmla="val 22857"/>
            </a:avLst>
          </a:prstGeom>
          <a:solidFill>
            <a:srgbClr val="FFFFFF"/>
          </a:solidFill>
          <a:ln w="12700">
            <a:solidFill>
              <a:srgbClr val="FFFFFF">
                <a:alpha val="0"/>
              </a:srgbClr>
            </a:solidFill>
            <a:prstDash val="solid"/>
          </a:ln>
        </p:spPr>
      </p:sp>
      <p:sp>
        <p:nvSpPr>
          <p:cNvPr id="25" name="Shape 22"/>
          <p:cNvSpPr/>
          <p:nvPr/>
        </p:nvSpPr>
        <p:spPr>
          <a:xfrm>
            <a:off x="905256" y="4233672"/>
            <a:ext cx="338328" cy="338328"/>
          </a:xfrm>
          <a:prstGeom prst="ellipse">
            <a:avLst/>
          </a:prstGeom>
          <a:solidFill>
            <a:srgbClr val="DAA62F"/>
          </a:solidFill>
          <a:ln w="12700">
            <a:solidFill>
              <a:srgbClr val="DAA62F"/>
            </a:solidFill>
            <a:prstDash val="solid"/>
          </a:ln>
        </p:spPr>
      </p:sp>
      <p:sp>
        <p:nvSpPr>
          <p:cNvPr id="26" name="Text 23"/>
          <p:cNvSpPr/>
          <p:nvPr/>
        </p:nvSpPr>
        <p:spPr>
          <a:xfrm>
            <a:off x="905256" y="4274820"/>
            <a:ext cx="338328" cy="201168"/>
          </a:xfrm>
          <a:prstGeom prst="rect">
            <a:avLst/>
          </a:prstGeom>
          <a:noFill/>
        </p:spPr>
        <p:txBody>
          <a:bodyPr wrap="square" lIns="0" tIns="0" rIns="0" bIns="0" rtlCol="0" anchor="ctr">
            <a:normAutofit/>
          </a:bodyPr>
          <a:lstStyle/>
          <a:p>
            <a:pPr marL="0" indent="0" algn="ctr">
              <a:buNone/>
            </a:pPr>
            <a:r>
              <a:rPr lang="en-US" sz="1300" b="1" dirty="0">
                <a:solidFill>
                  <a:srgbClr val="0D2F5F"/>
                </a:solidFill>
                <a:latin typeface="Aptos" pitchFamily="34" charset="0"/>
                <a:ea typeface="Aptos" pitchFamily="34" charset="-122"/>
                <a:cs typeface="Aptos" pitchFamily="34" charset="-120"/>
              </a:rPr>
              <a:t>4</a:t>
            </a:r>
            <a:endParaRPr lang="en-US" sz="1300" dirty="0"/>
          </a:p>
        </p:txBody>
      </p:sp>
      <p:sp>
        <p:nvSpPr>
          <p:cNvPr id="27" name="Text 24"/>
          <p:cNvSpPr/>
          <p:nvPr/>
        </p:nvSpPr>
        <p:spPr>
          <a:xfrm>
            <a:off x="1453896" y="4206240"/>
            <a:ext cx="2788920" cy="320040"/>
          </a:xfrm>
          <a:prstGeom prst="rect">
            <a:avLst/>
          </a:prstGeom>
          <a:noFill/>
        </p:spPr>
        <p:txBody>
          <a:bodyPr wrap="square" lIns="0" tIns="0" rIns="0" bIns="0" rtlCol="0" anchor="ctr">
            <a:normAutofit/>
          </a:bodyPr>
          <a:lstStyle/>
          <a:p>
            <a:pPr marL="0" indent="0">
              <a:buNone/>
            </a:pPr>
            <a:r>
              <a:rPr lang="en-US" sz="1800" b="1" dirty="0">
                <a:solidFill>
                  <a:srgbClr val="0D2F5F"/>
                </a:solidFill>
                <a:latin typeface="Aptos" pitchFamily="34" charset="0"/>
                <a:ea typeface="Aptos" pitchFamily="34" charset="-122"/>
                <a:cs typeface="Aptos" pitchFamily="34" charset="-120"/>
              </a:rPr>
              <a:t>Review + improve</a:t>
            </a:r>
            <a:endParaRPr lang="en-US" sz="1800" dirty="0"/>
          </a:p>
        </p:txBody>
      </p:sp>
      <p:sp>
        <p:nvSpPr>
          <p:cNvPr id="28" name="Text 25"/>
          <p:cNvSpPr/>
          <p:nvPr/>
        </p:nvSpPr>
        <p:spPr>
          <a:xfrm>
            <a:off x="4279392" y="4206240"/>
            <a:ext cx="6858000" cy="320040"/>
          </a:xfrm>
          <a:prstGeom prst="rect">
            <a:avLst/>
          </a:prstGeom>
          <a:noFill/>
        </p:spPr>
        <p:txBody>
          <a:bodyPr wrap="square" lIns="0" tIns="0" rIns="0" bIns="0" rtlCol="0" anchor="ctr">
            <a:normAutofit/>
          </a:bodyPr>
          <a:lstStyle/>
          <a:p>
            <a:pPr marL="0" indent="0">
              <a:buNone/>
            </a:pPr>
            <a:r>
              <a:rPr lang="en-US" sz="1700" dirty="0">
                <a:solidFill>
                  <a:srgbClr val="63738B"/>
                </a:solidFill>
                <a:latin typeface="Aptos" pitchFamily="34" charset="0"/>
                <a:ea typeface="Aptos" pitchFamily="34" charset="-122"/>
                <a:cs typeface="Aptos" pitchFamily="34" charset="-120"/>
              </a:rPr>
              <a:t>Discuss feedback, fix issues</a:t>
            </a:r>
            <a:endParaRPr lang="en-US" sz="1700" dirty="0"/>
          </a:p>
        </p:txBody>
      </p:sp>
      <p:sp>
        <p:nvSpPr>
          <p:cNvPr id="29" name="Shape 26"/>
          <p:cNvSpPr/>
          <p:nvPr/>
        </p:nvSpPr>
        <p:spPr>
          <a:xfrm>
            <a:off x="685800" y="4882896"/>
            <a:ext cx="10835640" cy="640080"/>
          </a:xfrm>
          <a:prstGeom prst="roundRect">
            <a:avLst>
              <a:gd name="adj" fmla="val 22857"/>
            </a:avLst>
          </a:prstGeom>
          <a:solidFill>
            <a:srgbClr val="EDF3F8"/>
          </a:solidFill>
          <a:ln w="12700">
            <a:solidFill>
              <a:srgbClr val="EDF3F8">
                <a:alpha val="0"/>
              </a:srgbClr>
            </a:solidFill>
            <a:prstDash val="solid"/>
          </a:ln>
        </p:spPr>
      </p:sp>
      <p:sp>
        <p:nvSpPr>
          <p:cNvPr id="30" name="Shape 27"/>
          <p:cNvSpPr/>
          <p:nvPr/>
        </p:nvSpPr>
        <p:spPr>
          <a:xfrm>
            <a:off x="905256" y="5029200"/>
            <a:ext cx="338328" cy="338328"/>
          </a:xfrm>
          <a:prstGeom prst="ellipse">
            <a:avLst/>
          </a:prstGeom>
          <a:solidFill>
            <a:srgbClr val="DAA62F"/>
          </a:solidFill>
          <a:ln w="12700">
            <a:solidFill>
              <a:srgbClr val="DAA62F"/>
            </a:solidFill>
            <a:prstDash val="solid"/>
          </a:ln>
        </p:spPr>
      </p:sp>
      <p:sp>
        <p:nvSpPr>
          <p:cNvPr id="31" name="Text 28"/>
          <p:cNvSpPr/>
          <p:nvPr/>
        </p:nvSpPr>
        <p:spPr>
          <a:xfrm>
            <a:off x="905256" y="5070348"/>
            <a:ext cx="338328" cy="201168"/>
          </a:xfrm>
          <a:prstGeom prst="rect">
            <a:avLst/>
          </a:prstGeom>
          <a:noFill/>
        </p:spPr>
        <p:txBody>
          <a:bodyPr wrap="square" lIns="0" tIns="0" rIns="0" bIns="0" rtlCol="0" anchor="ctr">
            <a:normAutofit/>
          </a:bodyPr>
          <a:lstStyle/>
          <a:p>
            <a:pPr marL="0" indent="0" algn="ctr">
              <a:buNone/>
            </a:pPr>
            <a:r>
              <a:rPr lang="en-US" sz="1300" b="1" dirty="0">
                <a:solidFill>
                  <a:srgbClr val="0D2F5F"/>
                </a:solidFill>
                <a:latin typeface="Aptos" pitchFamily="34" charset="0"/>
                <a:ea typeface="Aptos" pitchFamily="34" charset="-122"/>
                <a:cs typeface="Aptos" pitchFamily="34" charset="-120"/>
              </a:rPr>
              <a:t>5</a:t>
            </a:r>
            <a:endParaRPr lang="en-US" sz="1300" dirty="0"/>
          </a:p>
        </p:txBody>
      </p:sp>
      <p:sp>
        <p:nvSpPr>
          <p:cNvPr id="32" name="Text 29"/>
          <p:cNvSpPr/>
          <p:nvPr/>
        </p:nvSpPr>
        <p:spPr>
          <a:xfrm>
            <a:off x="1453896" y="5001768"/>
            <a:ext cx="2788920" cy="320040"/>
          </a:xfrm>
          <a:prstGeom prst="rect">
            <a:avLst/>
          </a:prstGeom>
          <a:noFill/>
        </p:spPr>
        <p:txBody>
          <a:bodyPr wrap="square" lIns="0" tIns="0" rIns="0" bIns="0" rtlCol="0" anchor="ctr">
            <a:normAutofit/>
          </a:bodyPr>
          <a:lstStyle/>
          <a:p>
            <a:pPr marL="0" indent="0">
              <a:buNone/>
            </a:pPr>
            <a:r>
              <a:rPr lang="en-US" sz="1800" b="1" dirty="0">
                <a:solidFill>
                  <a:srgbClr val="0D2F5F"/>
                </a:solidFill>
                <a:latin typeface="Aptos" pitchFamily="34" charset="0"/>
                <a:ea typeface="Aptos" pitchFamily="34" charset="-122"/>
                <a:cs typeface="Aptos" pitchFamily="34" charset="-120"/>
              </a:rPr>
              <a:t>Help users</a:t>
            </a:r>
            <a:endParaRPr lang="en-US" sz="1800" dirty="0"/>
          </a:p>
        </p:txBody>
      </p:sp>
      <p:sp>
        <p:nvSpPr>
          <p:cNvPr id="33" name="Text 30"/>
          <p:cNvSpPr/>
          <p:nvPr/>
        </p:nvSpPr>
        <p:spPr>
          <a:xfrm>
            <a:off x="4279392" y="5001768"/>
            <a:ext cx="6858000" cy="320040"/>
          </a:xfrm>
          <a:prstGeom prst="rect">
            <a:avLst/>
          </a:prstGeom>
          <a:noFill/>
        </p:spPr>
        <p:txBody>
          <a:bodyPr wrap="square" lIns="0" tIns="0" rIns="0" bIns="0" rtlCol="0" anchor="ctr">
            <a:normAutofit/>
          </a:bodyPr>
          <a:lstStyle/>
          <a:p>
            <a:pPr marL="0" indent="0">
              <a:buNone/>
            </a:pPr>
            <a:r>
              <a:rPr lang="en-US" sz="1700" dirty="0">
                <a:solidFill>
                  <a:srgbClr val="63738B"/>
                </a:solidFill>
                <a:latin typeface="Aptos" pitchFamily="34" charset="0"/>
                <a:ea typeface="Aptos" pitchFamily="34" charset="-122"/>
                <a:cs typeface="Aptos" pitchFamily="34" charset="-120"/>
              </a:rPr>
              <a:t>Investigate bugs and incidents</a:t>
            </a:r>
            <a:endParaRPr lang="en-US" sz="1700" dirty="0"/>
          </a:p>
        </p:txBody>
      </p:sp>
      <p:pic>
        <p:nvPicPr>
          <p:cNvPr id="34" name="Image 0" descr="/mnt/data/cwp-logo-primary-transparent.png"/>
          <p:cNvPicPr>
            <a:picLocks noChangeAspect="1"/>
          </p:cNvPicPr>
          <p:nvPr/>
        </p:nvPicPr>
        <p:blipFill>
          <a:blip r:embed="rId1"/>
          <a:stretch>
            <a:fillRect/>
          </a:stretch>
        </p:blipFill>
        <p:spPr>
          <a:xfrm>
            <a:off x="603250" y="6029325"/>
            <a:ext cx="946150" cy="628650"/>
          </a:xfrm>
          <a:prstGeom prst="rect">
            <a:avLst/>
          </a:prstGeom>
        </p:spPr>
      </p:pic>
      <p:sp>
        <p:nvSpPr>
          <p:cNvPr id="35" name="Text 4"/>
          <p:cNvSpPr/>
          <p:nvPr/>
        </p:nvSpPr>
        <p:spPr>
          <a:xfrm>
            <a:off x="9485884" y="6419850"/>
            <a:ext cx="1746504" cy="219456"/>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codewithprof.com</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DAA62F"/>
          </a:solidFill>
          <a:ln w="12700">
            <a:solidFill>
              <a:srgbClr val="DAA62F"/>
            </a:solidFill>
            <a:prstDash val="solid"/>
          </a:ln>
        </p:spPr>
      </p:sp>
      <p:sp>
        <p:nvSpPr>
          <p:cNvPr id="3" name="Text 1"/>
          <p:cNvSpPr/>
          <p:nvPr/>
        </p:nvSpPr>
        <p:spPr>
          <a:xfrm>
            <a:off x="603504" y="292608"/>
            <a:ext cx="9144000" cy="201168"/>
          </a:xfrm>
          <a:prstGeom prst="rect">
            <a:avLst/>
          </a:prstGeom>
          <a:noFill/>
        </p:spPr>
        <p:txBody>
          <a:bodyPr wrap="square" lIns="0" tIns="0" rIns="0" bIns="0" rtlCol="0" anchor="ctr">
            <a:normAutofit/>
          </a:bodyPr>
          <a:lstStyle/>
          <a:p>
            <a:pPr marL="0" indent="0">
              <a:buNone/>
            </a:pPr>
            <a:r>
              <a:rPr lang="en-US" sz="1000" b="1" kern="0" spc="120" dirty="0">
                <a:solidFill>
                  <a:srgbClr val="63738B"/>
                </a:solidFill>
                <a:latin typeface="Aptos" pitchFamily="34" charset="0"/>
                <a:ea typeface="Aptos" pitchFamily="34" charset="-122"/>
                <a:cs typeface="Aptos" pitchFamily="34" charset="-120"/>
              </a:rPr>
              <a:t>WEEK 01 · FULL-STACK JOURNEY</a:t>
            </a:r>
            <a:endParaRPr lang="en-US" sz="1000" dirty="0"/>
          </a:p>
        </p:txBody>
      </p:sp>
      <p:sp>
        <p:nvSpPr>
          <p:cNvPr id="4" name="Text 2"/>
          <p:cNvSpPr/>
          <p:nvPr/>
        </p:nvSpPr>
        <p:spPr>
          <a:xfrm>
            <a:off x="603504" y="676656"/>
            <a:ext cx="10972800" cy="658368"/>
          </a:xfrm>
          <a:prstGeom prst="rect">
            <a:avLst/>
          </a:prstGeom>
          <a:noFill/>
        </p:spPr>
        <p:txBody>
          <a:bodyPr wrap="square" lIns="0" tIns="0" rIns="0" bIns="0" rtlCol="0" anchor="ctr">
            <a:normAutofit/>
          </a:bodyPr>
          <a:lstStyle/>
          <a:p>
            <a:pPr marL="0" indent="0">
              <a:buNone/>
            </a:pPr>
            <a:r>
              <a:rPr lang="en-US" sz="3100" b="1" dirty="0">
                <a:solidFill>
                  <a:srgbClr val="0D2F5F"/>
                </a:solidFill>
                <a:latin typeface="Aptos" pitchFamily="34" charset="0"/>
                <a:ea typeface="Aptos" pitchFamily="34" charset="-122"/>
                <a:cs typeface="Aptos" pitchFamily="34" charset="-120"/>
              </a:rPr>
              <a:t>The technology team behind StudyHub</a:t>
            </a:r>
            <a:endParaRPr lang="en-US" sz="3100" dirty="0"/>
          </a:p>
        </p:txBody>
      </p:sp>
      <p:sp>
        <p:nvSpPr>
          <p:cNvPr id="5" name="Shape 3"/>
          <p:cNvSpPr/>
          <p:nvPr/>
        </p:nvSpPr>
        <p:spPr>
          <a:xfrm>
            <a:off x="603504" y="1408176"/>
            <a:ext cx="10981944" cy="0"/>
          </a:xfrm>
          <a:prstGeom prst="line">
            <a:avLst/>
          </a:prstGeom>
          <a:noFill/>
          <a:ln w="12700">
            <a:solidFill>
              <a:srgbClr val="DEE5EF"/>
            </a:solidFill>
            <a:prstDash val="solid"/>
            <a:headEnd type="none"/>
            <a:tailEnd type="none"/>
          </a:ln>
        </p:spPr>
      </p:sp>
      <p:sp>
        <p:nvSpPr>
          <p:cNvPr id="8" name="Text 5"/>
          <p:cNvSpPr/>
          <p:nvPr/>
        </p:nvSpPr>
        <p:spPr>
          <a:xfrm>
            <a:off x="11338560" y="6437376"/>
            <a:ext cx="237744" cy="201168"/>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07</a:t>
            </a:r>
            <a:endParaRPr lang="en-US" sz="1000" dirty="0"/>
          </a:p>
        </p:txBody>
      </p:sp>
      <p:sp>
        <p:nvSpPr>
          <p:cNvPr id="9" name="Shape 6"/>
          <p:cNvSpPr/>
          <p:nvPr/>
        </p:nvSpPr>
        <p:spPr>
          <a:xfrm>
            <a:off x="667512" y="1673352"/>
            <a:ext cx="3529584" cy="1078992"/>
          </a:xfrm>
          <a:prstGeom prst="roundRect">
            <a:avLst>
              <a:gd name="adj" fmla="val 13559"/>
            </a:avLst>
          </a:prstGeom>
          <a:solidFill>
            <a:srgbClr val="FFFFFF"/>
          </a:solidFill>
          <a:ln w="12700">
            <a:solidFill>
              <a:srgbClr val="FFFFFF">
                <a:alpha val="0"/>
              </a:srgbClr>
            </a:solidFill>
            <a:prstDash val="solid"/>
          </a:ln>
        </p:spPr>
      </p:sp>
      <p:sp>
        <p:nvSpPr>
          <p:cNvPr id="10" name="Shape 7"/>
          <p:cNvSpPr/>
          <p:nvPr/>
        </p:nvSpPr>
        <p:spPr>
          <a:xfrm>
            <a:off x="667512" y="1673352"/>
            <a:ext cx="59436" cy="1078992"/>
          </a:xfrm>
          <a:prstGeom prst="rect">
            <a:avLst/>
          </a:prstGeom>
          <a:solidFill>
            <a:srgbClr val="DAA62F"/>
          </a:solidFill>
          <a:ln w="12700">
            <a:solidFill>
              <a:srgbClr val="DAA62F"/>
            </a:solidFill>
            <a:prstDash val="solid"/>
          </a:ln>
        </p:spPr>
      </p:sp>
      <p:sp>
        <p:nvSpPr>
          <p:cNvPr id="11" name="Text 8"/>
          <p:cNvSpPr/>
          <p:nvPr/>
        </p:nvSpPr>
        <p:spPr>
          <a:xfrm>
            <a:off x="886968" y="1847088"/>
            <a:ext cx="3090672" cy="393192"/>
          </a:xfrm>
          <a:prstGeom prst="rect">
            <a:avLst/>
          </a:prstGeom>
          <a:noFill/>
        </p:spPr>
        <p:txBody>
          <a:bodyPr wrap="square" lIns="0" tIns="0" rIns="0" bIns="0" rtlCol="0" anchor="ctr">
            <a:normAutofit/>
          </a:bodyPr>
          <a:lstStyle/>
          <a:p>
            <a:pPr marL="0" indent="0">
              <a:buNone/>
            </a:pPr>
            <a:r>
              <a:rPr lang="en-US" sz="1700" b="1" dirty="0">
                <a:solidFill>
                  <a:srgbClr val="0D2F5F"/>
                </a:solidFill>
                <a:latin typeface="Aptos" pitchFamily="34" charset="0"/>
                <a:ea typeface="Aptos" pitchFamily="34" charset="-122"/>
                <a:cs typeface="Aptos" pitchFamily="34" charset="-120"/>
              </a:rPr>
              <a:t>Frontend</a:t>
            </a:r>
            <a:endParaRPr lang="en-US" sz="1700" dirty="0"/>
          </a:p>
        </p:txBody>
      </p:sp>
      <p:sp>
        <p:nvSpPr>
          <p:cNvPr id="12" name="Text 9"/>
          <p:cNvSpPr/>
          <p:nvPr/>
        </p:nvSpPr>
        <p:spPr>
          <a:xfrm>
            <a:off x="886968" y="2340864"/>
            <a:ext cx="3090672" cy="246888"/>
          </a:xfrm>
          <a:prstGeom prst="rect">
            <a:avLst/>
          </a:prstGeom>
          <a:noFill/>
        </p:spPr>
        <p:txBody>
          <a:bodyPr wrap="square" lIns="0" tIns="0" rIns="0" bIns="0" rtlCol="0" anchor="t">
            <a:normAutofit/>
          </a:bodyPr>
          <a:lstStyle/>
          <a:p>
            <a:pPr marL="0" indent="0">
              <a:buNone/>
            </a:pPr>
            <a:r>
              <a:rPr lang="en-US" sz="1400" dirty="0">
                <a:solidFill>
                  <a:srgbClr val="63738B"/>
                </a:solidFill>
                <a:latin typeface="Aptos" pitchFamily="34" charset="0"/>
                <a:ea typeface="Aptos" pitchFamily="34" charset="-122"/>
                <a:cs typeface="Aptos" pitchFamily="34" charset="-120"/>
              </a:rPr>
              <a:t>Pages, buttons, forms</a:t>
            </a:r>
            <a:endParaRPr lang="en-US" sz="1400" dirty="0"/>
          </a:p>
        </p:txBody>
      </p:sp>
      <p:sp>
        <p:nvSpPr>
          <p:cNvPr id="13" name="Shape 10"/>
          <p:cNvSpPr/>
          <p:nvPr/>
        </p:nvSpPr>
        <p:spPr>
          <a:xfrm>
            <a:off x="4443984" y="1673352"/>
            <a:ext cx="3529584" cy="1078992"/>
          </a:xfrm>
          <a:prstGeom prst="roundRect">
            <a:avLst>
              <a:gd name="adj" fmla="val 13559"/>
            </a:avLst>
          </a:prstGeom>
          <a:solidFill>
            <a:srgbClr val="FFFFFF"/>
          </a:solidFill>
          <a:ln w="12700">
            <a:solidFill>
              <a:srgbClr val="FFFFFF">
                <a:alpha val="0"/>
              </a:srgbClr>
            </a:solidFill>
            <a:prstDash val="solid"/>
          </a:ln>
        </p:spPr>
      </p:sp>
      <p:sp>
        <p:nvSpPr>
          <p:cNvPr id="14" name="Shape 11"/>
          <p:cNvSpPr/>
          <p:nvPr/>
        </p:nvSpPr>
        <p:spPr>
          <a:xfrm>
            <a:off x="4443984" y="1673352"/>
            <a:ext cx="59436" cy="1078992"/>
          </a:xfrm>
          <a:prstGeom prst="rect">
            <a:avLst/>
          </a:prstGeom>
          <a:solidFill>
            <a:srgbClr val="DAA62F"/>
          </a:solidFill>
          <a:ln w="12700">
            <a:solidFill>
              <a:srgbClr val="DAA62F"/>
            </a:solidFill>
            <a:prstDash val="solid"/>
          </a:ln>
        </p:spPr>
      </p:sp>
      <p:sp>
        <p:nvSpPr>
          <p:cNvPr id="15" name="Text 12"/>
          <p:cNvSpPr/>
          <p:nvPr/>
        </p:nvSpPr>
        <p:spPr>
          <a:xfrm>
            <a:off x="4663440" y="1847088"/>
            <a:ext cx="3090672" cy="393192"/>
          </a:xfrm>
          <a:prstGeom prst="rect">
            <a:avLst/>
          </a:prstGeom>
          <a:noFill/>
        </p:spPr>
        <p:txBody>
          <a:bodyPr wrap="square" lIns="0" tIns="0" rIns="0" bIns="0" rtlCol="0" anchor="ctr">
            <a:normAutofit/>
          </a:bodyPr>
          <a:lstStyle/>
          <a:p>
            <a:pPr marL="0" indent="0">
              <a:buNone/>
            </a:pPr>
            <a:r>
              <a:rPr lang="en-US" sz="1700" b="1" dirty="0">
                <a:solidFill>
                  <a:srgbClr val="0D2F5F"/>
                </a:solidFill>
                <a:latin typeface="Aptos" pitchFamily="34" charset="0"/>
                <a:ea typeface="Aptos" pitchFamily="34" charset="-122"/>
                <a:cs typeface="Aptos" pitchFamily="34" charset="-120"/>
              </a:rPr>
              <a:t>Backend</a:t>
            </a:r>
            <a:endParaRPr lang="en-US" sz="1700" dirty="0"/>
          </a:p>
        </p:txBody>
      </p:sp>
      <p:sp>
        <p:nvSpPr>
          <p:cNvPr id="16" name="Text 13"/>
          <p:cNvSpPr/>
          <p:nvPr/>
        </p:nvSpPr>
        <p:spPr>
          <a:xfrm>
            <a:off x="4663440" y="2340864"/>
            <a:ext cx="3090672" cy="246888"/>
          </a:xfrm>
          <a:prstGeom prst="rect">
            <a:avLst/>
          </a:prstGeom>
          <a:noFill/>
        </p:spPr>
        <p:txBody>
          <a:bodyPr wrap="square" lIns="0" tIns="0" rIns="0" bIns="0" rtlCol="0" anchor="t">
            <a:normAutofit/>
          </a:bodyPr>
          <a:lstStyle/>
          <a:p>
            <a:pPr marL="0" indent="0">
              <a:buNone/>
            </a:pPr>
            <a:r>
              <a:rPr lang="en-US" sz="1400" dirty="0">
                <a:solidFill>
                  <a:srgbClr val="63738B"/>
                </a:solidFill>
                <a:latin typeface="Aptos" pitchFamily="34" charset="0"/>
                <a:ea typeface="Aptos" pitchFamily="34" charset="-122"/>
                <a:cs typeface="Aptos" pitchFamily="34" charset="-120"/>
              </a:rPr>
              <a:t>Logic, APIs, data</a:t>
            </a:r>
            <a:endParaRPr lang="en-US" sz="1400" dirty="0"/>
          </a:p>
        </p:txBody>
      </p:sp>
      <p:sp>
        <p:nvSpPr>
          <p:cNvPr id="17" name="Shape 14"/>
          <p:cNvSpPr/>
          <p:nvPr/>
        </p:nvSpPr>
        <p:spPr>
          <a:xfrm>
            <a:off x="8220456" y="1673352"/>
            <a:ext cx="3529584" cy="1078992"/>
          </a:xfrm>
          <a:prstGeom prst="roundRect">
            <a:avLst>
              <a:gd name="adj" fmla="val 13559"/>
            </a:avLst>
          </a:prstGeom>
          <a:solidFill>
            <a:srgbClr val="FFFFFF"/>
          </a:solidFill>
          <a:ln w="12700">
            <a:solidFill>
              <a:srgbClr val="FFFFFF">
                <a:alpha val="0"/>
              </a:srgbClr>
            </a:solidFill>
            <a:prstDash val="solid"/>
          </a:ln>
        </p:spPr>
      </p:sp>
      <p:sp>
        <p:nvSpPr>
          <p:cNvPr id="18" name="Shape 15"/>
          <p:cNvSpPr/>
          <p:nvPr/>
        </p:nvSpPr>
        <p:spPr>
          <a:xfrm>
            <a:off x="8220456" y="1673352"/>
            <a:ext cx="59436" cy="1078992"/>
          </a:xfrm>
          <a:prstGeom prst="rect">
            <a:avLst/>
          </a:prstGeom>
          <a:solidFill>
            <a:srgbClr val="DAA62F"/>
          </a:solidFill>
          <a:ln w="12700">
            <a:solidFill>
              <a:srgbClr val="DAA62F"/>
            </a:solidFill>
            <a:prstDash val="solid"/>
          </a:ln>
        </p:spPr>
      </p:sp>
      <p:sp>
        <p:nvSpPr>
          <p:cNvPr id="19" name="Text 16"/>
          <p:cNvSpPr/>
          <p:nvPr/>
        </p:nvSpPr>
        <p:spPr>
          <a:xfrm>
            <a:off x="8439912" y="1847088"/>
            <a:ext cx="3090672" cy="393192"/>
          </a:xfrm>
          <a:prstGeom prst="rect">
            <a:avLst/>
          </a:prstGeom>
          <a:noFill/>
        </p:spPr>
        <p:txBody>
          <a:bodyPr wrap="square" lIns="0" tIns="0" rIns="0" bIns="0" rtlCol="0" anchor="ctr">
            <a:normAutofit/>
          </a:bodyPr>
          <a:lstStyle/>
          <a:p>
            <a:pPr marL="0" indent="0">
              <a:buNone/>
            </a:pPr>
            <a:r>
              <a:rPr lang="en-US" sz="1700" b="1" dirty="0">
                <a:solidFill>
                  <a:srgbClr val="0D2F5F"/>
                </a:solidFill>
                <a:latin typeface="Aptos" pitchFamily="34" charset="0"/>
                <a:ea typeface="Aptos" pitchFamily="34" charset="-122"/>
                <a:cs typeface="Aptos" pitchFamily="34" charset="-120"/>
              </a:rPr>
              <a:t>Full stack</a:t>
            </a:r>
            <a:endParaRPr lang="en-US" sz="1700" dirty="0"/>
          </a:p>
        </p:txBody>
      </p:sp>
      <p:sp>
        <p:nvSpPr>
          <p:cNvPr id="20" name="Text 17"/>
          <p:cNvSpPr/>
          <p:nvPr/>
        </p:nvSpPr>
        <p:spPr>
          <a:xfrm>
            <a:off x="8439912" y="2340864"/>
            <a:ext cx="3090672" cy="246888"/>
          </a:xfrm>
          <a:prstGeom prst="rect">
            <a:avLst/>
          </a:prstGeom>
          <a:noFill/>
        </p:spPr>
        <p:txBody>
          <a:bodyPr wrap="square" lIns="0" tIns="0" rIns="0" bIns="0" rtlCol="0" anchor="t">
            <a:normAutofit/>
          </a:bodyPr>
          <a:lstStyle/>
          <a:p>
            <a:pPr marL="0" indent="0">
              <a:buNone/>
            </a:pPr>
            <a:r>
              <a:rPr lang="en-US" sz="1400" dirty="0">
                <a:solidFill>
                  <a:srgbClr val="63738B"/>
                </a:solidFill>
                <a:latin typeface="Aptos" pitchFamily="34" charset="0"/>
                <a:ea typeface="Aptos" pitchFamily="34" charset="-122"/>
                <a:cs typeface="Aptos" pitchFamily="34" charset="-120"/>
              </a:rPr>
              <a:t>Works across both</a:t>
            </a:r>
            <a:endParaRPr lang="en-US" sz="1400" dirty="0"/>
          </a:p>
        </p:txBody>
      </p:sp>
      <p:sp>
        <p:nvSpPr>
          <p:cNvPr id="21" name="Shape 18"/>
          <p:cNvSpPr/>
          <p:nvPr/>
        </p:nvSpPr>
        <p:spPr>
          <a:xfrm>
            <a:off x="667512" y="2980944"/>
            <a:ext cx="3529584" cy="1078992"/>
          </a:xfrm>
          <a:prstGeom prst="roundRect">
            <a:avLst>
              <a:gd name="adj" fmla="val 13559"/>
            </a:avLst>
          </a:prstGeom>
          <a:solidFill>
            <a:srgbClr val="FFFFFF"/>
          </a:solidFill>
          <a:ln w="12700">
            <a:solidFill>
              <a:srgbClr val="FFFFFF">
                <a:alpha val="0"/>
              </a:srgbClr>
            </a:solidFill>
            <a:prstDash val="solid"/>
          </a:ln>
        </p:spPr>
      </p:sp>
      <p:sp>
        <p:nvSpPr>
          <p:cNvPr id="22" name="Shape 19"/>
          <p:cNvSpPr/>
          <p:nvPr/>
        </p:nvSpPr>
        <p:spPr>
          <a:xfrm>
            <a:off x="667512" y="2980944"/>
            <a:ext cx="59436" cy="1078992"/>
          </a:xfrm>
          <a:prstGeom prst="rect">
            <a:avLst/>
          </a:prstGeom>
          <a:solidFill>
            <a:srgbClr val="DAA62F"/>
          </a:solidFill>
          <a:ln w="12700">
            <a:solidFill>
              <a:srgbClr val="DAA62F"/>
            </a:solidFill>
            <a:prstDash val="solid"/>
          </a:ln>
        </p:spPr>
      </p:sp>
      <p:sp>
        <p:nvSpPr>
          <p:cNvPr id="23" name="Text 20"/>
          <p:cNvSpPr/>
          <p:nvPr/>
        </p:nvSpPr>
        <p:spPr>
          <a:xfrm>
            <a:off x="886968" y="3154680"/>
            <a:ext cx="3090672" cy="393192"/>
          </a:xfrm>
          <a:prstGeom prst="rect">
            <a:avLst/>
          </a:prstGeom>
          <a:noFill/>
        </p:spPr>
        <p:txBody>
          <a:bodyPr wrap="square" lIns="0" tIns="0" rIns="0" bIns="0" rtlCol="0" anchor="ctr">
            <a:normAutofit/>
          </a:bodyPr>
          <a:lstStyle/>
          <a:p>
            <a:pPr marL="0" indent="0">
              <a:buNone/>
            </a:pPr>
            <a:r>
              <a:rPr lang="en-US" sz="1700" b="1" dirty="0">
                <a:solidFill>
                  <a:srgbClr val="0D2F5F"/>
                </a:solidFill>
                <a:latin typeface="Aptos" pitchFamily="34" charset="0"/>
                <a:ea typeface="Aptos" pitchFamily="34" charset="-122"/>
                <a:cs typeface="Aptos" pitchFamily="34" charset="-120"/>
              </a:rPr>
              <a:t>UI / UX</a:t>
            </a:r>
            <a:endParaRPr lang="en-US" sz="1700" dirty="0"/>
          </a:p>
        </p:txBody>
      </p:sp>
      <p:sp>
        <p:nvSpPr>
          <p:cNvPr id="24" name="Text 21"/>
          <p:cNvSpPr/>
          <p:nvPr/>
        </p:nvSpPr>
        <p:spPr>
          <a:xfrm>
            <a:off x="886968" y="3648456"/>
            <a:ext cx="3090672" cy="246888"/>
          </a:xfrm>
          <a:prstGeom prst="rect">
            <a:avLst/>
          </a:prstGeom>
          <a:noFill/>
        </p:spPr>
        <p:txBody>
          <a:bodyPr wrap="square" lIns="0" tIns="0" rIns="0" bIns="0" rtlCol="0" anchor="t">
            <a:normAutofit/>
          </a:bodyPr>
          <a:lstStyle/>
          <a:p>
            <a:pPr marL="0" indent="0">
              <a:buNone/>
            </a:pPr>
            <a:r>
              <a:rPr lang="en-US" sz="1400" dirty="0">
                <a:solidFill>
                  <a:srgbClr val="63738B"/>
                </a:solidFill>
                <a:latin typeface="Aptos" pitchFamily="34" charset="0"/>
                <a:ea typeface="Aptos" pitchFamily="34" charset="-122"/>
                <a:cs typeface="Aptos" pitchFamily="34" charset="-120"/>
              </a:rPr>
              <a:t>User research, design</a:t>
            </a:r>
            <a:endParaRPr lang="en-US" sz="1400" dirty="0"/>
          </a:p>
        </p:txBody>
      </p:sp>
      <p:sp>
        <p:nvSpPr>
          <p:cNvPr id="25" name="Shape 22"/>
          <p:cNvSpPr/>
          <p:nvPr/>
        </p:nvSpPr>
        <p:spPr>
          <a:xfrm>
            <a:off x="4443984" y="2980944"/>
            <a:ext cx="3529584" cy="1078992"/>
          </a:xfrm>
          <a:prstGeom prst="roundRect">
            <a:avLst>
              <a:gd name="adj" fmla="val 13559"/>
            </a:avLst>
          </a:prstGeom>
          <a:solidFill>
            <a:srgbClr val="FFFFFF"/>
          </a:solidFill>
          <a:ln w="12700">
            <a:solidFill>
              <a:srgbClr val="FFFFFF">
                <a:alpha val="0"/>
              </a:srgbClr>
            </a:solidFill>
            <a:prstDash val="solid"/>
          </a:ln>
        </p:spPr>
      </p:sp>
      <p:sp>
        <p:nvSpPr>
          <p:cNvPr id="26" name="Shape 23"/>
          <p:cNvSpPr/>
          <p:nvPr/>
        </p:nvSpPr>
        <p:spPr>
          <a:xfrm>
            <a:off x="4443984" y="2980944"/>
            <a:ext cx="59436" cy="1078992"/>
          </a:xfrm>
          <a:prstGeom prst="rect">
            <a:avLst/>
          </a:prstGeom>
          <a:solidFill>
            <a:srgbClr val="DAA62F"/>
          </a:solidFill>
          <a:ln w="12700">
            <a:solidFill>
              <a:srgbClr val="DAA62F"/>
            </a:solidFill>
            <a:prstDash val="solid"/>
          </a:ln>
        </p:spPr>
      </p:sp>
      <p:sp>
        <p:nvSpPr>
          <p:cNvPr id="27" name="Text 24"/>
          <p:cNvSpPr/>
          <p:nvPr/>
        </p:nvSpPr>
        <p:spPr>
          <a:xfrm>
            <a:off x="4663440" y="3154680"/>
            <a:ext cx="3090672" cy="393192"/>
          </a:xfrm>
          <a:prstGeom prst="rect">
            <a:avLst/>
          </a:prstGeom>
          <a:noFill/>
        </p:spPr>
        <p:txBody>
          <a:bodyPr wrap="square" lIns="0" tIns="0" rIns="0" bIns="0" rtlCol="0" anchor="ctr">
            <a:normAutofit/>
          </a:bodyPr>
          <a:lstStyle/>
          <a:p>
            <a:pPr marL="0" indent="0">
              <a:buNone/>
            </a:pPr>
            <a:r>
              <a:rPr lang="en-US" sz="1700" b="1" dirty="0">
                <a:solidFill>
                  <a:srgbClr val="0D2F5F"/>
                </a:solidFill>
                <a:latin typeface="Aptos" pitchFamily="34" charset="0"/>
                <a:ea typeface="Aptos" pitchFamily="34" charset="-122"/>
                <a:cs typeface="Aptos" pitchFamily="34" charset="-120"/>
              </a:rPr>
              <a:t>QA / testing</a:t>
            </a:r>
            <a:endParaRPr lang="en-US" sz="1700" dirty="0"/>
          </a:p>
        </p:txBody>
      </p:sp>
      <p:sp>
        <p:nvSpPr>
          <p:cNvPr id="28" name="Text 25"/>
          <p:cNvSpPr/>
          <p:nvPr/>
        </p:nvSpPr>
        <p:spPr>
          <a:xfrm>
            <a:off x="4663440" y="3648456"/>
            <a:ext cx="3090672" cy="246888"/>
          </a:xfrm>
          <a:prstGeom prst="rect">
            <a:avLst/>
          </a:prstGeom>
          <a:noFill/>
        </p:spPr>
        <p:txBody>
          <a:bodyPr wrap="square" lIns="0" tIns="0" rIns="0" bIns="0" rtlCol="0" anchor="t">
            <a:normAutofit/>
          </a:bodyPr>
          <a:lstStyle/>
          <a:p>
            <a:pPr marL="0" indent="0">
              <a:buNone/>
            </a:pPr>
            <a:r>
              <a:rPr lang="en-US" sz="1400" dirty="0">
                <a:solidFill>
                  <a:srgbClr val="63738B"/>
                </a:solidFill>
                <a:latin typeface="Aptos" pitchFamily="34" charset="0"/>
                <a:ea typeface="Aptos" pitchFamily="34" charset="-122"/>
                <a:cs typeface="Aptos" pitchFamily="34" charset="-120"/>
              </a:rPr>
              <a:t>Checks and prevents bugs</a:t>
            </a:r>
            <a:endParaRPr lang="en-US" sz="1400" dirty="0"/>
          </a:p>
        </p:txBody>
      </p:sp>
      <p:sp>
        <p:nvSpPr>
          <p:cNvPr id="29" name="Shape 26"/>
          <p:cNvSpPr/>
          <p:nvPr/>
        </p:nvSpPr>
        <p:spPr>
          <a:xfrm>
            <a:off x="8220456" y="2980944"/>
            <a:ext cx="3529584" cy="1078992"/>
          </a:xfrm>
          <a:prstGeom prst="roundRect">
            <a:avLst>
              <a:gd name="adj" fmla="val 13559"/>
            </a:avLst>
          </a:prstGeom>
          <a:solidFill>
            <a:srgbClr val="FFFFFF"/>
          </a:solidFill>
          <a:ln w="12700">
            <a:solidFill>
              <a:srgbClr val="FFFFFF">
                <a:alpha val="0"/>
              </a:srgbClr>
            </a:solidFill>
            <a:prstDash val="solid"/>
          </a:ln>
        </p:spPr>
      </p:sp>
      <p:sp>
        <p:nvSpPr>
          <p:cNvPr id="30" name="Shape 27"/>
          <p:cNvSpPr/>
          <p:nvPr/>
        </p:nvSpPr>
        <p:spPr>
          <a:xfrm>
            <a:off x="8220456" y="2980944"/>
            <a:ext cx="59436" cy="1078992"/>
          </a:xfrm>
          <a:prstGeom prst="rect">
            <a:avLst/>
          </a:prstGeom>
          <a:solidFill>
            <a:srgbClr val="DAA62F"/>
          </a:solidFill>
          <a:ln w="12700">
            <a:solidFill>
              <a:srgbClr val="DAA62F"/>
            </a:solidFill>
            <a:prstDash val="solid"/>
          </a:ln>
        </p:spPr>
      </p:sp>
      <p:sp>
        <p:nvSpPr>
          <p:cNvPr id="31" name="Text 28"/>
          <p:cNvSpPr/>
          <p:nvPr/>
        </p:nvSpPr>
        <p:spPr>
          <a:xfrm>
            <a:off x="8439912" y="3154680"/>
            <a:ext cx="3090672" cy="393192"/>
          </a:xfrm>
          <a:prstGeom prst="rect">
            <a:avLst/>
          </a:prstGeom>
          <a:noFill/>
        </p:spPr>
        <p:txBody>
          <a:bodyPr wrap="square" lIns="0" tIns="0" rIns="0" bIns="0" rtlCol="0" anchor="ctr">
            <a:normAutofit/>
          </a:bodyPr>
          <a:lstStyle/>
          <a:p>
            <a:pPr marL="0" indent="0">
              <a:buNone/>
            </a:pPr>
            <a:r>
              <a:rPr lang="en-US" sz="1700" b="1" dirty="0">
                <a:solidFill>
                  <a:srgbClr val="0D2F5F"/>
                </a:solidFill>
                <a:latin typeface="Aptos" pitchFamily="34" charset="0"/>
                <a:ea typeface="Aptos" pitchFamily="34" charset="-122"/>
                <a:cs typeface="Aptos" pitchFamily="34" charset="-120"/>
              </a:rPr>
              <a:t>Cloud / DevOps</a:t>
            </a:r>
            <a:endParaRPr lang="en-US" sz="1700" dirty="0"/>
          </a:p>
        </p:txBody>
      </p:sp>
      <p:sp>
        <p:nvSpPr>
          <p:cNvPr id="32" name="Text 29"/>
          <p:cNvSpPr/>
          <p:nvPr/>
        </p:nvSpPr>
        <p:spPr>
          <a:xfrm>
            <a:off x="8439912" y="3648456"/>
            <a:ext cx="3090672" cy="246888"/>
          </a:xfrm>
          <a:prstGeom prst="rect">
            <a:avLst/>
          </a:prstGeom>
          <a:noFill/>
        </p:spPr>
        <p:txBody>
          <a:bodyPr wrap="square" lIns="0" tIns="0" rIns="0" bIns="0" rtlCol="0" anchor="t">
            <a:normAutofit/>
          </a:bodyPr>
          <a:lstStyle/>
          <a:p>
            <a:pPr marL="0" indent="0">
              <a:buNone/>
            </a:pPr>
            <a:r>
              <a:rPr lang="en-US" sz="1400" dirty="0">
                <a:solidFill>
                  <a:srgbClr val="63738B"/>
                </a:solidFill>
                <a:latin typeface="Aptos" pitchFamily="34" charset="0"/>
                <a:ea typeface="Aptos" pitchFamily="34" charset="-122"/>
                <a:cs typeface="Aptos" pitchFamily="34" charset="-120"/>
              </a:rPr>
              <a:t>Deploys and operates</a:t>
            </a:r>
            <a:endParaRPr lang="en-US" sz="1400" dirty="0"/>
          </a:p>
        </p:txBody>
      </p:sp>
      <p:sp>
        <p:nvSpPr>
          <p:cNvPr id="33" name="Shape 30"/>
          <p:cNvSpPr/>
          <p:nvPr/>
        </p:nvSpPr>
        <p:spPr>
          <a:xfrm>
            <a:off x="667512" y="4288536"/>
            <a:ext cx="3529584" cy="1078992"/>
          </a:xfrm>
          <a:prstGeom prst="roundRect">
            <a:avLst>
              <a:gd name="adj" fmla="val 13559"/>
            </a:avLst>
          </a:prstGeom>
          <a:solidFill>
            <a:srgbClr val="FFFFFF"/>
          </a:solidFill>
          <a:ln w="12700">
            <a:solidFill>
              <a:srgbClr val="FFFFFF">
                <a:alpha val="0"/>
              </a:srgbClr>
            </a:solidFill>
            <a:prstDash val="solid"/>
          </a:ln>
        </p:spPr>
      </p:sp>
      <p:sp>
        <p:nvSpPr>
          <p:cNvPr id="34" name="Shape 31"/>
          <p:cNvSpPr/>
          <p:nvPr/>
        </p:nvSpPr>
        <p:spPr>
          <a:xfrm>
            <a:off x="667512" y="4288536"/>
            <a:ext cx="59436" cy="1078992"/>
          </a:xfrm>
          <a:prstGeom prst="rect">
            <a:avLst/>
          </a:prstGeom>
          <a:solidFill>
            <a:srgbClr val="DAA62F"/>
          </a:solidFill>
          <a:ln w="12700">
            <a:solidFill>
              <a:srgbClr val="DAA62F"/>
            </a:solidFill>
            <a:prstDash val="solid"/>
          </a:ln>
        </p:spPr>
      </p:sp>
      <p:sp>
        <p:nvSpPr>
          <p:cNvPr id="35" name="Text 32"/>
          <p:cNvSpPr/>
          <p:nvPr/>
        </p:nvSpPr>
        <p:spPr>
          <a:xfrm>
            <a:off x="886968" y="4462272"/>
            <a:ext cx="3090672" cy="393192"/>
          </a:xfrm>
          <a:prstGeom prst="rect">
            <a:avLst/>
          </a:prstGeom>
          <a:noFill/>
        </p:spPr>
        <p:txBody>
          <a:bodyPr wrap="square" lIns="0" tIns="0" rIns="0" bIns="0" rtlCol="0" anchor="ctr">
            <a:normAutofit/>
          </a:bodyPr>
          <a:lstStyle/>
          <a:p>
            <a:pPr marL="0" indent="0">
              <a:buNone/>
            </a:pPr>
            <a:r>
              <a:rPr lang="en-US" sz="1700" b="1" dirty="0">
                <a:solidFill>
                  <a:srgbClr val="0D2F5F"/>
                </a:solidFill>
                <a:latin typeface="Aptos" pitchFamily="34" charset="0"/>
                <a:ea typeface="Aptos" pitchFamily="34" charset="-122"/>
                <a:cs typeface="Aptos" pitchFamily="34" charset="-120"/>
              </a:rPr>
              <a:t>Security</a:t>
            </a:r>
            <a:endParaRPr lang="en-US" sz="1700" dirty="0"/>
          </a:p>
        </p:txBody>
      </p:sp>
      <p:sp>
        <p:nvSpPr>
          <p:cNvPr id="36" name="Text 33"/>
          <p:cNvSpPr/>
          <p:nvPr/>
        </p:nvSpPr>
        <p:spPr>
          <a:xfrm>
            <a:off x="886968" y="4956048"/>
            <a:ext cx="3090672" cy="246888"/>
          </a:xfrm>
          <a:prstGeom prst="rect">
            <a:avLst/>
          </a:prstGeom>
          <a:noFill/>
        </p:spPr>
        <p:txBody>
          <a:bodyPr wrap="square" lIns="0" tIns="0" rIns="0" bIns="0" rtlCol="0" anchor="t">
            <a:normAutofit/>
          </a:bodyPr>
          <a:lstStyle/>
          <a:p>
            <a:pPr marL="0" indent="0">
              <a:buNone/>
            </a:pPr>
            <a:r>
              <a:rPr lang="en-US" sz="1400" dirty="0">
                <a:solidFill>
                  <a:srgbClr val="63738B"/>
                </a:solidFill>
                <a:latin typeface="Aptos" pitchFamily="34" charset="0"/>
                <a:ea typeface="Aptos" pitchFamily="34" charset="-122"/>
                <a:cs typeface="Aptos" pitchFamily="34" charset="-120"/>
              </a:rPr>
              <a:t>Protects users and data</a:t>
            </a:r>
            <a:endParaRPr lang="en-US" sz="1400" dirty="0"/>
          </a:p>
        </p:txBody>
      </p:sp>
      <p:sp>
        <p:nvSpPr>
          <p:cNvPr id="37" name="Shape 34"/>
          <p:cNvSpPr/>
          <p:nvPr/>
        </p:nvSpPr>
        <p:spPr>
          <a:xfrm>
            <a:off x="4443984" y="4288536"/>
            <a:ext cx="3529584" cy="1078992"/>
          </a:xfrm>
          <a:prstGeom prst="roundRect">
            <a:avLst>
              <a:gd name="adj" fmla="val 13559"/>
            </a:avLst>
          </a:prstGeom>
          <a:solidFill>
            <a:srgbClr val="FFFFFF"/>
          </a:solidFill>
          <a:ln w="12700">
            <a:solidFill>
              <a:srgbClr val="FFFFFF">
                <a:alpha val="0"/>
              </a:srgbClr>
            </a:solidFill>
            <a:prstDash val="solid"/>
          </a:ln>
        </p:spPr>
      </p:sp>
      <p:sp>
        <p:nvSpPr>
          <p:cNvPr id="38" name="Shape 35"/>
          <p:cNvSpPr/>
          <p:nvPr/>
        </p:nvSpPr>
        <p:spPr>
          <a:xfrm>
            <a:off x="4443984" y="4288536"/>
            <a:ext cx="59436" cy="1078992"/>
          </a:xfrm>
          <a:prstGeom prst="rect">
            <a:avLst/>
          </a:prstGeom>
          <a:solidFill>
            <a:srgbClr val="DAA62F"/>
          </a:solidFill>
          <a:ln w="12700">
            <a:solidFill>
              <a:srgbClr val="DAA62F"/>
            </a:solidFill>
            <a:prstDash val="solid"/>
          </a:ln>
        </p:spPr>
      </p:sp>
      <p:sp>
        <p:nvSpPr>
          <p:cNvPr id="39" name="Text 36"/>
          <p:cNvSpPr/>
          <p:nvPr/>
        </p:nvSpPr>
        <p:spPr>
          <a:xfrm>
            <a:off x="4663440" y="4462272"/>
            <a:ext cx="3090672" cy="393192"/>
          </a:xfrm>
          <a:prstGeom prst="rect">
            <a:avLst/>
          </a:prstGeom>
          <a:noFill/>
        </p:spPr>
        <p:txBody>
          <a:bodyPr wrap="square" lIns="0" tIns="0" rIns="0" bIns="0" rtlCol="0" anchor="ctr">
            <a:normAutofit/>
          </a:bodyPr>
          <a:lstStyle/>
          <a:p>
            <a:pPr marL="0" indent="0">
              <a:buNone/>
            </a:pPr>
            <a:r>
              <a:rPr lang="en-US" sz="1700" b="1" dirty="0">
                <a:solidFill>
                  <a:srgbClr val="0D2F5F"/>
                </a:solidFill>
                <a:latin typeface="Aptos" pitchFamily="34" charset="0"/>
                <a:ea typeface="Aptos" pitchFamily="34" charset="-122"/>
                <a:cs typeface="Aptos" pitchFamily="34" charset="-120"/>
              </a:rPr>
              <a:t>AI / data</a:t>
            </a:r>
            <a:endParaRPr lang="en-US" sz="1700" dirty="0"/>
          </a:p>
        </p:txBody>
      </p:sp>
      <p:sp>
        <p:nvSpPr>
          <p:cNvPr id="40" name="Text 37"/>
          <p:cNvSpPr/>
          <p:nvPr/>
        </p:nvSpPr>
        <p:spPr>
          <a:xfrm>
            <a:off x="4663440" y="4956048"/>
            <a:ext cx="3090672" cy="246888"/>
          </a:xfrm>
          <a:prstGeom prst="rect">
            <a:avLst/>
          </a:prstGeom>
          <a:noFill/>
        </p:spPr>
        <p:txBody>
          <a:bodyPr wrap="square" lIns="0" tIns="0" rIns="0" bIns="0" rtlCol="0" anchor="t">
            <a:normAutofit/>
          </a:bodyPr>
          <a:lstStyle/>
          <a:p>
            <a:pPr marL="0" indent="0">
              <a:buNone/>
            </a:pPr>
            <a:r>
              <a:rPr lang="en-US" sz="1400" dirty="0">
                <a:solidFill>
                  <a:srgbClr val="63738B"/>
                </a:solidFill>
                <a:latin typeface="Aptos" pitchFamily="34" charset="0"/>
                <a:ea typeface="Aptos" pitchFamily="34" charset="-122"/>
                <a:cs typeface="Aptos" pitchFamily="34" charset="-120"/>
              </a:rPr>
              <a:t>Revision helper and insights</a:t>
            </a:r>
            <a:endParaRPr lang="en-US" sz="1400" dirty="0"/>
          </a:p>
        </p:txBody>
      </p:sp>
      <p:sp>
        <p:nvSpPr>
          <p:cNvPr id="41" name="Shape 38"/>
          <p:cNvSpPr/>
          <p:nvPr/>
        </p:nvSpPr>
        <p:spPr>
          <a:xfrm>
            <a:off x="8220456" y="4288536"/>
            <a:ext cx="3529584" cy="1078992"/>
          </a:xfrm>
          <a:prstGeom prst="roundRect">
            <a:avLst>
              <a:gd name="adj" fmla="val 13559"/>
            </a:avLst>
          </a:prstGeom>
          <a:solidFill>
            <a:srgbClr val="FFFFFF"/>
          </a:solidFill>
          <a:ln w="12700">
            <a:solidFill>
              <a:srgbClr val="FFFFFF">
                <a:alpha val="0"/>
              </a:srgbClr>
            </a:solidFill>
            <a:prstDash val="solid"/>
          </a:ln>
        </p:spPr>
      </p:sp>
      <p:sp>
        <p:nvSpPr>
          <p:cNvPr id="42" name="Shape 39"/>
          <p:cNvSpPr/>
          <p:nvPr/>
        </p:nvSpPr>
        <p:spPr>
          <a:xfrm>
            <a:off x="8220456" y="4288536"/>
            <a:ext cx="59436" cy="1078992"/>
          </a:xfrm>
          <a:prstGeom prst="rect">
            <a:avLst/>
          </a:prstGeom>
          <a:solidFill>
            <a:srgbClr val="DAA62F"/>
          </a:solidFill>
          <a:ln w="12700">
            <a:solidFill>
              <a:srgbClr val="DAA62F"/>
            </a:solidFill>
            <a:prstDash val="solid"/>
          </a:ln>
        </p:spPr>
      </p:sp>
      <p:sp>
        <p:nvSpPr>
          <p:cNvPr id="43" name="Text 40"/>
          <p:cNvSpPr/>
          <p:nvPr/>
        </p:nvSpPr>
        <p:spPr>
          <a:xfrm>
            <a:off x="8439912" y="4462272"/>
            <a:ext cx="3090672" cy="393192"/>
          </a:xfrm>
          <a:prstGeom prst="rect">
            <a:avLst/>
          </a:prstGeom>
          <a:noFill/>
        </p:spPr>
        <p:txBody>
          <a:bodyPr wrap="square" lIns="0" tIns="0" rIns="0" bIns="0" rtlCol="0" anchor="ctr">
            <a:normAutofit/>
          </a:bodyPr>
          <a:lstStyle/>
          <a:p>
            <a:pPr marL="0" indent="0">
              <a:buNone/>
            </a:pPr>
            <a:r>
              <a:rPr lang="en-US" sz="1700" b="1" dirty="0">
                <a:solidFill>
                  <a:srgbClr val="0D2F5F"/>
                </a:solidFill>
                <a:latin typeface="Aptos" pitchFamily="34" charset="0"/>
                <a:ea typeface="Aptos" pitchFamily="34" charset="-122"/>
                <a:cs typeface="Aptos" pitchFamily="34" charset="-120"/>
              </a:rPr>
              <a:t>Product</a:t>
            </a:r>
            <a:endParaRPr lang="en-US" sz="1700" dirty="0"/>
          </a:p>
        </p:txBody>
      </p:sp>
      <p:sp>
        <p:nvSpPr>
          <p:cNvPr id="44" name="Text 41"/>
          <p:cNvSpPr/>
          <p:nvPr/>
        </p:nvSpPr>
        <p:spPr>
          <a:xfrm>
            <a:off x="8439912" y="4956048"/>
            <a:ext cx="3090672" cy="246888"/>
          </a:xfrm>
          <a:prstGeom prst="rect">
            <a:avLst/>
          </a:prstGeom>
          <a:noFill/>
        </p:spPr>
        <p:txBody>
          <a:bodyPr wrap="square" lIns="0" tIns="0" rIns="0" bIns="0" rtlCol="0" anchor="t">
            <a:normAutofit/>
          </a:bodyPr>
          <a:lstStyle/>
          <a:p>
            <a:pPr marL="0" indent="0">
              <a:buNone/>
            </a:pPr>
            <a:r>
              <a:rPr lang="en-US" sz="1400" dirty="0">
                <a:solidFill>
                  <a:srgbClr val="63738B"/>
                </a:solidFill>
                <a:latin typeface="Aptos" pitchFamily="34" charset="0"/>
                <a:ea typeface="Aptos" pitchFamily="34" charset="-122"/>
                <a:cs typeface="Aptos" pitchFamily="34" charset="-120"/>
              </a:rPr>
              <a:t>Chooses what and why</a:t>
            </a:r>
            <a:endParaRPr lang="en-US" sz="1400" dirty="0"/>
          </a:p>
        </p:txBody>
      </p:sp>
      <p:pic>
        <p:nvPicPr>
          <p:cNvPr id="45" name="Image 0" descr="/mnt/data/cwp-logo-primary-transparent.png"/>
          <p:cNvPicPr>
            <a:picLocks noChangeAspect="1"/>
          </p:cNvPicPr>
          <p:nvPr/>
        </p:nvPicPr>
        <p:blipFill>
          <a:blip r:embed="rId1"/>
          <a:stretch>
            <a:fillRect/>
          </a:stretch>
        </p:blipFill>
        <p:spPr>
          <a:xfrm>
            <a:off x="603250" y="6029325"/>
            <a:ext cx="946150" cy="628650"/>
          </a:xfrm>
          <a:prstGeom prst="rect">
            <a:avLst/>
          </a:prstGeom>
        </p:spPr>
      </p:pic>
      <p:sp>
        <p:nvSpPr>
          <p:cNvPr id="46" name="Text 4"/>
          <p:cNvSpPr/>
          <p:nvPr/>
        </p:nvSpPr>
        <p:spPr>
          <a:xfrm>
            <a:off x="9485884" y="6419850"/>
            <a:ext cx="1746504" cy="219456"/>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codewithprof.com</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DAA62F"/>
          </a:solidFill>
          <a:ln w="12700">
            <a:solidFill>
              <a:srgbClr val="DAA62F"/>
            </a:solidFill>
            <a:prstDash val="solid"/>
          </a:ln>
        </p:spPr>
      </p:sp>
      <p:sp>
        <p:nvSpPr>
          <p:cNvPr id="3" name="Text 1"/>
          <p:cNvSpPr/>
          <p:nvPr/>
        </p:nvSpPr>
        <p:spPr>
          <a:xfrm>
            <a:off x="603504" y="292608"/>
            <a:ext cx="9144000" cy="201168"/>
          </a:xfrm>
          <a:prstGeom prst="rect">
            <a:avLst/>
          </a:prstGeom>
          <a:noFill/>
        </p:spPr>
        <p:txBody>
          <a:bodyPr wrap="square" lIns="0" tIns="0" rIns="0" bIns="0" rtlCol="0" anchor="ctr">
            <a:normAutofit/>
          </a:bodyPr>
          <a:lstStyle/>
          <a:p>
            <a:pPr marL="0" indent="0">
              <a:buNone/>
            </a:pPr>
            <a:r>
              <a:rPr lang="en-US" sz="1000" b="1" kern="0" spc="120" dirty="0">
                <a:solidFill>
                  <a:srgbClr val="63738B"/>
                </a:solidFill>
                <a:latin typeface="Aptos" pitchFamily="34" charset="0"/>
                <a:ea typeface="Aptos" pitchFamily="34" charset="-122"/>
                <a:cs typeface="Aptos" pitchFamily="34" charset="-120"/>
              </a:rPr>
              <a:t>WEEK 01 · FULL-STACK JOURNEY</a:t>
            </a:r>
            <a:endParaRPr lang="en-US" sz="1000" dirty="0"/>
          </a:p>
        </p:txBody>
      </p:sp>
      <p:sp>
        <p:nvSpPr>
          <p:cNvPr id="4" name="Text 2"/>
          <p:cNvSpPr/>
          <p:nvPr/>
        </p:nvSpPr>
        <p:spPr>
          <a:xfrm>
            <a:off x="603504" y="676656"/>
            <a:ext cx="10972800" cy="658368"/>
          </a:xfrm>
          <a:prstGeom prst="rect">
            <a:avLst/>
          </a:prstGeom>
          <a:noFill/>
        </p:spPr>
        <p:txBody>
          <a:bodyPr wrap="square" lIns="0" tIns="0" rIns="0" bIns="0" rtlCol="0" anchor="ctr">
            <a:normAutofit/>
          </a:bodyPr>
          <a:lstStyle/>
          <a:p>
            <a:pPr marL="0" indent="0">
              <a:buNone/>
            </a:pPr>
            <a:r>
              <a:rPr lang="en-US" sz="3100" b="1" dirty="0">
                <a:solidFill>
                  <a:srgbClr val="0D2F5F"/>
                </a:solidFill>
                <a:latin typeface="Aptos" pitchFamily="34" charset="0"/>
                <a:ea typeface="Aptos" pitchFamily="34" charset="-122"/>
                <a:cs typeface="Aptos" pitchFamily="34" charset="-120"/>
              </a:rPr>
              <a:t>Your learning path: three perspectives</a:t>
            </a:r>
            <a:endParaRPr lang="en-US" sz="3100" dirty="0"/>
          </a:p>
        </p:txBody>
      </p:sp>
      <p:sp>
        <p:nvSpPr>
          <p:cNvPr id="5" name="Shape 3"/>
          <p:cNvSpPr/>
          <p:nvPr/>
        </p:nvSpPr>
        <p:spPr>
          <a:xfrm>
            <a:off x="603504" y="1408176"/>
            <a:ext cx="10981944" cy="0"/>
          </a:xfrm>
          <a:prstGeom prst="line">
            <a:avLst/>
          </a:prstGeom>
          <a:noFill/>
          <a:ln w="12700">
            <a:solidFill>
              <a:srgbClr val="DEE5EF"/>
            </a:solidFill>
            <a:prstDash val="solid"/>
            <a:headEnd type="none"/>
            <a:tailEnd type="none"/>
          </a:ln>
        </p:spPr>
      </p:sp>
      <p:sp>
        <p:nvSpPr>
          <p:cNvPr id="8" name="Text 5"/>
          <p:cNvSpPr/>
          <p:nvPr/>
        </p:nvSpPr>
        <p:spPr>
          <a:xfrm>
            <a:off x="11338560" y="6437376"/>
            <a:ext cx="237744" cy="201168"/>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08</a:t>
            </a:r>
            <a:endParaRPr lang="en-US" sz="1000" dirty="0"/>
          </a:p>
        </p:txBody>
      </p:sp>
      <p:sp>
        <p:nvSpPr>
          <p:cNvPr id="9" name="Shape 6"/>
          <p:cNvSpPr/>
          <p:nvPr/>
        </p:nvSpPr>
        <p:spPr>
          <a:xfrm>
            <a:off x="658368" y="1810512"/>
            <a:ext cx="3493008" cy="3163824"/>
          </a:xfrm>
          <a:prstGeom prst="roundRect">
            <a:avLst>
              <a:gd name="adj" fmla="val 4624"/>
            </a:avLst>
          </a:prstGeom>
          <a:solidFill>
            <a:srgbClr val="FFFFFF"/>
          </a:solidFill>
          <a:ln w="12700">
            <a:solidFill>
              <a:srgbClr val="FFFFFF">
                <a:alpha val="0"/>
              </a:srgbClr>
            </a:solidFill>
            <a:prstDash val="solid"/>
          </a:ln>
        </p:spPr>
      </p:sp>
      <p:sp>
        <p:nvSpPr>
          <p:cNvPr id="10" name="Shape 7"/>
          <p:cNvSpPr/>
          <p:nvPr/>
        </p:nvSpPr>
        <p:spPr>
          <a:xfrm>
            <a:off x="658368" y="1810512"/>
            <a:ext cx="59436" cy="3163824"/>
          </a:xfrm>
          <a:prstGeom prst="rect">
            <a:avLst/>
          </a:prstGeom>
          <a:solidFill>
            <a:srgbClr val="DAA62F"/>
          </a:solidFill>
          <a:ln w="12700">
            <a:solidFill>
              <a:srgbClr val="DAA62F"/>
            </a:solidFill>
            <a:prstDash val="solid"/>
          </a:ln>
        </p:spPr>
      </p:sp>
      <p:sp>
        <p:nvSpPr>
          <p:cNvPr id="11" name="Text 8"/>
          <p:cNvSpPr/>
          <p:nvPr/>
        </p:nvSpPr>
        <p:spPr>
          <a:xfrm>
            <a:off x="877824" y="1984248"/>
            <a:ext cx="3054096" cy="393192"/>
          </a:xfrm>
          <a:prstGeom prst="rect">
            <a:avLst/>
          </a:prstGeom>
          <a:noFill/>
        </p:spPr>
        <p:txBody>
          <a:bodyPr wrap="square" lIns="0" tIns="0" rIns="0" bIns="0" rtlCol="0" anchor="ctr">
            <a:normAutofit/>
          </a:bodyPr>
          <a:lstStyle/>
          <a:p>
            <a:pPr marL="0" indent="0">
              <a:buNone/>
            </a:pPr>
            <a:r>
              <a:rPr lang="en-US" sz="1900" b="1" dirty="0">
                <a:solidFill>
                  <a:srgbClr val="0D2F5F"/>
                </a:solidFill>
                <a:latin typeface="Aptos" pitchFamily="34" charset="0"/>
                <a:ea typeface="Aptos" pitchFamily="34" charset="-122"/>
                <a:cs typeface="Aptos" pitchFamily="34" charset="-120"/>
              </a:rPr>
              <a:t>EXPLORERS · 9–14</a:t>
            </a:r>
            <a:endParaRPr lang="en-US" sz="1900" dirty="0"/>
          </a:p>
        </p:txBody>
      </p:sp>
      <p:sp>
        <p:nvSpPr>
          <p:cNvPr id="12" name="Text 9"/>
          <p:cNvSpPr/>
          <p:nvPr/>
        </p:nvSpPr>
        <p:spPr>
          <a:xfrm>
            <a:off x="877824" y="2478024"/>
            <a:ext cx="3054096" cy="2331720"/>
          </a:xfrm>
          <a:prstGeom prst="rect">
            <a:avLst/>
          </a:prstGeom>
          <a:noFill/>
        </p:spPr>
        <p:txBody>
          <a:bodyPr wrap="square" lIns="0" tIns="0" rIns="0" bIns="0" rtlCol="0" anchor="t">
            <a:normAutofit/>
          </a:bodyPr>
          <a:lstStyle/>
          <a:p>
            <a:pPr marL="0" indent="0">
              <a:buNone/>
            </a:pPr>
            <a:r>
              <a:rPr lang="en-US" sz="1700" dirty="0">
                <a:solidFill>
                  <a:srgbClr val="63738B"/>
                </a:solidFill>
                <a:latin typeface="Aptos" pitchFamily="34" charset="0"/>
                <a:ea typeface="Aptos" pitchFamily="34" charset="-122"/>
                <a:cs typeface="Aptos" pitchFamily="34" charset="-120"/>
              </a:rPr>
              <a:t>Discover how tech works.</a:t>
            </a:r>
            <a:endParaRPr lang="en-US" sz="1700" dirty="0"/>
          </a:p>
          <a:p>
            <a:pPr marL="0" indent="0">
              <a:buNone/>
            </a:pPr>
            <a:endParaRPr lang="en-US" sz="1700" dirty="0"/>
          </a:p>
          <a:p>
            <a:pPr marL="0" indent="0">
              <a:buNone/>
            </a:pPr>
            <a:r>
              <a:rPr lang="en-US" sz="1700" dirty="0">
                <a:solidFill>
                  <a:srgbClr val="63738B"/>
                </a:solidFill>
                <a:latin typeface="Aptos" pitchFamily="34" charset="0"/>
                <a:ea typeface="Aptos" pitchFamily="34" charset="-122"/>
                <a:cs typeface="Aptos" pitchFamily="34" charset="-120"/>
              </a:rPr>
              <a:t>Use clear analogies, diagrams and safe exploration.</a:t>
            </a:r>
            <a:endParaRPr lang="en-US" sz="1700" dirty="0"/>
          </a:p>
          <a:p>
            <a:pPr marL="0" indent="0">
              <a:buNone/>
            </a:pPr>
            <a:endParaRPr lang="en-US" sz="1700" dirty="0"/>
          </a:p>
          <a:p>
            <a:pPr marL="0" indent="0">
              <a:buNone/>
            </a:pPr>
            <a:r>
              <a:rPr lang="en-US" sz="1700" dirty="0">
                <a:solidFill>
                  <a:srgbClr val="63738B"/>
                </a:solidFill>
                <a:latin typeface="Aptos" pitchFamily="34" charset="0"/>
                <a:ea typeface="Aptos" pitchFamily="34" charset="-122"/>
                <a:cs typeface="Aptos" pitchFamily="34" charset="-120"/>
              </a:rPr>
              <a:t>Question: Which tech role matches your interests?</a:t>
            </a:r>
            <a:endParaRPr lang="en-US" sz="1700" dirty="0"/>
          </a:p>
        </p:txBody>
      </p:sp>
      <p:sp>
        <p:nvSpPr>
          <p:cNvPr id="13" name="Shape 10"/>
          <p:cNvSpPr/>
          <p:nvPr/>
        </p:nvSpPr>
        <p:spPr>
          <a:xfrm>
            <a:off x="4343400" y="1810512"/>
            <a:ext cx="3493008" cy="3163824"/>
          </a:xfrm>
          <a:prstGeom prst="roundRect">
            <a:avLst>
              <a:gd name="adj" fmla="val 4624"/>
            </a:avLst>
          </a:prstGeom>
          <a:solidFill>
            <a:srgbClr val="FFFFFF"/>
          </a:solidFill>
          <a:ln w="12700">
            <a:solidFill>
              <a:srgbClr val="FFFFFF">
                <a:alpha val="0"/>
              </a:srgbClr>
            </a:solidFill>
            <a:prstDash val="solid"/>
          </a:ln>
        </p:spPr>
      </p:sp>
      <p:sp>
        <p:nvSpPr>
          <p:cNvPr id="14" name="Shape 11"/>
          <p:cNvSpPr/>
          <p:nvPr/>
        </p:nvSpPr>
        <p:spPr>
          <a:xfrm>
            <a:off x="4343400" y="1810512"/>
            <a:ext cx="59436" cy="3163824"/>
          </a:xfrm>
          <a:prstGeom prst="rect">
            <a:avLst/>
          </a:prstGeom>
          <a:solidFill>
            <a:srgbClr val="DAA62F"/>
          </a:solidFill>
          <a:ln w="12700">
            <a:solidFill>
              <a:srgbClr val="DAA62F"/>
            </a:solidFill>
            <a:prstDash val="solid"/>
          </a:ln>
        </p:spPr>
      </p:sp>
      <p:sp>
        <p:nvSpPr>
          <p:cNvPr id="15" name="Text 12"/>
          <p:cNvSpPr/>
          <p:nvPr/>
        </p:nvSpPr>
        <p:spPr>
          <a:xfrm>
            <a:off x="4562856" y="1984248"/>
            <a:ext cx="3054096" cy="393192"/>
          </a:xfrm>
          <a:prstGeom prst="rect">
            <a:avLst/>
          </a:prstGeom>
          <a:noFill/>
        </p:spPr>
        <p:txBody>
          <a:bodyPr wrap="square" lIns="0" tIns="0" rIns="0" bIns="0" rtlCol="0" anchor="ctr">
            <a:normAutofit/>
          </a:bodyPr>
          <a:lstStyle/>
          <a:p>
            <a:pPr marL="0" indent="0">
              <a:buNone/>
            </a:pPr>
            <a:r>
              <a:rPr lang="en-US" sz="1900" b="1" dirty="0">
                <a:solidFill>
                  <a:srgbClr val="0D2F5F"/>
                </a:solidFill>
                <a:latin typeface="Aptos" pitchFamily="34" charset="0"/>
                <a:ea typeface="Aptos" pitchFamily="34" charset="-122"/>
                <a:cs typeface="Aptos" pitchFamily="34" charset="-120"/>
              </a:rPr>
              <a:t>BUILDERS · 15–18</a:t>
            </a:r>
            <a:endParaRPr lang="en-US" sz="1900" dirty="0"/>
          </a:p>
        </p:txBody>
      </p:sp>
      <p:sp>
        <p:nvSpPr>
          <p:cNvPr id="16" name="Text 13"/>
          <p:cNvSpPr/>
          <p:nvPr/>
        </p:nvSpPr>
        <p:spPr>
          <a:xfrm>
            <a:off x="4562856" y="2478024"/>
            <a:ext cx="3054096" cy="2331720"/>
          </a:xfrm>
          <a:prstGeom prst="rect">
            <a:avLst/>
          </a:prstGeom>
          <a:noFill/>
        </p:spPr>
        <p:txBody>
          <a:bodyPr wrap="square" lIns="0" tIns="0" rIns="0" bIns="0" rtlCol="0" anchor="t">
            <a:normAutofit/>
          </a:bodyPr>
          <a:lstStyle/>
          <a:p>
            <a:pPr marL="0" indent="0">
              <a:buNone/>
            </a:pPr>
            <a:r>
              <a:rPr lang="en-US" sz="1700" dirty="0">
                <a:solidFill>
                  <a:srgbClr val="63738B"/>
                </a:solidFill>
                <a:latin typeface="Aptos" pitchFamily="34" charset="0"/>
                <a:ea typeface="Aptos" pitchFamily="34" charset="-122"/>
                <a:cs typeface="Aptos" pitchFamily="34" charset="-120"/>
              </a:rPr>
              <a:t>Connect ideas to practical developer tools.</a:t>
            </a:r>
            <a:endParaRPr lang="en-US" sz="1700" dirty="0"/>
          </a:p>
          <a:p>
            <a:pPr marL="0" indent="0">
              <a:buNone/>
            </a:pPr>
            <a:endParaRPr lang="en-US" sz="1700" dirty="0"/>
          </a:p>
          <a:p>
            <a:pPr marL="0" indent="0">
              <a:buNone/>
            </a:pPr>
            <a:r>
              <a:rPr lang="en-US" sz="1700" dirty="0">
                <a:solidFill>
                  <a:srgbClr val="63738B"/>
                </a:solidFill>
                <a:latin typeface="Aptos" pitchFamily="34" charset="0"/>
                <a:ea typeface="Aptos" pitchFamily="34" charset="-122"/>
                <a:cs typeface="Aptos" pitchFamily="34" charset="-120"/>
              </a:rPr>
              <a:t>Explore DevTools, DNS and real job skills.</a:t>
            </a:r>
            <a:endParaRPr lang="en-US" sz="1700" dirty="0"/>
          </a:p>
          <a:p>
            <a:pPr marL="0" indent="0">
              <a:buNone/>
            </a:pPr>
            <a:endParaRPr lang="en-US" sz="1700" dirty="0"/>
          </a:p>
          <a:p>
            <a:pPr marL="0" indent="0">
              <a:buNone/>
            </a:pPr>
            <a:r>
              <a:rPr lang="en-US" sz="1700" dirty="0">
                <a:solidFill>
                  <a:srgbClr val="63738B"/>
                </a:solidFill>
                <a:latin typeface="Aptos" pitchFamily="34" charset="0"/>
                <a:ea typeface="Aptos" pitchFamily="34" charset="-122"/>
                <a:cs typeface="Aptos" pitchFamily="34" charset="-120"/>
              </a:rPr>
              <a:t>Question: How do the pieces connect?</a:t>
            </a:r>
            <a:endParaRPr lang="en-US" sz="1700" dirty="0"/>
          </a:p>
        </p:txBody>
      </p:sp>
      <p:sp>
        <p:nvSpPr>
          <p:cNvPr id="17" name="Shape 14"/>
          <p:cNvSpPr/>
          <p:nvPr/>
        </p:nvSpPr>
        <p:spPr>
          <a:xfrm>
            <a:off x="8028432" y="1810512"/>
            <a:ext cx="3493008" cy="3163824"/>
          </a:xfrm>
          <a:prstGeom prst="roundRect">
            <a:avLst>
              <a:gd name="adj" fmla="val 4624"/>
            </a:avLst>
          </a:prstGeom>
          <a:solidFill>
            <a:srgbClr val="FFFFFF"/>
          </a:solidFill>
          <a:ln w="12700">
            <a:solidFill>
              <a:srgbClr val="FFFFFF">
                <a:alpha val="0"/>
              </a:srgbClr>
            </a:solidFill>
            <a:prstDash val="solid"/>
          </a:ln>
        </p:spPr>
      </p:sp>
      <p:sp>
        <p:nvSpPr>
          <p:cNvPr id="18" name="Shape 15"/>
          <p:cNvSpPr/>
          <p:nvPr/>
        </p:nvSpPr>
        <p:spPr>
          <a:xfrm>
            <a:off x="8028432" y="1810512"/>
            <a:ext cx="59436" cy="3163824"/>
          </a:xfrm>
          <a:prstGeom prst="rect">
            <a:avLst/>
          </a:prstGeom>
          <a:solidFill>
            <a:srgbClr val="DAA62F"/>
          </a:solidFill>
          <a:ln w="12700">
            <a:solidFill>
              <a:srgbClr val="DAA62F"/>
            </a:solidFill>
            <a:prstDash val="solid"/>
          </a:ln>
        </p:spPr>
      </p:sp>
      <p:sp>
        <p:nvSpPr>
          <p:cNvPr id="19" name="Text 16"/>
          <p:cNvSpPr/>
          <p:nvPr/>
        </p:nvSpPr>
        <p:spPr>
          <a:xfrm>
            <a:off x="8247888" y="1984248"/>
            <a:ext cx="3054096" cy="393192"/>
          </a:xfrm>
          <a:prstGeom prst="rect">
            <a:avLst/>
          </a:prstGeom>
          <a:noFill/>
        </p:spPr>
        <p:txBody>
          <a:bodyPr wrap="square" lIns="0" tIns="0" rIns="0" bIns="0" rtlCol="0" anchor="ctr">
            <a:normAutofit/>
          </a:bodyPr>
          <a:lstStyle/>
          <a:p>
            <a:pPr marL="0" indent="0">
              <a:buNone/>
            </a:pPr>
            <a:r>
              <a:rPr lang="en-US" sz="1900" b="1" dirty="0">
                <a:solidFill>
                  <a:srgbClr val="0D2F5F"/>
                </a:solidFill>
                <a:latin typeface="Aptos" pitchFamily="34" charset="0"/>
                <a:ea typeface="Aptos" pitchFamily="34" charset="-122"/>
                <a:cs typeface="Aptos" pitchFamily="34" charset="-120"/>
              </a:rPr>
              <a:t>CAREER LAUNCH</a:t>
            </a:r>
            <a:endParaRPr lang="en-US" sz="1900" dirty="0"/>
          </a:p>
        </p:txBody>
      </p:sp>
      <p:sp>
        <p:nvSpPr>
          <p:cNvPr id="20" name="Text 17"/>
          <p:cNvSpPr/>
          <p:nvPr/>
        </p:nvSpPr>
        <p:spPr>
          <a:xfrm>
            <a:off x="8247888" y="2478024"/>
            <a:ext cx="3054096" cy="2331720"/>
          </a:xfrm>
          <a:prstGeom prst="rect">
            <a:avLst/>
          </a:prstGeom>
          <a:noFill/>
        </p:spPr>
        <p:txBody>
          <a:bodyPr wrap="square" lIns="0" tIns="0" rIns="0" bIns="0" rtlCol="0" anchor="t">
            <a:normAutofit/>
          </a:bodyPr>
          <a:lstStyle/>
          <a:p>
            <a:pPr marL="0" indent="0">
              <a:buNone/>
            </a:pPr>
            <a:r>
              <a:rPr lang="en-US" sz="1700" dirty="0">
                <a:solidFill>
                  <a:srgbClr val="63738B"/>
                </a:solidFill>
                <a:latin typeface="Aptos" pitchFamily="34" charset="0"/>
                <a:ea typeface="Aptos" pitchFamily="34" charset="-122"/>
                <a:cs typeface="Aptos" pitchFamily="34" charset="-120"/>
              </a:rPr>
              <a:t>Go deeper on systems and trade-offs.</a:t>
            </a:r>
            <a:endParaRPr lang="en-US" sz="1700" dirty="0"/>
          </a:p>
          <a:p>
            <a:pPr marL="0" indent="0">
              <a:buNone/>
            </a:pPr>
            <a:endParaRPr lang="en-US" sz="1700" dirty="0"/>
          </a:p>
          <a:p>
            <a:pPr marL="0" indent="0">
              <a:buNone/>
            </a:pPr>
            <a:r>
              <a:rPr lang="en-US" sz="1700" dirty="0">
                <a:solidFill>
                  <a:srgbClr val="63738B"/>
                </a:solidFill>
                <a:latin typeface="Aptos" pitchFamily="34" charset="0"/>
                <a:ea typeface="Aptos" pitchFamily="34" charset="-122"/>
                <a:cs typeface="Aptos" pitchFamily="34" charset="-120"/>
              </a:rPr>
              <a:t>Explore architecture, HTTP, DNS and cloud models.</a:t>
            </a:r>
            <a:endParaRPr lang="en-US" sz="1700" dirty="0"/>
          </a:p>
          <a:p>
            <a:pPr marL="0" indent="0">
              <a:buNone/>
            </a:pPr>
            <a:endParaRPr lang="en-US" sz="1700" dirty="0"/>
          </a:p>
          <a:p>
            <a:pPr marL="0" indent="0">
              <a:buNone/>
            </a:pPr>
            <a:r>
              <a:rPr lang="en-US" sz="1700" dirty="0">
                <a:solidFill>
                  <a:srgbClr val="63738B"/>
                </a:solidFill>
                <a:latin typeface="Aptos" pitchFamily="34" charset="0"/>
                <a:ea typeface="Aptos" pitchFamily="34" charset="-122"/>
                <a:cs typeface="Aptos" pitchFamily="34" charset="-120"/>
              </a:rPr>
              <a:t>Question: How would this work in production?</a:t>
            </a:r>
            <a:endParaRPr lang="en-US" sz="1700" dirty="0"/>
          </a:p>
        </p:txBody>
      </p:sp>
      <p:pic>
        <p:nvPicPr>
          <p:cNvPr id="21" name="Image 0" descr="/mnt/data/cwp-logo-primary-transparent.png"/>
          <p:cNvPicPr>
            <a:picLocks noChangeAspect="1"/>
          </p:cNvPicPr>
          <p:nvPr/>
        </p:nvPicPr>
        <p:blipFill>
          <a:blip r:embed="rId1"/>
          <a:stretch>
            <a:fillRect/>
          </a:stretch>
        </p:blipFill>
        <p:spPr>
          <a:xfrm>
            <a:off x="603250" y="6029325"/>
            <a:ext cx="946150" cy="628650"/>
          </a:xfrm>
          <a:prstGeom prst="rect">
            <a:avLst/>
          </a:prstGeom>
        </p:spPr>
      </p:pic>
      <p:sp>
        <p:nvSpPr>
          <p:cNvPr id="22" name="Text 4"/>
          <p:cNvSpPr/>
          <p:nvPr/>
        </p:nvSpPr>
        <p:spPr>
          <a:xfrm>
            <a:off x="9485884" y="6419850"/>
            <a:ext cx="1746504" cy="219456"/>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codewithprof.com</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DAA62F"/>
          </a:solidFill>
          <a:ln w="12700">
            <a:solidFill>
              <a:srgbClr val="DAA62F"/>
            </a:solidFill>
            <a:prstDash val="solid"/>
          </a:ln>
        </p:spPr>
      </p:sp>
      <p:sp>
        <p:nvSpPr>
          <p:cNvPr id="3" name="Text 1"/>
          <p:cNvSpPr/>
          <p:nvPr/>
        </p:nvSpPr>
        <p:spPr>
          <a:xfrm>
            <a:off x="603504" y="292608"/>
            <a:ext cx="9144000" cy="201168"/>
          </a:xfrm>
          <a:prstGeom prst="rect">
            <a:avLst/>
          </a:prstGeom>
          <a:noFill/>
        </p:spPr>
        <p:txBody>
          <a:bodyPr wrap="square" lIns="0" tIns="0" rIns="0" bIns="0" rtlCol="0" anchor="ctr">
            <a:normAutofit/>
          </a:bodyPr>
          <a:lstStyle/>
          <a:p>
            <a:pPr marL="0" indent="0">
              <a:buNone/>
            </a:pPr>
            <a:r>
              <a:rPr lang="en-US" sz="1000" b="1" kern="0" spc="120" dirty="0">
                <a:solidFill>
                  <a:srgbClr val="63738B"/>
                </a:solidFill>
                <a:latin typeface="Aptos" pitchFamily="34" charset="0"/>
                <a:ea typeface="Aptos" pitchFamily="34" charset="-122"/>
                <a:cs typeface="Aptos" pitchFamily="34" charset="-120"/>
              </a:rPr>
              <a:t>WEEK 01 · FULL-STACK JOURNEY</a:t>
            </a:r>
            <a:endParaRPr lang="en-US" sz="1000" dirty="0"/>
          </a:p>
        </p:txBody>
      </p:sp>
      <p:sp>
        <p:nvSpPr>
          <p:cNvPr id="4" name="Text 2"/>
          <p:cNvSpPr/>
          <p:nvPr/>
        </p:nvSpPr>
        <p:spPr>
          <a:xfrm>
            <a:off x="603504" y="676656"/>
            <a:ext cx="10972800" cy="658368"/>
          </a:xfrm>
          <a:prstGeom prst="rect">
            <a:avLst/>
          </a:prstGeom>
          <a:noFill/>
        </p:spPr>
        <p:txBody>
          <a:bodyPr wrap="square" lIns="0" tIns="0" rIns="0" bIns="0" rtlCol="0" anchor="ctr">
            <a:normAutofit/>
          </a:bodyPr>
          <a:lstStyle/>
          <a:p>
            <a:pPr marL="0" indent="0">
              <a:buNone/>
            </a:pPr>
            <a:r>
              <a:rPr lang="en-US" sz="3100" b="1" dirty="0">
                <a:solidFill>
                  <a:srgbClr val="0D2F5F"/>
                </a:solidFill>
                <a:latin typeface="Aptos" pitchFamily="34" charset="0"/>
                <a:ea typeface="Aptos" pitchFamily="34" charset="-122"/>
                <a:cs typeface="Aptos" pitchFamily="34" charset="-120"/>
              </a:rPr>
              <a:t>Internet ≠ World Wide Web</a:t>
            </a:r>
            <a:endParaRPr lang="en-US" sz="3100" dirty="0"/>
          </a:p>
        </p:txBody>
      </p:sp>
      <p:sp>
        <p:nvSpPr>
          <p:cNvPr id="5" name="Shape 3"/>
          <p:cNvSpPr/>
          <p:nvPr/>
        </p:nvSpPr>
        <p:spPr>
          <a:xfrm>
            <a:off x="603504" y="1408176"/>
            <a:ext cx="10981944" cy="0"/>
          </a:xfrm>
          <a:prstGeom prst="line">
            <a:avLst/>
          </a:prstGeom>
          <a:noFill/>
          <a:ln w="12700">
            <a:solidFill>
              <a:srgbClr val="DEE5EF"/>
            </a:solidFill>
            <a:prstDash val="solid"/>
            <a:headEnd type="none"/>
            <a:tailEnd type="none"/>
          </a:ln>
        </p:spPr>
      </p:sp>
      <p:sp>
        <p:nvSpPr>
          <p:cNvPr id="8" name="Text 5"/>
          <p:cNvSpPr/>
          <p:nvPr/>
        </p:nvSpPr>
        <p:spPr>
          <a:xfrm>
            <a:off x="11338560" y="6437376"/>
            <a:ext cx="237744" cy="201168"/>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09</a:t>
            </a:r>
            <a:endParaRPr lang="en-US" sz="1000" dirty="0"/>
          </a:p>
        </p:txBody>
      </p:sp>
      <p:sp>
        <p:nvSpPr>
          <p:cNvPr id="9" name="Shape 6"/>
          <p:cNvSpPr/>
          <p:nvPr/>
        </p:nvSpPr>
        <p:spPr>
          <a:xfrm>
            <a:off x="685800" y="1865376"/>
            <a:ext cx="5184648" cy="2423160"/>
          </a:xfrm>
          <a:prstGeom prst="roundRect">
            <a:avLst>
              <a:gd name="adj" fmla="val 6038"/>
            </a:avLst>
          </a:prstGeom>
          <a:solidFill>
            <a:srgbClr val="FFFFFF"/>
          </a:solidFill>
          <a:ln w="12700">
            <a:solidFill>
              <a:srgbClr val="FFFFFF">
                <a:alpha val="0"/>
              </a:srgbClr>
            </a:solidFill>
            <a:prstDash val="solid"/>
          </a:ln>
        </p:spPr>
      </p:sp>
      <p:sp>
        <p:nvSpPr>
          <p:cNvPr id="10" name="Shape 7"/>
          <p:cNvSpPr/>
          <p:nvPr/>
        </p:nvSpPr>
        <p:spPr>
          <a:xfrm>
            <a:off x="685800" y="1865376"/>
            <a:ext cx="59436" cy="2423160"/>
          </a:xfrm>
          <a:prstGeom prst="rect">
            <a:avLst/>
          </a:prstGeom>
          <a:solidFill>
            <a:srgbClr val="DAA62F"/>
          </a:solidFill>
          <a:ln w="12700">
            <a:solidFill>
              <a:srgbClr val="DAA62F"/>
            </a:solidFill>
            <a:prstDash val="solid"/>
          </a:ln>
        </p:spPr>
      </p:sp>
      <p:sp>
        <p:nvSpPr>
          <p:cNvPr id="11" name="Text 8"/>
          <p:cNvSpPr/>
          <p:nvPr/>
        </p:nvSpPr>
        <p:spPr>
          <a:xfrm>
            <a:off x="905256" y="2039112"/>
            <a:ext cx="4745736" cy="393192"/>
          </a:xfrm>
          <a:prstGeom prst="rect">
            <a:avLst/>
          </a:prstGeom>
          <a:noFill/>
        </p:spPr>
        <p:txBody>
          <a:bodyPr wrap="square" lIns="0" tIns="0" rIns="0" bIns="0" rtlCol="0" anchor="ctr">
            <a:normAutofit/>
          </a:bodyPr>
          <a:lstStyle/>
          <a:p>
            <a:pPr marL="0" indent="0">
              <a:buNone/>
            </a:pPr>
            <a:r>
              <a:rPr lang="en-US" sz="2300" b="1" dirty="0">
                <a:solidFill>
                  <a:srgbClr val="0D2F5F"/>
                </a:solidFill>
                <a:latin typeface="Aptos" pitchFamily="34" charset="0"/>
                <a:ea typeface="Aptos" pitchFamily="34" charset="-122"/>
                <a:cs typeface="Aptos" pitchFamily="34" charset="-120"/>
              </a:rPr>
              <a:t>THE INTERNET</a:t>
            </a:r>
            <a:endParaRPr lang="en-US" sz="2300" dirty="0"/>
          </a:p>
        </p:txBody>
      </p:sp>
      <p:sp>
        <p:nvSpPr>
          <p:cNvPr id="12" name="Text 9"/>
          <p:cNvSpPr/>
          <p:nvPr/>
        </p:nvSpPr>
        <p:spPr>
          <a:xfrm>
            <a:off x="905256" y="2532888"/>
            <a:ext cx="4745736" cy="1591056"/>
          </a:xfrm>
          <a:prstGeom prst="rect">
            <a:avLst/>
          </a:prstGeom>
          <a:noFill/>
        </p:spPr>
        <p:txBody>
          <a:bodyPr wrap="square" lIns="0" tIns="0" rIns="0" bIns="0" rtlCol="0" anchor="t">
            <a:normAutofit/>
          </a:bodyPr>
          <a:lstStyle/>
          <a:p>
            <a:pPr marL="0" indent="0">
              <a:buNone/>
            </a:pPr>
            <a:r>
              <a:rPr lang="en-US" sz="1900" dirty="0">
                <a:solidFill>
                  <a:srgbClr val="63738B"/>
                </a:solidFill>
                <a:latin typeface="Aptos" pitchFamily="34" charset="0"/>
                <a:ea typeface="Aptos" pitchFamily="34" charset="-122"/>
                <a:cs typeface="Aptos" pitchFamily="34" charset="-120"/>
              </a:rPr>
              <a:t>The worldwide network of connected computers, networks, cables, Wi-Fi, routers and mobile infrastructure.</a:t>
            </a:r>
            <a:endParaRPr lang="en-US" sz="1900" dirty="0"/>
          </a:p>
        </p:txBody>
      </p:sp>
      <p:sp>
        <p:nvSpPr>
          <p:cNvPr id="13" name="Shape 10"/>
          <p:cNvSpPr/>
          <p:nvPr/>
        </p:nvSpPr>
        <p:spPr>
          <a:xfrm>
            <a:off x="6236208" y="1865376"/>
            <a:ext cx="5184648" cy="2423160"/>
          </a:xfrm>
          <a:prstGeom prst="roundRect">
            <a:avLst>
              <a:gd name="adj" fmla="val 6038"/>
            </a:avLst>
          </a:prstGeom>
          <a:solidFill>
            <a:srgbClr val="FFFFFF"/>
          </a:solidFill>
          <a:ln w="12700">
            <a:solidFill>
              <a:srgbClr val="FFFFFF">
                <a:alpha val="0"/>
              </a:srgbClr>
            </a:solidFill>
            <a:prstDash val="solid"/>
          </a:ln>
        </p:spPr>
      </p:sp>
      <p:sp>
        <p:nvSpPr>
          <p:cNvPr id="14" name="Shape 11"/>
          <p:cNvSpPr/>
          <p:nvPr/>
        </p:nvSpPr>
        <p:spPr>
          <a:xfrm>
            <a:off x="6236208" y="1865376"/>
            <a:ext cx="59436" cy="2423160"/>
          </a:xfrm>
          <a:prstGeom prst="rect">
            <a:avLst/>
          </a:prstGeom>
          <a:solidFill>
            <a:srgbClr val="197B66"/>
          </a:solidFill>
          <a:ln w="12700">
            <a:solidFill>
              <a:srgbClr val="197B66"/>
            </a:solidFill>
            <a:prstDash val="solid"/>
          </a:ln>
        </p:spPr>
      </p:sp>
      <p:sp>
        <p:nvSpPr>
          <p:cNvPr id="15" name="Text 12"/>
          <p:cNvSpPr/>
          <p:nvPr/>
        </p:nvSpPr>
        <p:spPr>
          <a:xfrm>
            <a:off x="6455664" y="2039112"/>
            <a:ext cx="4745736" cy="393192"/>
          </a:xfrm>
          <a:prstGeom prst="rect">
            <a:avLst/>
          </a:prstGeom>
          <a:noFill/>
        </p:spPr>
        <p:txBody>
          <a:bodyPr wrap="square" lIns="0" tIns="0" rIns="0" bIns="0" rtlCol="0" anchor="ctr">
            <a:normAutofit/>
          </a:bodyPr>
          <a:lstStyle/>
          <a:p>
            <a:pPr marL="0" indent="0">
              <a:buNone/>
            </a:pPr>
            <a:r>
              <a:rPr lang="en-US" sz="2300" b="1" dirty="0">
                <a:solidFill>
                  <a:srgbClr val="0D2F5F"/>
                </a:solidFill>
                <a:latin typeface="Aptos" pitchFamily="34" charset="0"/>
                <a:ea typeface="Aptos" pitchFamily="34" charset="-122"/>
                <a:cs typeface="Aptos" pitchFamily="34" charset="-120"/>
              </a:rPr>
              <a:t>THE WORLD WIDE WEB</a:t>
            </a:r>
            <a:endParaRPr lang="en-US" sz="2300" dirty="0"/>
          </a:p>
        </p:txBody>
      </p:sp>
      <p:sp>
        <p:nvSpPr>
          <p:cNvPr id="16" name="Text 13"/>
          <p:cNvSpPr/>
          <p:nvPr/>
        </p:nvSpPr>
        <p:spPr>
          <a:xfrm>
            <a:off x="6455664" y="2532888"/>
            <a:ext cx="4745736" cy="1591056"/>
          </a:xfrm>
          <a:prstGeom prst="rect">
            <a:avLst/>
          </a:prstGeom>
          <a:noFill/>
        </p:spPr>
        <p:txBody>
          <a:bodyPr wrap="square" lIns="0" tIns="0" rIns="0" bIns="0" rtlCol="0" anchor="t">
            <a:normAutofit/>
          </a:bodyPr>
          <a:lstStyle/>
          <a:p>
            <a:pPr marL="0" indent="0">
              <a:buNone/>
            </a:pPr>
            <a:r>
              <a:rPr lang="en-US" sz="1900" dirty="0">
                <a:solidFill>
                  <a:srgbClr val="63738B"/>
                </a:solidFill>
                <a:latin typeface="Aptos" pitchFamily="34" charset="0"/>
                <a:ea typeface="Aptos" pitchFamily="34" charset="-122"/>
                <a:cs typeface="Aptos" pitchFamily="34" charset="-120"/>
              </a:rPr>
              <a:t>Linked pages and websites opened in a browser — one of many services that run on the internet.</a:t>
            </a:r>
            <a:endParaRPr lang="en-US" sz="1900" dirty="0"/>
          </a:p>
        </p:txBody>
      </p:sp>
      <p:sp>
        <p:nvSpPr>
          <p:cNvPr id="17" name="Text 14"/>
          <p:cNvSpPr/>
          <p:nvPr/>
        </p:nvSpPr>
        <p:spPr>
          <a:xfrm>
            <a:off x="822960" y="4864608"/>
            <a:ext cx="10607040" cy="594360"/>
          </a:xfrm>
          <a:prstGeom prst="rect">
            <a:avLst/>
          </a:prstGeom>
          <a:noFill/>
        </p:spPr>
        <p:txBody>
          <a:bodyPr wrap="square" lIns="0" tIns="0" rIns="0" bIns="0" rtlCol="0" anchor="ctr">
            <a:normAutofit/>
          </a:bodyPr>
          <a:lstStyle/>
          <a:p>
            <a:pPr marL="0" indent="0" algn="ctr">
              <a:buNone/>
            </a:pPr>
            <a:r>
              <a:rPr lang="en-US" sz="2000" b="1" dirty="0">
                <a:solidFill>
                  <a:srgbClr val="0D2F5F"/>
                </a:solidFill>
                <a:latin typeface="Aptos" pitchFamily="34" charset="0"/>
                <a:ea typeface="Aptos" pitchFamily="34" charset="-122"/>
                <a:cs typeface="Aptos" pitchFamily="34" charset="-120"/>
              </a:rPr>
              <a:t>Internet = roads and transport infrastructure. Web = one service using those roads.</a:t>
            </a:r>
            <a:endParaRPr lang="en-US" sz="2000" dirty="0"/>
          </a:p>
        </p:txBody>
      </p:sp>
      <p:pic>
        <p:nvPicPr>
          <p:cNvPr id="18" name="Image 0" descr="/mnt/data/cwp-logo-primary-transparent.png"/>
          <p:cNvPicPr>
            <a:picLocks noChangeAspect="1"/>
          </p:cNvPicPr>
          <p:nvPr/>
        </p:nvPicPr>
        <p:blipFill>
          <a:blip r:embed="rId1"/>
          <a:stretch>
            <a:fillRect/>
          </a:stretch>
        </p:blipFill>
        <p:spPr>
          <a:xfrm>
            <a:off x="603250" y="6029325"/>
            <a:ext cx="946150" cy="628650"/>
          </a:xfrm>
          <a:prstGeom prst="rect">
            <a:avLst/>
          </a:prstGeom>
        </p:spPr>
      </p:pic>
      <p:sp>
        <p:nvSpPr>
          <p:cNvPr id="19" name="Text 4"/>
          <p:cNvSpPr/>
          <p:nvPr/>
        </p:nvSpPr>
        <p:spPr>
          <a:xfrm>
            <a:off x="9485884" y="6419850"/>
            <a:ext cx="1746504" cy="219456"/>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codewithprof.com</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DAA62F"/>
          </a:solidFill>
          <a:ln w="12700">
            <a:solidFill>
              <a:srgbClr val="DAA62F"/>
            </a:solidFill>
            <a:prstDash val="solid"/>
          </a:ln>
        </p:spPr>
      </p:sp>
      <p:sp>
        <p:nvSpPr>
          <p:cNvPr id="3" name="Text 1"/>
          <p:cNvSpPr/>
          <p:nvPr/>
        </p:nvSpPr>
        <p:spPr>
          <a:xfrm>
            <a:off x="603504" y="292608"/>
            <a:ext cx="9144000" cy="201168"/>
          </a:xfrm>
          <a:prstGeom prst="rect">
            <a:avLst/>
          </a:prstGeom>
          <a:noFill/>
        </p:spPr>
        <p:txBody>
          <a:bodyPr wrap="square" lIns="0" tIns="0" rIns="0" bIns="0" rtlCol="0" anchor="ctr">
            <a:normAutofit/>
          </a:bodyPr>
          <a:lstStyle/>
          <a:p>
            <a:pPr marL="0" indent="0">
              <a:buNone/>
            </a:pPr>
            <a:r>
              <a:rPr lang="en-US" sz="1000" b="1" kern="0" spc="120" dirty="0">
                <a:solidFill>
                  <a:srgbClr val="63738B"/>
                </a:solidFill>
                <a:latin typeface="Aptos" pitchFamily="34" charset="0"/>
                <a:ea typeface="Aptos" pitchFamily="34" charset="-122"/>
                <a:cs typeface="Aptos" pitchFamily="34" charset="-120"/>
              </a:rPr>
              <a:t>WEEK 01 · FULL-STACK JOURNEY</a:t>
            </a:r>
            <a:endParaRPr lang="en-US" sz="1000" dirty="0"/>
          </a:p>
        </p:txBody>
      </p:sp>
      <p:sp>
        <p:nvSpPr>
          <p:cNvPr id="4" name="Text 2"/>
          <p:cNvSpPr/>
          <p:nvPr/>
        </p:nvSpPr>
        <p:spPr>
          <a:xfrm>
            <a:off x="603504" y="676656"/>
            <a:ext cx="10972800" cy="658368"/>
          </a:xfrm>
          <a:prstGeom prst="rect">
            <a:avLst/>
          </a:prstGeom>
          <a:noFill/>
        </p:spPr>
        <p:txBody>
          <a:bodyPr wrap="square" lIns="0" tIns="0" rIns="0" bIns="0" rtlCol="0" anchor="ctr">
            <a:normAutofit/>
          </a:bodyPr>
          <a:lstStyle/>
          <a:p>
            <a:pPr marL="0" indent="0">
              <a:buNone/>
            </a:pPr>
            <a:r>
              <a:rPr lang="en-US" sz="3100" b="1" dirty="0">
                <a:solidFill>
                  <a:srgbClr val="0D2F5F"/>
                </a:solidFill>
                <a:latin typeface="Aptos" pitchFamily="34" charset="0"/>
                <a:ea typeface="Aptos" pitchFamily="34" charset="-122"/>
                <a:cs typeface="Aptos" pitchFamily="34" charset="-120"/>
              </a:rPr>
              <a:t>Client ↔ server: one conversation</a:t>
            </a:r>
            <a:endParaRPr lang="en-US" sz="3100" dirty="0"/>
          </a:p>
        </p:txBody>
      </p:sp>
      <p:sp>
        <p:nvSpPr>
          <p:cNvPr id="5" name="Shape 3"/>
          <p:cNvSpPr/>
          <p:nvPr/>
        </p:nvSpPr>
        <p:spPr>
          <a:xfrm>
            <a:off x="603504" y="1408176"/>
            <a:ext cx="10981944" cy="0"/>
          </a:xfrm>
          <a:prstGeom prst="line">
            <a:avLst/>
          </a:prstGeom>
          <a:noFill/>
          <a:ln w="12700">
            <a:solidFill>
              <a:srgbClr val="DEE5EF"/>
            </a:solidFill>
            <a:prstDash val="solid"/>
            <a:headEnd type="none"/>
            <a:tailEnd type="none"/>
          </a:ln>
        </p:spPr>
      </p:sp>
      <p:sp>
        <p:nvSpPr>
          <p:cNvPr id="8" name="Text 5"/>
          <p:cNvSpPr/>
          <p:nvPr/>
        </p:nvSpPr>
        <p:spPr>
          <a:xfrm>
            <a:off x="11338560" y="6437376"/>
            <a:ext cx="237744" cy="201168"/>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10</a:t>
            </a:r>
            <a:endParaRPr lang="en-US" sz="1000" dirty="0"/>
          </a:p>
        </p:txBody>
      </p:sp>
      <p:sp>
        <p:nvSpPr>
          <p:cNvPr id="9" name="Shape 6"/>
          <p:cNvSpPr/>
          <p:nvPr/>
        </p:nvSpPr>
        <p:spPr>
          <a:xfrm>
            <a:off x="758952" y="2002536"/>
            <a:ext cx="3054096" cy="2093976"/>
          </a:xfrm>
          <a:prstGeom prst="roundRect">
            <a:avLst>
              <a:gd name="adj" fmla="val 6987"/>
            </a:avLst>
          </a:prstGeom>
          <a:solidFill>
            <a:srgbClr val="FFFFFF"/>
          </a:solidFill>
          <a:ln w="12700">
            <a:solidFill>
              <a:srgbClr val="FFFFFF">
                <a:alpha val="0"/>
              </a:srgbClr>
            </a:solidFill>
            <a:prstDash val="solid"/>
          </a:ln>
        </p:spPr>
      </p:sp>
      <p:sp>
        <p:nvSpPr>
          <p:cNvPr id="10" name="Shape 7"/>
          <p:cNvSpPr/>
          <p:nvPr/>
        </p:nvSpPr>
        <p:spPr>
          <a:xfrm>
            <a:off x="8357616" y="2002536"/>
            <a:ext cx="3054096" cy="2093976"/>
          </a:xfrm>
          <a:prstGeom prst="roundRect">
            <a:avLst>
              <a:gd name="adj" fmla="val 6987"/>
            </a:avLst>
          </a:prstGeom>
          <a:solidFill>
            <a:srgbClr val="FFFFFF"/>
          </a:solidFill>
          <a:ln w="12700">
            <a:solidFill>
              <a:srgbClr val="FFFFFF">
                <a:alpha val="0"/>
              </a:srgbClr>
            </a:solidFill>
            <a:prstDash val="solid"/>
          </a:ln>
        </p:spPr>
      </p:sp>
      <p:sp>
        <p:nvSpPr>
          <p:cNvPr id="11" name="Text 8"/>
          <p:cNvSpPr/>
          <p:nvPr/>
        </p:nvSpPr>
        <p:spPr>
          <a:xfrm>
            <a:off x="1088136" y="2432304"/>
            <a:ext cx="2395728" cy="411480"/>
          </a:xfrm>
          <a:prstGeom prst="rect">
            <a:avLst/>
          </a:prstGeom>
          <a:noFill/>
        </p:spPr>
        <p:txBody>
          <a:bodyPr wrap="square" lIns="0" tIns="0" rIns="0" bIns="0" rtlCol="0" anchor="ctr">
            <a:normAutofit/>
          </a:bodyPr>
          <a:lstStyle/>
          <a:p>
            <a:pPr marL="0" indent="0" algn="ctr">
              <a:buNone/>
            </a:pPr>
            <a:r>
              <a:rPr lang="en-US" sz="2400" b="1" dirty="0">
                <a:solidFill>
                  <a:srgbClr val="0D2F5F"/>
                </a:solidFill>
                <a:latin typeface="Aptos" pitchFamily="34" charset="0"/>
                <a:ea typeface="Aptos" pitchFamily="34" charset="-122"/>
                <a:cs typeface="Aptos" pitchFamily="34" charset="-120"/>
              </a:rPr>
              <a:t>BROWSER</a:t>
            </a:r>
            <a:endParaRPr lang="en-US" sz="2400" dirty="0"/>
          </a:p>
        </p:txBody>
      </p:sp>
      <p:sp>
        <p:nvSpPr>
          <p:cNvPr id="12" name="Text 9"/>
          <p:cNvSpPr/>
          <p:nvPr/>
        </p:nvSpPr>
        <p:spPr>
          <a:xfrm>
            <a:off x="1069848" y="3072384"/>
            <a:ext cx="2432304" cy="320040"/>
          </a:xfrm>
          <a:prstGeom prst="rect">
            <a:avLst/>
          </a:prstGeom>
          <a:noFill/>
        </p:spPr>
        <p:txBody>
          <a:bodyPr wrap="square" lIns="0" tIns="0" rIns="0" bIns="0" rtlCol="0" anchor="ctr">
            <a:normAutofit/>
          </a:bodyPr>
          <a:lstStyle/>
          <a:p>
            <a:pPr marL="0" indent="0" algn="ctr">
              <a:buNone/>
            </a:pPr>
            <a:r>
              <a:rPr lang="en-US" sz="1700" dirty="0">
                <a:solidFill>
                  <a:srgbClr val="63738B"/>
                </a:solidFill>
                <a:latin typeface="Aptos" pitchFamily="34" charset="0"/>
                <a:ea typeface="Aptos" pitchFamily="34" charset="-122"/>
                <a:cs typeface="Aptos" pitchFamily="34" charset="-120"/>
              </a:rPr>
              <a:t>Client: asks</a:t>
            </a:r>
            <a:endParaRPr lang="en-US" sz="1700" dirty="0"/>
          </a:p>
        </p:txBody>
      </p:sp>
      <p:sp>
        <p:nvSpPr>
          <p:cNvPr id="13" name="Text 10"/>
          <p:cNvSpPr/>
          <p:nvPr/>
        </p:nvSpPr>
        <p:spPr>
          <a:xfrm>
            <a:off x="8668512" y="2432304"/>
            <a:ext cx="2395728" cy="411480"/>
          </a:xfrm>
          <a:prstGeom prst="rect">
            <a:avLst/>
          </a:prstGeom>
          <a:noFill/>
        </p:spPr>
        <p:txBody>
          <a:bodyPr wrap="square" lIns="0" tIns="0" rIns="0" bIns="0" rtlCol="0" anchor="ctr">
            <a:normAutofit/>
          </a:bodyPr>
          <a:lstStyle/>
          <a:p>
            <a:pPr marL="0" indent="0" algn="ctr">
              <a:buNone/>
            </a:pPr>
            <a:r>
              <a:rPr lang="en-US" sz="2400" b="1" dirty="0">
                <a:solidFill>
                  <a:srgbClr val="0D2F5F"/>
                </a:solidFill>
                <a:latin typeface="Aptos" pitchFamily="34" charset="0"/>
                <a:ea typeface="Aptos" pitchFamily="34" charset="-122"/>
                <a:cs typeface="Aptos" pitchFamily="34" charset="-120"/>
              </a:rPr>
              <a:t>SERVER</a:t>
            </a:r>
            <a:endParaRPr lang="en-US" sz="2400" dirty="0"/>
          </a:p>
        </p:txBody>
      </p:sp>
      <p:sp>
        <p:nvSpPr>
          <p:cNvPr id="14" name="Text 11"/>
          <p:cNvSpPr/>
          <p:nvPr/>
        </p:nvSpPr>
        <p:spPr>
          <a:xfrm>
            <a:off x="8668512" y="3072384"/>
            <a:ext cx="2395728" cy="320040"/>
          </a:xfrm>
          <a:prstGeom prst="rect">
            <a:avLst/>
          </a:prstGeom>
          <a:noFill/>
        </p:spPr>
        <p:txBody>
          <a:bodyPr wrap="square" lIns="0" tIns="0" rIns="0" bIns="0" rtlCol="0" anchor="ctr">
            <a:normAutofit/>
          </a:bodyPr>
          <a:lstStyle/>
          <a:p>
            <a:pPr marL="0" indent="0" algn="ctr">
              <a:buNone/>
            </a:pPr>
            <a:r>
              <a:rPr lang="en-US" sz="1700" dirty="0">
                <a:solidFill>
                  <a:srgbClr val="63738B"/>
                </a:solidFill>
                <a:latin typeface="Aptos" pitchFamily="34" charset="0"/>
                <a:ea typeface="Aptos" pitchFamily="34" charset="-122"/>
                <a:cs typeface="Aptos" pitchFamily="34" charset="-120"/>
              </a:rPr>
              <a:t>Server: answers</a:t>
            </a:r>
            <a:endParaRPr lang="en-US" sz="1700" dirty="0"/>
          </a:p>
        </p:txBody>
      </p:sp>
      <p:sp>
        <p:nvSpPr>
          <p:cNvPr id="15" name="Shape 12"/>
          <p:cNvSpPr/>
          <p:nvPr/>
        </p:nvSpPr>
        <p:spPr>
          <a:xfrm>
            <a:off x="4005072" y="2624328"/>
            <a:ext cx="4178808" cy="0"/>
          </a:xfrm>
          <a:prstGeom prst="line">
            <a:avLst/>
          </a:prstGeom>
          <a:noFill/>
          <a:ln w="38100">
            <a:solidFill>
              <a:srgbClr val="DAA62F"/>
            </a:solidFill>
            <a:prstDash val="solid"/>
            <a:headEnd type="none"/>
            <a:tailEnd type="triangle"/>
          </a:ln>
        </p:spPr>
      </p:sp>
      <p:sp>
        <p:nvSpPr>
          <p:cNvPr id="16" name="Shape 13"/>
          <p:cNvSpPr/>
          <p:nvPr/>
        </p:nvSpPr>
        <p:spPr>
          <a:xfrm>
            <a:off x="4005072" y="3419856"/>
            <a:ext cx="4178808" cy="0"/>
          </a:xfrm>
          <a:prstGeom prst="line">
            <a:avLst/>
          </a:prstGeom>
          <a:noFill/>
          <a:ln w="38100">
            <a:solidFill>
              <a:srgbClr val="197B66"/>
            </a:solidFill>
            <a:prstDash val="solid"/>
            <a:headEnd type="none"/>
            <a:tailEnd type="triangle"/>
          </a:ln>
        </p:spPr>
      </p:sp>
      <p:sp>
        <p:nvSpPr>
          <p:cNvPr id="17" name="Text 14"/>
          <p:cNvSpPr/>
          <p:nvPr/>
        </p:nvSpPr>
        <p:spPr>
          <a:xfrm>
            <a:off x="4389120" y="2139696"/>
            <a:ext cx="3438144" cy="301752"/>
          </a:xfrm>
          <a:prstGeom prst="rect">
            <a:avLst/>
          </a:prstGeom>
          <a:noFill/>
        </p:spPr>
        <p:txBody>
          <a:bodyPr wrap="square" lIns="0" tIns="0" rIns="0" bIns="0" rtlCol="0" anchor="ctr">
            <a:normAutofit/>
          </a:bodyPr>
          <a:lstStyle/>
          <a:p>
            <a:pPr marL="0" indent="0" algn="ctr">
              <a:buNone/>
            </a:pPr>
            <a:r>
              <a:rPr lang="en-US" sz="1500" b="1" dirty="0">
                <a:solidFill>
                  <a:srgbClr val="0D2F5F"/>
                </a:solidFill>
                <a:latin typeface="Aptos" pitchFamily="34" charset="0"/>
                <a:ea typeface="Aptos" pitchFamily="34" charset="-122"/>
                <a:cs typeface="Aptos" pitchFamily="34" charset="-120"/>
              </a:rPr>
              <a:t>REQUEST: GET /homework</a:t>
            </a:r>
            <a:endParaRPr lang="en-US" sz="1500" dirty="0"/>
          </a:p>
        </p:txBody>
      </p:sp>
      <p:sp>
        <p:nvSpPr>
          <p:cNvPr id="18" name="Text 15"/>
          <p:cNvSpPr/>
          <p:nvPr/>
        </p:nvSpPr>
        <p:spPr>
          <a:xfrm>
            <a:off x="4389120" y="3538728"/>
            <a:ext cx="3438144" cy="329184"/>
          </a:xfrm>
          <a:prstGeom prst="rect">
            <a:avLst/>
          </a:prstGeom>
          <a:noFill/>
        </p:spPr>
        <p:txBody>
          <a:bodyPr wrap="square" lIns="0" tIns="0" rIns="0" bIns="0" rtlCol="0" anchor="ctr">
            <a:normAutofit/>
          </a:bodyPr>
          <a:lstStyle/>
          <a:p>
            <a:pPr marL="0" indent="0" algn="ctr">
              <a:buNone/>
            </a:pPr>
            <a:r>
              <a:rPr lang="en-US" sz="1500" b="1" dirty="0">
                <a:solidFill>
                  <a:srgbClr val="0D2F5F"/>
                </a:solidFill>
                <a:latin typeface="Aptos" pitchFamily="34" charset="0"/>
                <a:ea typeface="Aptos" pitchFamily="34" charset="-122"/>
                <a:cs typeface="Aptos" pitchFamily="34" charset="-120"/>
              </a:rPr>
              <a:t>RESPONSE: 200 OK</a:t>
            </a:r>
            <a:endParaRPr lang="en-US" sz="1500" dirty="0"/>
          </a:p>
        </p:txBody>
      </p:sp>
      <p:sp>
        <p:nvSpPr>
          <p:cNvPr id="19" name="Text 16"/>
          <p:cNvSpPr/>
          <p:nvPr/>
        </p:nvSpPr>
        <p:spPr>
          <a:xfrm>
            <a:off x="978408" y="4791456"/>
            <a:ext cx="10149840" cy="594360"/>
          </a:xfrm>
          <a:prstGeom prst="rect">
            <a:avLst/>
          </a:prstGeom>
          <a:noFill/>
        </p:spPr>
        <p:txBody>
          <a:bodyPr wrap="square" lIns="0" tIns="0" rIns="0" bIns="0" rtlCol="0" anchor="ctr">
            <a:normAutofit/>
          </a:bodyPr>
          <a:lstStyle/>
          <a:p>
            <a:pPr marL="0" indent="0" algn="ctr">
              <a:buNone/>
            </a:pPr>
            <a:r>
              <a:rPr lang="en-US" sz="2000" b="1" dirty="0">
                <a:solidFill>
                  <a:srgbClr val="0D2F5F"/>
                </a:solidFill>
                <a:latin typeface="Aptos" pitchFamily="34" charset="0"/>
                <a:ea typeface="Aptos" pitchFamily="34" charset="-122"/>
                <a:cs typeface="Aptos" pitchFamily="34" charset="-120"/>
              </a:rPr>
              <a:t>The browser requests a resource. The server responds with a page or data.</a:t>
            </a:r>
            <a:endParaRPr lang="en-US" sz="2000" dirty="0"/>
          </a:p>
        </p:txBody>
      </p:sp>
      <p:pic>
        <p:nvPicPr>
          <p:cNvPr id="20" name="Image 0" descr="/mnt/data/cwp-logo-primary-transparent.png"/>
          <p:cNvPicPr>
            <a:picLocks noChangeAspect="1"/>
          </p:cNvPicPr>
          <p:nvPr/>
        </p:nvPicPr>
        <p:blipFill>
          <a:blip r:embed="rId1"/>
          <a:stretch>
            <a:fillRect/>
          </a:stretch>
        </p:blipFill>
        <p:spPr>
          <a:xfrm>
            <a:off x="603250" y="6029325"/>
            <a:ext cx="946150" cy="628650"/>
          </a:xfrm>
          <a:prstGeom prst="rect">
            <a:avLst/>
          </a:prstGeom>
        </p:spPr>
      </p:pic>
      <p:sp>
        <p:nvSpPr>
          <p:cNvPr id="21" name="Text 4"/>
          <p:cNvSpPr/>
          <p:nvPr/>
        </p:nvSpPr>
        <p:spPr>
          <a:xfrm>
            <a:off x="9485884" y="6419850"/>
            <a:ext cx="1746504" cy="219456"/>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codewithprof.com</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DAA62F"/>
          </a:solidFill>
          <a:ln w="12700">
            <a:solidFill>
              <a:srgbClr val="DAA62F"/>
            </a:solidFill>
            <a:prstDash val="solid"/>
          </a:ln>
        </p:spPr>
      </p:sp>
      <p:sp>
        <p:nvSpPr>
          <p:cNvPr id="3" name="Text 1"/>
          <p:cNvSpPr/>
          <p:nvPr/>
        </p:nvSpPr>
        <p:spPr>
          <a:xfrm>
            <a:off x="603504" y="292608"/>
            <a:ext cx="9144000" cy="201168"/>
          </a:xfrm>
          <a:prstGeom prst="rect">
            <a:avLst/>
          </a:prstGeom>
          <a:noFill/>
        </p:spPr>
        <p:txBody>
          <a:bodyPr wrap="square" lIns="0" tIns="0" rIns="0" bIns="0" rtlCol="0" anchor="ctr">
            <a:normAutofit/>
          </a:bodyPr>
          <a:lstStyle/>
          <a:p>
            <a:pPr marL="0" indent="0">
              <a:buNone/>
            </a:pPr>
            <a:r>
              <a:rPr lang="en-US" sz="1000" b="1" kern="0" spc="120" dirty="0">
                <a:solidFill>
                  <a:srgbClr val="63738B"/>
                </a:solidFill>
                <a:latin typeface="Aptos" pitchFamily="34" charset="0"/>
                <a:ea typeface="Aptos" pitchFamily="34" charset="-122"/>
                <a:cs typeface="Aptos" pitchFamily="34" charset="-120"/>
              </a:rPr>
              <a:t>WEEK 01 · FULL-STACK JOURNEY</a:t>
            </a:r>
            <a:endParaRPr lang="en-US" sz="1000" dirty="0"/>
          </a:p>
        </p:txBody>
      </p:sp>
      <p:sp>
        <p:nvSpPr>
          <p:cNvPr id="4" name="Text 2"/>
          <p:cNvSpPr/>
          <p:nvPr/>
        </p:nvSpPr>
        <p:spPr>
          <a:xfrm>
            <a:off x="603504" y="676656"/>
            <a:ext cx="10972800" cy="658368"/>
          </a:xfrm>
          <a:prstGeom prst="rect">
            <a:avLst/>
          </a:prstGeom>
          <a:noFill/>
        </p:spPr>
        <p:txBody>
          <a:bodyPr wrap="square" lIns="0" tIns="0" rIns="0" bIns="0" rtlCol="0" anchor="ctr">
            <a:normAutofit/>
          </a:bodyPr>
          <a:lstStyle/>
          <a:p>
            <a:pPr marL="0" indent="0">
              <a:buNone/>
            </a:pPr>
            <a:r>
              <a:rPr lang="en-US" sz="3100" b="1" dirty="0">
                <a:solidFill>
                  <a:srgbClr val="0D2F5F"/>
                </a:solidFill>
                <a:latin typeface="Aptos" pitchFamily="34" charset="0"/>
                <a:ea typeface="Aptos" pitchFamily="34" charset="-122"/>
                <a:cs typeface="Aptos" pitchFamily="34" charset="-120"/>
              </a:rPr>
              <a:t>IP addresses: where should the message go?</a:t>
            </a:r>
            <a:endParaRPr lang="en-US" sz="3100" dirty="0"/>
          </a:p>
        </p:txBody>
      </p:sp>
      <p:sp>
        <p:nvSpPr>
          <p:cNvPr id="5" name="Shape 3"/>
          <p:cNvSpPr/>
          <p:nvPr/>
        </p:nvSpPr>
        <p:spPr>
          <a:xfrm>
            <a:off x="603504" y="1408176"/>
            <a:ext cx="10981944" cy="0"/>
          </a:xfrm>
          <a:prstGeom prst="line">
            <a:avLst/>
          </a:prstGeom>
          <a:noFill/>
          <a:ln w="12700">
            <a:solidFill>
              <a:srgbClr val="DEE5EF"/>
            </a:solidFill>
            <a:prstDash val="solid"/>
            <a:headEnd type="none"/>
            <a:tailEnd type="none"/>
          </a:ln>
        </p:spPr>
      </p:sp>
      <p:sp>
        <p:nvSpPr>
          <p:cNvPr id="8" name="Text 5"/>
          <p:cNvSpPr/>
          <p:nvPr/>
        </p:nvSpPr>
        <p:spPr>
          <a:xfrm>
            <a:off x="11338560" y="6437376"/>
            <a:ext cx="237744" cy="201168"/>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11</a:t>
            </a:r>
            <a:endParaRPr lang="en-US" sz="1000" dirty="0"/>
          </a:p>
        </p:txBody>
      </p:sp>
      <p:sp>
        <p:nvSpPr>
          <p:cNvPr id="9" name="Shape 6"/>
          <p:cNvSpPr/>
          <p:nvPr/>
        </p:nvSpPr>
        <p:spPr>
          <a:xfrm>
            <a:off x="731520" y="1792224"/>
            <a:ext cx="5175504" cy="2468880"/>
          </a:xfrm>
          <a:prstGeom prst="roundRect">
            <a:avLst>
              <a:gd name="adj" fmla="val 5926"/>
            </a:avLst>
          </a:prstGeom>
          <a:solidFill>
            <a:srgbClr val="FFFFFF"/>
          </a:solidFill>
          <a:ln w="12700">
            <a:solidFill>
              <a:srgbClr val="FFFFFF">
                <a:alpha val="0"/>
              </a:srgbClr>
            </a:solidFill>
            <a:prstDash val="solid"/>
          </a:ln>
        </p:spPr>
      </p:sp>
      <p:sp>
        <p:nvSpPr>
          <p:cNvPr id="10" name="Shape 7"/>
          <p:cNvSpPr/>
          <p:nvPr/>
        </p:nvSpPr>
        <p:spPr>
          <a:xfrm>
            <a:off x="731520" y="1792224"/>
            <a:ext cx="59436" cy="2468880"/>
          </a:xfrm>
          <a:prstGeom prst="rect">
            <a:avLst/>
          </a:prstGeom>
          <a:solidFill>
            <a:srgbClr val="DAA62F"/>
          </a:solidFill>
          <a:ln w="12700">
            <a:solidFill>
              <a:srgbClr val="DAA62F"/>
            </a:solidFill>
            <a:prstDash val="solid"/>
          </a:ln>
        </p:spPr>
      </p:sp>
      <p:sp>
        <p:nvSpPr>
          <p:cNvPr id="11" name="Text 8"/>
          <p:cNvSpPr/>
          <p:nvPr/>
        </p:nvSpPr>
        <p:spPr>
          <a:xfrm>
            <a:off x="950976" y="1965960"/>
            <a:ext cx="4736592" cy="393192"/>
          </a:xfrm>
          <a:prstGeom prst="rect">
            <a:avLst/>
          </a:prstGeom>
          <a:noFill/>
        </p:spPr>
        <p:txBody>
          <a:bodyPr wrap="square" lIns="0" tIns="0" rIns="0" bIns="0" rtlCol="0" anchor="ctr">
            <a:normAutofit/>
          </a:bodyPr>
          <a:lstStyle/>
          <a:p>
            <a:pPr marL="0" indent="0">
              <a:buNone/>
            </a:pPr>
            <a:r>
              <a:rPr lang="en-US" sz="2500" b="1" dirty="0">
                <a:solidFill>
                  <a:srgbClr val="0D2F5F"/>
                </a:solidFill>
                <a:latin typeface="Aptos" pitchFamily="34" charset="0"/>
                <a:ea typeface="Aptos" pitchFamily="34" charset="-122"/>
                <a:cs typeface="Aptos" pitchFamily="34" charset="-120"/>
              </a:rPr>
              <a:t>IPv4</a:t>
            </a:r>
            <a:endParaRPr lang="en-US" sz="2500" dirty="0"/>
          </a:p>
        </p:txBody>
      </p:sp>
      <p:sp>
        <p:nvSpPr>
          <p:cNvPr id="12" name="Text 9"/>
          <p:cNvSpPr/>
          <p:nvPr/>
        </p:nvSpPr>
        <p:spPr>
          <a:xfrm>
            <a:off x="950976" y="2459736"/>
            <a:ext cx="4736592" cy="1636776"/>
          </a:xfrm>
          <a:prstGeom prst="rect">
            <a:avLst/>
          </a:prstGeom>
          <a:noFill/>
        </p:spPr>
        <p:txBody>
          <a:bodyPr wrap="square" lIns="0" tIns="0" rIns="0" bIns="0" rtlCol="0" anchor="t">
            <a:normAutofit/>
          </a:bodyPr>
          <a:lstStyle/>
          <a:p>
            <a:pPr marL="0" indent="0">
              <a:buNone/>
            </a:pPr>
            <a:r>
              <a:rPr lang="en-US" sz="1900" dirty="0">
                <a:solidFill>
                  <a:srgbClr val="63738B"/>
                </a:solidFill>
                <a:latin typeface="Aptos" pitchFamily="34" charset="0"/>
                <a:ea typeface="Aptos" pitchFamily="34" charset="-122"/>
                <a:cs typeface="Aptos" pitchFamily="34" charset="-120"/>
              </a:rPr>
              <a:t>Example: 203.0.113.10</a:t>
            </a:r>
            <a:endParaRPr lang="en-US" sz="1900" dirty="0"/>
          </a:p>
          <a:p>
            <a:pPr marL="0" indent="0">
              <a:buNone/>
            </a:pPr>
            <a:endParaRPr lang="en-US" sz="1900" dirty="0"/>
          </a:p>
          <a:p>
            <a:pPr marL="0" indent="0">
              <a:buNone/>
            </a:pPr>
            <a:r>
              <a:rPr lang="en-US" sz="1900" dirty="0">
                <a:solidFill>
                  <a:srgbClr val="63738B"/>
                </a:solidFill>
                <a:latin typeface="Aptos" pitchFamily="34" charset="0"/>
                <a:ea typeface="Aptos" pitchFamily="34" charset="-122"/>
                <a:cs typeface="Aptos" pitchFamily="34" charset="-120"/>
              </a:rPr>
              <a:t>32-bit addresses; about 4.3 billion possible values.</a:t>
            </a:r>
            <a:endParaRPr lang="en-US" sz="1900" dirty="0"/>
          </a:p>
        </p:txBody>
      </p:sp>
      <p:sp>
        <p:nvSpPr>
          <p:cNvPr id="13" name="Shape 10"/>
          <p:cNvSpPr/>
          <p:nvPr/>
        </p:nvSpPr>
        <p:spPr>
          <a:xfrm>
            <a:off x="6172200" y="1792224"/>
            <a:ext cx="5175504" cy="2468880"/>
          </a:xfrm>
          <a:prstGeom prst="roundRect">
            <a:avLst>
              <a:gd name="adj" fmla="val 5926"/>
            </a:avLst>
          </a:prstGeom>
          <a:solidFill>
            <a:srgbClr val="FFFFFF"/>
          </a:solidFill>
          <a:ln w="12700">
            <a:solidFill>
              <a:srgbClr val="FFFFFF">
                <a:alpha val="0"/>
              </a:srgbClr>
            </a:solidFill>
            <a:prstDash val="solid"/>
          </a:ln>
        </p:spPr>
      </p:sp>
      <p:sp>
        <p:nvSpPr>
          <p:cNvPr id="14" name="Shape 11"/>
          <p:cNvSpPr/>
          <p:nvPr/>
        </p:nvSpPr>
        <p:spPr>
          <a:xfrm>
            <a:off x="6172200" y="1792224"/>
            <a:ext cx="59436" cy="2468880"/>
          </a:xfrm>
          <a:prstGeom prst="rect">
            <a:avLst/>
          </a:prstGeom>
          <a:solidFill>
            <a:srgbClr val="DAA62F"/>
          </a:solidFill>
          <a:ln w="12700">
            <a:solidFill>
              <a:srgbClr val="DAA62F"/>
            </a:solidFill>
            <a:prstDash val="solid"/>
          </a:ln>
        </p:spPr>
      </p:sp>
      <p:sp>
        <p:nvSpPr>
          <p:cNvPr id="15" name="Text 12"/>
          <p:cNvSpPr/>
          <p:nvPr/>
        </p:nvSpPr>
        <p:spPr>
          <a:xfrm>
            <a:off x="6391656" y="1965960"/>
            <a:ext cx="4736592" cy="393192"/>
          </a:xfrm>
          <a:prstGeom prst="rect">
            <a:avLst/>
          </a:prstGeom>
          <a:noFill/>
        </p:spPr>
        <p:txBody>
          <a:bodyPr wrap="square" lIns="0" tIns="0" rIns="0" bIns="0" rtlCol="0" anchor="ctr">
            <a:normAutofit/>
          </a:bodyPr>
          <a:lstStyle/>
          <a:p>
            <a:pPr marL="0" indent="0">
              <a:buNone/>
            </a:pPr>
            <a:r>
              <a:rPr lang="en-US" sz="2500" b="1" dirty="0">
                <a:solidFill>
                  <a:srgbClr val="0D2F5F"/>
                </a:solidFill>
                <a:latin typeface="Aptos" pitchFamily="34" charset="0"/>
                <a:ea typeface="Aptos" pitchFamily="34" charset="-122"/>
                <a:cs typeface="Aptos" pitchFamily="34" charset="-120"/>
              </a:rPr>
              <a:t>IPv6</a:t>
            </a:r>
            <a:endParaRPr lang="en-US" sz="2500" dirty="0"/>
          </a:p>
        </p:txBody>
      </p:sp>
      <p:sp>
        <p:nvSpPr>
          <p:cNvPr id="16" name="Text 13"/>
          <p:cNvSpPr/>
          <p:nvPr/>
        </p:nvSpPr>
        <p:spPr>
          <a:xfrm>
            <a:off x="6391656" y="2459736"/>
            <a:ext cx="4736592" cy="1636776"/>
          </a:xfrm>
          <a:prstGeom prst="rect">
            <a:avLst/>
          </a:prstGeom>
          <a:noFill/>
        </p:spPr>
        <p:txBody>
          <a:bodyPr wrap="square" lIns="0" tIns="0" rIns="0" bIns="0" rtlCol="0" anchor="t">
            <a:normAutofit/>
          </a:bodyPr>
          <a:lstStyle/>
          <a:p>
            <a:pPr marL="0" indent="0">
              <a:buNone/>
            </a:pPr>
            <a:r>
              <a:rPr lang="en-US" sz="1900" dirty="0">
                <a:solidFill>
                  <a:srgbClr val="63738B"/>
                </a:solidFill>
                <a:latin typeface="Aptos" pitchFamily="34" charset="0"/>
                <a:ea typeface="Aptos" pitchFamily="34" charset="-122"/>
                <a:cs typeface="Aptos" pitchFamily="34" charset="-120"/>
              </a:rPr>
              <a:t>Example: 2001:db8::1</a:t>
            </a:r>
            <a:endParaRPr lang="en-US" sz="1900" dirty="0"/>
          </a:p>
          <a:p>
            <a:pPr marL="0" indent="0">
              <a:buNone/>
            </a:pPr>
            <a:endParaRPr lang="en-US" sz="1900" dirty="0"/>
          </a:p>
          <a:p>
            <a:pPr marL="0" indent="0">
              <a:buNone/>
            </a:pPr>
            <a:r>
              <a:rPr lang="en-US" sz="1900" dirty="0">
                <a:solidFill>
                  <a:srgbClr val="63738B"/>
                </a:solidFill>
                <a:latin typeface="Aptos" pitchFamily="34" charset="0"/>
                <a:ea typeface="Aptos" pitchFamily="34" charset="-122"/>
                <a:cs typeface="Aptos" pitchFamily="34" charset="-120"/>
              </a:rPr>
              <a:t>128-bit addresses; vastly more possible addresses.</a:t>
            </a:r>
            <a:endParaRPr lang="en-US" sz="1900" dirty="0"/>
          </a:p>
        </p:txBody>
      </p:sp>
      <p:sp>
        <p:nvSpPr>
          <p:cNvPr id="17" name="Shape 14"/>
          <p:cNvSpPr/>
          <p:nvPr/>
        </p:nvSpPr>
        <p:spPr>
          <a:xfrm>
            <a:off x="1033272" y="4681728"/>
            <a:ext cx="10140696" cy="777240"/>
          </a:xfrm>
          <a:prstGeom prst="roundRect">
            <a:avLst>
              <a:gd name="adj" fmla="val 18824"/>
            </a:avLst>
          </a:prstGeom>
          <a:solidFill>
            <a:srgbClr val="0D2F5F"/>
          </a:solidFill>
          <a:ln w="12700">
            <a:solidFill>
              <a:srgbClr val="0D2F5F">
                <a:alpha val="0"/>
              </a:srgbClr>
            </a:solidFill>
            <a:prstDash val="solid"/>
          </a:ln>
        </p:spPr>
      </p:sp>
      <p:sp>
        <p:nvSpPr>
          <p:cNvPr id="18" name="Text 15"/>
          <p:cNvSpPr/>
          <p:nvPr/>
        </p:nvSpPr>
        <p:spPr>
          <a:xfrm>
            <a:off x="1252728" y="4855464"/>
            <a:ext cx="9683496" cy="429768"/>
          </a:xfrm>
          <a:prstGeom prst="rect">
            <a:avLst/>
          </a:prstGeom>
          <a:noFill/>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127.0.0.1  /  ::1  =  localhost  =  this computer</a:t>
            </a:r>
            <a:endParaRPr lang="en-US" sz="2000" dirty="0"/>
          </a:p>
        </p:txBody>
      </p:sp>
      <p:pic>
        <p:nvPicPr>
          <p:cNvPr id="19" name="Image 0" descr="/mnt/data/cwp-logo-primary-transparent.png"/>
          <p:cNvPicPr>
            <a:picLocks noChangeAspect="1"/>
          </p:cNvPicPr>
          <p:nvPr/>
        </p:nvPicPr>
        <p:blipFill>
          <a:blip r:embed="rId1"/>
          <a:stretch>
            <a:fillRect/>
          </a:stretch>
        </p:blipFill>
        <p:spPr>
          <a:xfrm>
            <a:off x="603250" y="6029325"/>
            <a:ext cx="946150" cy="628650"/>
          </a:xfrm>
          <a:prstGeom prst="rect">
            <a:avLst/>
          </a:prstGeom>
        </p:spPr>
      </p:pic>
      <p:sp>
        <p:nvSpPr>
          <p:cNvPr id="20" name="Text 4"/>
          <p:cNvSpPr/>
          <p:nvPr/>
        </p:nvSpPr>
        <p:spPr>
          <a:xfrm>
            <a:off x="9485884" y="6419850"/>
            <a:ext cx="1746504" cy="219456"/>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codewithprof.com</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DAA62F"/>
          </a:solidFill>
          <a:ln w="12700">
            <a:solidFill>
              <a:srgbClr val="DAA62F"/>
            </a:solidFill>
            <a:prstDash val="solid"/>
          </a:ln>
        </p:spPr>
      </p:sp>
      <p:sp>
        <p:nvSpPr>
          <p:cNvPr id="3" name="Text 1"/>
          <p:cNvSpPr/>
          <p:nvPr/>
        </p:nvSpPr>
        <p:spPr>
          <a:xfrm>
            <a:off x="603504" y="292608"/>
            <a:ext cx="9144000" cy="201168"/>
          </a:xfrm>
          <a:prstGeom prst="rect">
            <a:avLst/>
          </a:prstGeom>
          <a:noFill/>
        </p:spPr>
        <p:txBody>
          <a:bodyPr wrap="square" lIns="0" tIns="0" rIns="0" bIns="0" rtlCol="0" anchor="ctr">
            <a:normAutofit/>
          </a:bodyPr>
          <a:lstStyle/>
          <a:p>
            <a:pPr marL="0" indent="0">
              <a:buNone/>
            </a:pPr>
            <a:r>
              <a:rPr lang="en-US" sz="1000" b="1" kern="0" spc="120" dirty="0">
                <a:solidFill>
                  <a:srgbClr val="63738B"/>
                </a:solidFill>
                <a:latin typeface="Aptos" pitchFamily="34" charset="0"/>
                <a:ea typeface="Aptos" pitchFamily="34" charset="-122"/>
                <a:cs typeface="Aptos" pitchFamily="34" charset="-120"/>
              </a:rPr>
              <a:t>WEEK 01 · FULL-STACK JOURNEY</a:t>
            </a:r>
            <a:endParaRPr lang="en-US" sz="1000" dirty="0"/>
          </a:p>
        </p:txBody>
      </p:sp>
      <p:sp>
        <p:nvSpPr>
          <p:cNvPr id="4" name="Text 2"/>
          <p:cNvSpPr/>
          <p:nvPr/>
        </p:nvSpPr>
        <p:spPr>
          <a:xfrm>
            <a:off x="603504" y="676656"/>
            <a:ext cx="10972800" cy="658368"/>
          </a:xfrm>
          <a:prstGeom prst="rect">
            <a:avLst/>
          </a:prstGeom>
          <a:noFill/>
        </p:spPr>
        <p:txBody>
          <a:bodyPr wrap="square" lIns="0" tIns="0" rIns="0" bIns="0" rtlCol="0" anchor="ctr">
            <a:normAutofit/>
          </a:bodyPr>
          <a:lstStyle/>
          <a:p>
            <a:pPr marL="0" indent="0">
              <a:buNone/>
            </a:pPr>
            <a:r>
              <a:rPr lang="en-US" sz="3100" b="1" dirty="0">
                <a:solidFill>
                  <a:srgbClr val="0D2F5F"/>
                </a:solidFill>
                <a:latin typeface="Aptos" pitchFamily="34" charset="0"/>
                <a:ea typeface="Aptos" pitchFamily="34" charset="-122"/>
                <a:cs typeface="Aptos" pitchFamily="34" charset="-120"/>
              </a:rPr>
              <a:t>DNS: the internet’s address book</a:t>
            </a:r>
            <a:endParaRPr lang="en-US" sz="3100" dirty="0"/>
          </a:p>
        </p:txBody>
      </p:sp>
      <p:sp>
        <p:nvSpPr>
          <p:cNvPr id="5" name="Shape 3"/>
          <p:cNvSpPr/>
          <p:nvPr/>
        </p:nvSpPr>
        <p:spPr>
          <a:xfrm>
            <a:off x="603504" y="1408176"/>
            <a:ext cx="10981944" cy="0"/>
          </a:xfrm>
          <a:prstGeom prst="line">
            <a:avLst/>
          </a:prstGeom>
          <a:noFill/>
          <a:ln w="12700">
            <a:solidFill>
              <a:srgbClr val="DEE5EF"/>
            </a:solidFill>
            <a:prstDash val="solid"/>
            <a:headEnd type="none"/>
            <a:tailEnd type="none"/>
          </a:ln>
        </p:spPr>
      </p:sp>
      <p:sp>
        <p:nvSpPr>
          <p:cNvPr id="8" name="Text 5"/>
          <p:cNvSpPr/>
          <p:nvPr/>
        </p:nvSpPr>
        <p:spPr>
          <a:xfrm>
            <a:off x="11338560" y="6437376"/>
            <a:ext cx="237744" cy="201168"/>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12</a:t>
            </a:r>
            <a:endParaRPr lang="en-US" sz="1000" dirty="0"/>
          </a:p>
        </p:txBody>
      </p:sp>
      <p:sp>
        <p:nvSpPr>
          <p:cNvPr id="9" name="Shape 6"/>
          <p:cNvSpPr/>
          <p:nvPr/>
        </p:nvSpPr>
        <p:spPr>
          <a:xfrm>
            <a:off x="768096" y="1837944"/>
            <a:ext cx="1078992" cy="338328"/>
          </a:xfrm>
          <a:prstGeom prst="roundRect">
            <a:avLst>
              <a:gd name="adj" fmla="val 48649"/>
            </a:avLst>
          </a:prstGeom>
          <a:solidFill>
            <a:srgbClr val="DAA62F"/>
          </a:solidFill>
          <a:ln w="12700">
            <a:solidFill>
              <a:srgbClr val="DAA62F">
                <a:alpha val="0"/>
              </a:srgbClr>
            </a:solidFill>
            <a:prstDash val="solid"/>
          </a:ln>
        </p:spPr>
      </p:sp>
      <p:sp>
        <p:nvSpPr>
          <p:cNvPr id="10" name="Text 7"/>
          <p:cNvSpPr/>
          <p:nvPr/>
        </p:nvSpPr>
        <p:spPr>
          <a:xfrm>
            <a:off x="877824" y="1869948"/>
            <a:ext cx="859536" cy="246888"/>
          </a:xfrm>
          <a:prstGeom prst="rect">
            <a:avLst/>
          </a:prstGeom>
          <a:noFill/>
        </p:spPr>
        <p:txBody>
          <a:bodyPr wrap="square" lIns="0" tIns="0" rIns="0" bIns="0" rtlCol="0" anchor="ctr">
            <a:normAutofit/>
          </a:bodyPr>
          <a:lstStyle/>
          <a:p>
            <a:pPr marL="0" indent="0" algn="ctr">
              <a:buNone/>
            </a:pPr>
            <a:r>
              <a:rPr lang="en-US" sz="1100" b="1" dirty="0">
                <a:solidFill>
                  <a:srgbClr val="092448"/>
                </a:solidFill>
                <a:latin typeface="Aptos" pitchFamily="34" charset="0"/>
                <a:ea typeface="Aptos" pitchFamily="34" charset="-122"/>
                <a:cs typeface="Aptos" pitchFamily="34" charset="-120"/>
              </a:rPr>
              <a:t>NAME</a:t>
            </a:r>
            <a:endParaRPr lang="en-US" sz="1100" dirty="0"/>
          </a:p>
        </p:txBody>
      </p:sp>
      <p:sp>
        <p:nvSpPr>
          <p:cNvPr id="11" name="Shape 8"/>
          <p:cNvSpPr/>
          <p:nvPr/>
        </p:nvSpPr>
        <p:spPr>
          <a:xfrm>
            <a:off x="2029968" y="1728216"/>
            <a:ext cx="2834640" cy="987552"/>
          </a:xfrm>
          <a:prstGeom prst="roundRect">
            <a:avLst>
              <a:gd name="adj" fmla="val 14815"/>
            </a:avLst>
          </a:prstGeom>
          <a:solidFill>
            <a:srgbClr val="FFFFFF"/>
          </a:solidFill>
          <a:ln w="12700">
            <a:solidFill>
              <a:srgbClr val="FFFFFF">
                <a:alpha val="0"/>
              </a:srgbClr>
            </a:solidFill>
            <a:prstDash val="solid"/>
          </a:ln>
        </p:spPr>
      </p:sp>
      <p:sp>
        <p:nvSpPr>
          <p:cNvPr id="12" name="Text 9"/>
          <p:cNvSpPr/>
          <p:nvPr/>
        </p:nvSpPr>
        <p:spPr>
          <a:xfrm>
            <a:off x="2240280" y="2011680"/>
            <a:ext cx="2468880" cy="374904"/>
          </a:xfrm>
          <a:prstGeom prst="rect">
            <a:avLst/>
          </a:prstGeom>
          <a:noFill/>
        </p:spPr>
        <p:txBody>
          <a:bodyPr wrap="square" lIns="0" tIns="0" rIns="0" bIns="0" rtlCol="0" anchor="ctr">
            <a:normAutofit/>
          </a:bodyPr>
          <a:lstStyle/>
          <a:p>
            <a:pPr marL="0" indent="0" algn="ctr">
              <a:buNone/>
            </a:pPr>
            <a:r>
              <a:rPr lang="en-US" sz="2100" b="1" dirty="0">
                <a:solidFill>
                  <a:srgbClr val="0D2F5F"/>
                </a:solidFill>
                <a:latin typeface="Aptos" pitchFamily="34" charset="0"/>
                <a:ea typeface="Aptos" pitchFamily="34" charset="-122"/>
                <a:cs typeface="Aptos" pitchFamily="34" charset="-120"/>
              </a:rPr>
              <a:t>studyhub.example</a:t>
            </a:r>
            <a:endParaRPr lang="en-US" sz="2100" dirty="0"/>
          </a:p>
        </p:txBody>
      </p:sp>
      <p:sp>
        <p:nvSpPr>
          <p:cNvPr id="13" name="Shape 10"/>
          <p:cNvSpPr/>
          <p:nvPr/>
        </p:nvSpPr>
        <p:spPr>
          <a:xfrm>
            <a:off x="5010912" y="2212848"/>
            <a:ext cx="1645920" cy="0"/>
          </a:xfrm>
          <a:prstGeom prst="line">
            <a:avLst/>
          </a:prstGeom>
          <a:noFill/>
          <a:ln w="38100">
            <a:solidFill>
              <a:srgbClr val="DAA62F"/>
            </a:solidFill>
            <a:prstDash val="solid"/>
            <a:headEnd type="none"/>
            <a:tailEnd type="triangle"/>
          </a:ln>
        </p:spPr>
      </p:sp>
      <p:sp>
        <p:nvSpPr>
          <p:cNvPr id="14" name="Shape 11"/>
          <p:cNvSpPr/>
          <p:nvPr/>
        </p:nvSpPr>
        <p:spPr>
          <a:xfrm>
            <a:off x="6793992" y="1728216"/>
            <a:ext cx="3849624" cy="987552"/>
          </a:xfrm>
          <a:prstGeom prst="roundRect">
            <a:avLst>
              <a:gd name="adj" fmla="val 14815"/>
            </a:avLst>
          </a:prstGeom>
          <a:solidFill>
            <a:srgbClr val="FFFFFF"/>
          </a:solidFill>
          <a:ln w="12700">
            <a:solidFill>
              <a:srgbClr val="FFFFFF">
                <a:alpha val="0"/>
              </a:srgbClr>
            </a:solidFill>
            <a:prstDash val="solid"/>
          </a:ln>
        </p:spPr>
      </p:sp>
      <p:sp>
        <p:nvSpPr>
          <p:cNvPr id="15" name="Text 12"/>
          <p:cNvSpPr/>
          <p:nvPr/>
        </p:nvSpPr>
        <p:spPr>
          <a:xfrm>
            <a:off x="7050024" y="2002536"/>
            <a:ext cx="3346704" cy="393192"/>
          </a:xfrm>
          <a:prstGeom prst="rect">
            <a:avLst/>
          </a:prstGeom>
          <a:noFill/>
        </p:spPr>
        <p:txBody>
          <a:bodyPr wrap="square" lIns="0" tIns="0" rIns="0" bIns="0" rtlCol="0" anchor="ctr">
            <a:normAutofit/>
          </a:bodyPr>
          <a:lstStyle/>
          <a:p>
            <a:pPr marL="0" indent="0" algn="ctr">
              <a:buNone/>
            </a:pPr>
            <a:r>
              <a:rPr lang="en-US" sz="2200" b="1" dirty="0">
                <a:solidFill>
                  <a:srgbClr val="0D2F5F"/>
                </a:solidFill>
                <a:latin typeface="Aptos" pitchFamily="34" charset="0"/>
                <a:ea typeface="Aptos" pitchFamily="34" charset="-122"/>
                <a:cs typeface="Aptos" pitchFamily="34" charset="-120"/>
              </a:rPr>
              <a:t>203.0.113.10</a:t>
            </a:r>
            <a:endParaRPr lang="en-US" sz="2200" dirty="0"/>
          </a:p>
        </p:txBody>
      </p:sp>
      <p:sp>
        <p:nvSpPr>
          <p:cNvPr id="16" name="Shape 13"/>
          <p:cNvSpPr/>
          <p:nvPr/>
        </p:nvSpPr>
        <p:spPr>
          <a:xfrm>
            <a:off x="9052560" y="2843784"/>
            <a:ext cx="1554480" cy="338328"/>
          </a:xfrm>
          <a:prstGeom prst="roundRect">
            <a:avLst>
              <a:gd name="adj" fmla="val 48649"/>
            </a:avLst>
          </a:prstGeom>
          <a:solidFill>
            <a:srgbClr val="DAA62F"/>
          </a:solidFill>
          <a:ln w="12700">
            <a:solidFill>
              <a:srgbClr val="DAA62F">
                <a:alpha val="0"/>
              </a:srgbClr>
            </a:solidFill>
            <a:prstDash val="solid"/>
          </a:ln>
        </p:spPr>
      </p:sp>
      <p:sp>
        <p:nvSpPr>
          <p:cNvPr id="17" name="Text 14"/>
          <p:cNvSpPr/>
          <p:nvPr/>
        </p:nvSpPr>
        <p:spPr>
          <a:xfrm>
            <a:off x="9162288" y="2875788"/>
            <a:ext cx="1335024" cy="246888"/>
          </a:xfrm>
          <a:prstGeom prst="rect">
            <a:avLst/>
          </a:prstGeom>
          <a:noFill/>
        </p:spPr>
        <p:txBody>
          <a:bodyPr wrap="square" lIns="0" tIns="0" rIns="0" bIns="0" rtlCol="0" anchor="ctr">
            <a:normAutofit/>
          </a:bodyPr>
          <a:lstStyle/>
          <a:p>
            <a:pPr marL="0" indent="0" algn="ctr">
              <a:buNone/>
            </a:pPr>
            <a:r>
              <a:rPr lang="en-US" sz="1100" b="1" dirty="0">
                <a:solidFill>
                  <a:srgbClr val="092448"/>
                </a:solidFill>
                <a:latin typeface="Aptos" pitchFamily="34" charset="0"/>
                <a:ea typeface="Aptos" pitchFamily="34" charset="-122"/>
                <a:cs typeface="Aptos" pitchFamily="34" charset="-120"/>
              </a:rPr>
              <a:t>ADDRESS</a:t>
            </a:r>
            <a:endParaRPr lang="en-US" sz="1100" dirty="0"/>
          </a:p>
        </p:txBody>
      </p:sp>
      <p:sp>
        <p:nvSpPr>
          <p:cNvPr id="18" name="Shape 15"/>
          <p:cNvSpPr/>
          <p:nvPr/>
        </p:nvSpPr>
        <p:spPr>
          <a:xfrm>
            <a:off x="768096" y="3291840"/>
            <a:ext cx="5056632" cy="1572768"/>
          </a:xfrm>
          <a:prstGeom prst="roundRect">
            <a:avLst>
              <a:gd name="adj" fmla="val 9302"/>
            </a:avLst>
          </a:prstGeom>
          <a:solidFill>
            <a:srgbClr val="FFFFFF"/>
          </a:solidFill>
          <a:ln w="12700">
            <a:solidFill>
              <a:srgbClr val="FFFFFF">
                <a:alpha val="0"/>
              </a:srgbClr>
            </a:solidFill>
            <a:prstDash val="solid"/>
          </a:ln>
        </p:spPr>
      </p:sp>
      <p:sp>
        <p:nvSpPr>
          <p:cNvPr id="19" name="Text 16"/>
          <p:cNvSpPr/>
          <p:nvPr/>
        </p:nvSpPr>
        <p:spPr>
          <a:xfrm>
            <a:off x="987552" y="3465576"/>
            <a:ext cx="4617720" cy="393192"/>
          </a:xfrm>
          <a:prstGeom prst="rect">
            <a:avLst/>
          </a:prstGeom>
          <a:noFill/>
        </p:spPr>
        <p:txBody>
          <a:bodyPr wrap="square" lIns="0" tIns="0" rIns="0" bIns="0" rtlCol="0" anchor="ctr">
            <a:normAutofit/>
          </a:bodyPr>
          <a:lstStyle/>
          <a:p>
            <a:pPr marL="0" indent="0">
              <a:buNone/>
            </a:pPr>
            <a:r>
              <a:rPr lang="en-US" sz="1700" b="1" dirty="0">
                <a:solidFill>
                  <a:srgbClr val="0D2F5F"/>
                </a:solidFill>
                <a:latin typeface="Aptos" pitchFamily="34" charset="0"/>
                <a:ea typeface="Aptos" pitchFamily="34" charset="-122"/>
                <a:cs typeface="Aptos" pitchFamily="34" charset="-120"/>
              </a:rPr>
              <a:t>For everyone</a:t>
            </a:r>
            <a:endParaRPr lang="en-US" sz="1700" dirty="0"/>
          </a:p>
        </p:txBody>
      </p:sp>
      <p:sp>
        <p:nvSpPr>
          <p:cNvPr id="20" name="Text 17"/>
          <p:cNvSpPr/>
          <p:nvPr/>
        </p:nvSpPr>
        <p:spPr>
          <a:xfrm>
            <a:off x="987552" y="3959352"/>
            <a:ext cx="4617720" cy="740664"/>
          </a:xfrm>
          <a:prstGeom prst="rect">
            <a:avLst/>
          </a:prstGeom>
          <a:noFill/>
        </p:spPr>
        <p:txBody>
          <a:bodyPr wrap="square" lIns="0" tIns="0" rIns="0" bIns="0" rtlCol="0" anchor="t">
            <a:normAutofit/>
          </a:bodyPr>
          <a:lstStyle/>
          <a:p>
            <a:pPr marL="0" indent="0">
              <a:buNone/>
            </a:pPr>
            <a:r>
              <a:rPr lang="en-US" sz="1600" dirty="0">
                <a:solidFill>
                  <a:srgbClr val="63738B"/>
                </a:solidFill>
                <a:latin typeface="Aptos" pitchFamily="34" charset="0"/>
                <a:ea typeface="Aptos" pitchFamily="34" charset="-122"/>
                <a:cs typeface="Aptos" pitchFamily="34" charset="-120"/>
              </a:rPr>
              <a:t>DNS translates a readable domain name to a network address.</a:t>
            </a:r>
            <a:endParaRPr lang="en-US" sz="1600" dirty="0"/>
          </a:p>
        </p:txBody>
      </p:sp>
      <p:sp>
        <p:nvSpPr>
          <p:cNvPr id="21" name="Shape 18"/>
          <p:cNvSpPr/>
          <p:nvPr/>
        </p:nvSpPr>
        <p:spPr>
          <a:xfrm>
            <a:off x="6099048" y="3291840"/>
            <a:ext cx="5056632" cy="1572768"/>
          </a:xfrm>
          <a:prstGeom prst="roundRect">
            <a:avLst>
              <a:gd name="adj" fmla="val 9302"/>
            </a:avLst>
          </a:prstGeom>
          <a:solidFill>
            <a:srgbClr val="FFFFFF"/>
          </a:solidFill>
          <a:ln w="12700">
            <a:solidFill>
              <a:srgbClr val="FFFFFF">
                <a:alpha val="0"/>
              </a:srgbClr>
            </a:solidFill>
            <a:prstDash val="solid"/>
          </a:ln>
        </p:spPr>
      </p:sp>
      <p:sp>
        <p:nvSpPr>
          <p:cNvPr id="22" name="Text 19"/>
          <p:cNvSpPr/>
          <p:nvPr/>
        </p:nvSpPr>
        <p:spPr>
          <a:xfrm>
            <a:off x="6318504" y="3465576"/>
            <a:ext cx="4617720" cy="393192"/>
          </a:xfrm>
          <a:prstGeom prst="rect">
            <a:avLst/>
          </a:prstGeom>
          <a:noFill/>
        </p:spPr>
        <p:txBody>
          <a:bodyPr wrap="square" lIns="0" tIns="0" rIns="0" bIns="0" rtlCol="0" anchor="ctr">
            <a:normAutofit/>
          </a:bodyPr>
          <a:lstStyle/>
          <a:p>
            <a:pPr marL="0" indent="0">
              <a:buNone/>
            </a:pPr>
            <a:r>
              <a:rPr lang="en-US" sz="1700" b="1" dirty="0">
                <a:solidFill>
                  <a:srgbClr val="0D2F5F"/>
                </a:solidFill>
                <a:latin typeface="Aptos" pitchFamily="34" charset="0"/>
                <a:ea typeface="Aptos" pitchFamily="34" charset="-122"/>
                <a:cs typeface="Aptos" pitchFamily="34" charset="-120"/>
              </a:rPr>
              <a:t>For advanced learners</a:t>
            </a:r>
            <a:endParaRPr lang="en-US" sz="1700" dirty="0"/>
          </a:p>
        </p:txBody>
      </p:sp>
      <p:sp>
        <p:nvSpPr>
          <p:cNvPr id="23" name="Text 20"/>
          <p:cNvSpPr/>
          <p:nvPr/>
        </p:nvSpPr>
        <p:spPr>
          <a:xfrm>
            <a:off x="6318504" y="3959352"/>
            <a:ext cx="4617720" cy="740664"/>
          </a:xfrm>
          <a:prstGeom prst="rect">
            <a:avLst/>
          </a:prstGeom>
          <a:noFill/>
        </p:spPr>
        <p:txBody>
          <a:bodyPr wrap="square" lIns="0" tIns="0" rIns="0" bIns="0" rtlCol="0" anchor="t">
            <a:normAutofit/>
          </a:bodyPr>
          <a:lstStyle/>
          <a:p>
            <a:pPr marL="0" indent="0">
              <a:buNone/>
            </a:pPr>
            <a:r>
              <a:rPr lang="en-US" sz="1600" dirty="0">
                <a:solidFill>
                  <a:srgbClr val="63738B"/>
                </a:solidFill>
                <a:latin typeface="Aptos" pitchFamily="34" charset="0"/>
                <a:ea typeface="Aptos" pitchFamily="34" charset="-122"/>
                <a:cs typeface="Aptos" pitchFamily="34" charset="-120"/>
              </a:rPr>
              <a:t>Resolvers cache answers; authoritative servers provide records.</a:t>
            </a:r>
            <a:endParaRPr lang="en-US" sz="1600" dirty="0"/>
          </a:p>
        </p:txBody>
      </p:sp>
      <p:sp>
        <p:nvSpPr>
          <p:cNvPr id="24" name="Text 21"/>
          <p:cNvSpPr/>
          <p:nvPr/>
        </p:nvSpPr>
        <p:spPr>
          <a:xfrm>
            <a:off x="841248" y="5230368"/>
            <a:ext cx="10378440" cy="457200"/>
          </a:xfrm>
          <a:prstGeom prst="rect">
            <a:avLst/>
          </a:prstGeom>
          <a:noFill/>
        </p:spPr>
        <p:txBody>
          <a:bodyPr wrap="square" lIns="0" tIns="0" rIns="0" bIns="0" rtlCol="0" anchor="ctr">
            <a:normAutofit/>
          </a:bodyPr>
          <a:lstStyle/>
          <a:p>
            <a:pPr marL="0" indent="0" algn="ctr">
              <a:buNone/>
            </a:pPr>
            <a:r>
              <a:rPr lang="en-US" sz="2000" b="1" dirty="0">
                <a:solidFill>
                  <a:srgbClr val="0D2F5F"/>
                </a:solidFill>
                <a:latin typeface="Aptos" pitchFamily="34" charset="0"/>
                <a:ea typeface="Aptos" pitchFamily="34" charset="-122"/>
                <a:cs typeface="Aptos" pitchFamily="34" charset="-120"/>
              </a:rPr>
              <a:t>Try: Week 01 DNS Explorer</a:t>
            </a:r>
            <a:endParaRPr lang="en-US" sz="2000" dirty="0"/>
          </a:p>
        </p:txBody>
      </p:sp>
      <p:pic>
        <p:nvPicPr>
          <p:cNvPr id="25" name="Image 0" descr="/mnt/data/cwp-logo-primary-transparent.png"/>
          <p:cNvPicPr>
            <a:picLocks noChangeAspect="1"/>
          </p:cNvPicPr>
          <p:nvPr/>
        </p:nvPicPr>
        <p:blipFill>
          <a:blip r:embed="rId1"/>
          <a:stretch>
            <a:fillRect/>
          </a:stretch>
        </p:blipFill>
        <p:spPr>
          <a:xfrm>
            <a:off x="603250" y="6029325"/>
            <a:ext cx="946150" cy="628650"/>
          </a:xfrm>
          <a:prstGeom prst="rect">
            <a:avLst/>
          </a:prstGeom>
        </p:spPr>
      </p:pic>
      <p:sp>
        <p:nvSpPr>
          <p:cNvPr id="26" name="Text 4"/>
          <p:cNvSpPr/>
          <p:nvPr/>
        </p:nvSpPr>
        <p:spPr>
          <a:xfrm>
            <a:off x="9485884" y="6419850"/>
            <a:ext cx="1746504" cy="219456"/>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codewithprof.com</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DAA62F"/>
          </a:solidFill>
          <a:ln w="12700">
            <a:solidFill>
              <a:srgbClr val="DAA62F"/>
            </a:solidFill>
            <a:prstDash val="solid"/>
          </a:ln>
        </p:spPr>
      </p:sp>
      <p:sp>
        <p:nvSpPr>
          <p:cNvPr id="3" name="Text 1"/>
          <p:cNvSpPr/>
          <p:nvPr/>
        </p:nvSpPr>
        <p:spPr>
          <a:xfrm>
            <a:off x="603504" y="292608"/>
            <a:ext cx="9144000" cy="201168"/>
          </a:xfrm>
          <a:prstGeom prst="rect">
            <a:avLst/>
          </a:prstGeom>
          <a:noFill/>
        </p:spPr>
        <p:txBody>
          <a:bodyPr wrap="square" lIns="0" tIns="0" rIns="0" bIns="0" rtlCol="0" anchor="ctr">
            <a:normAutofit/>
          </a:bodyPr>
          <a:lstStyle/>
          <a:p>
            <a:pPr marL="0" indent="0">
              <a:buNone/>
            </a:pPr>
            <a:r>
              <a:rPr lang="en-US" sz="1000" b="1" kern="0" spc="120" dirty="0">
                <a:solidFill>
                  <a:srgbClr val="63738B"/>
                </a:solidFill>
                <a:latin typeface="Aptos" pitchFamily="34" charset="0"/>
                <a:ea typeface="Aptos" pitchFamily="34" charset="-122"/>
                <a:cs typeface="Aptos" pitchFamily="34" charset="-120"/>
              </a:rPr>
              <a:t>WEEK 01 · FULL-STACK JOURNEY</a:t>
            </a:r>
            <a:endParaRPr lang="en-US" sz="1000" dirty="0"/>
          </a:p>
        </p:txBody>
      </p:sp>
      <p:sp>
        <p:nvSpPr>
          <p:cNvPr id="4" name="Text 2"/>
          <p:cNvSpPr/>
          <p:nvPr/>
        </p:nvSpPr>
        <p:spPr>
          <a:xfrm>
            <a:off x="603504" y="676656"/>
            <a:ext cx="10972800" cy="658368"/>
          </a:xfrm>
          <a:prstGeom prst="rect">
            <a:avLst/>
          </a:prstGeom>
          <a:noFill/>
        </p:spPr>
        <p:txBody>
          <a:bodyPr wrap="square" lIns="0" tIns="0" rIns="0" bIns="0" rtlCol="0" anchor="ctr">
            <a:normAutofit/>
          </a:bodyPr>
          <a:lstStyle/>
          <a:p>
            <a:pPr marL="0" indent="0">
              <a:buNone/>
            </a:pPr>
            <a:r>
              <a:rPr lang="en-US" sz="3100" b="1" dirty="0">
                <a:solidFill>
                  <a:srgbClr val="0D2F5F"/>
                </a:solidFill>
                <a:latin typeface="Aptos" pitchFamily="34" charset="0"/>
                <a:ea typeface="Aptos" pitchFamily="34" charset="-122"/>
                <a:cs typeface="Aptos" pitchFamily="34" charset="-120"/>
              </a:rPr>
              <a:t>Anatomy of a URL</a:t>
            </a:r>
            <a:endParaRPr lang="en-US" sz="3100" dirty="0"/>
          </a:p>
        </p:txBody>
      </p:sp>
      <p:sp>
        <p:nvSpPr>
          <p:cNvPr id="5" name="Shape 3"/>
          <p:cNvSpPr/>
          <p:nvPr/>
        </p:nvSpPr>
        <p:spPr>
          <a:xfrm>
            <a:off x="603504" y="1408176"/>
            <a:ext cx="10981944" cy="0"/>
          </a:xfrm>
          <a:prstGeom prst="line">
            <a:avLst/>
          </a:prstGeom>
          <a:noFill/>
          <a:ln w="12700">
            <a:solidFill>
              <a:srgbClr val="DEE5EF"/>
            </a:solidFill>
            <a:prstDash val="solid"/>
            <a:headEnd type="none"/>
            <a:tailEnd type="none"/>
          </a:ln>
        </p:spPr>
      </p:sp>
      <p:sp>
        <p:nvSpPr>
          <p:cNvPr id="8" name="Text 5"/>
          <p:cNvSpPr/>
          <p:nvPr/>
        </p:nvSpPr>
        <p:spPr>
          <a:xfrm>
            <a:off x="11338560" y="6437376"/>
            <a:ext cx="237744" cy="201168"/>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13</a:t>
            </a:r>
            <a:endParaRPr lang="en-US" sz="1000" dirty="0"/>
          </a:p>
        </p:txBody>
      </p:sp>
      <p:sp>
        <p:nvSpPr>
          <p:cNvPr id="9" name="Shape 6"/>
          <p:cNvSpPr/>
          <p:nvPr/>
        </p:nvSpPr>
        <p:spPr>
          <a:xfrm>
            <a:off x="640080" y="1847088"/>
            <a:ext cx="10917936" cy="1033272"/>
          </a:xfrm>
          <a:prstGeom prst="roundRect">
            <a:avLst>
              <a:gd name="adj" fmla="val 14159"/>
            </a:avLst>
          </a:prstGeom>
          <a:solidFill>
            <a:srgbClr val="0D2F5F"/>
          </a:solidFill>
          <a:ln w="12700">
            <a:solidFill>
              <a:srgbClr val="0D2F5F">
                <a:alpha val="0"/>
              </a:srgbClr>
            </a:solidFill>
            <a:prstDash val="solid"/>
          </a:ln>
        </p:spPr>
      </p:sp>
      <p:sp>
        <p:nvSpPr>
          <p:cNvPr id="10" name="Text 7"/>
          <p:cNvSpPr/>
          <p:nvPr/>
        </p:nvSpPr>
        <p:spPr>
          <a:xfrm>
            <a:off x="832104" y="2139696"/>
            <a:ext cx="10515600" cy="356616"/>
          </a:xfrm>
          <a:prstGeom prst="rect">
            <a:avLst/>
          </a:prstGeom>
          <a:noFill/>
        </p:spPr>
        <p:txBody>
          <a:bodyPr wrap="square" lIns="0" tIns="0" rIns="0" bIns="0" rtlCol="0" anchor="ctr">
            <a:normAutofit/>
          </a:bodyPr>
          <a:lstStyle/>
          <a:p>
            <a:pPr marL="0" indent="0" algn="ctr">
              <a:buNone/>
            </a:pPr>
            <a:r>
              <a:rPr lang="en-US" sz="1900" b="1" dirty="0">
                <a:solidFill>
                  <a:srgbClr val="FFFFFF"/>
                </a:solidFill>
                <a:latin typeface="Aptos" pitchFamily="34" charset="0"/>
                <a:ea typeface="Aptos" pitchFamily="34" charset="-122"/>
                <a:cs typeface="Aptos" pitchFamily="34" charset="-120"/>
              </a:rPr>
              <a:t>https://www.studyhub.example:443/courses/maths?level=beginner#reviews</a:t>
            </a:r>
            <a:endParaRPr lang="en-US" sz="1900" dirty="0"/>
          </a:p>
        </p:txBody>
      </p:sp>
      <p:sp>
        <p:nvSpPr>
          <p:cNvPr id="11" name="Shape 8"/>
          <p:cNvSpPr/>
          <p:nvPr/>
        </p:nvSpPr>
        <p:spPr>
          <a:xfrm>
            <a:off x="640080" y="3319272"/>
            <a:ext cx="3465576" cy="868680"/>
          </a:xfrm>
          <a:prstGeom prst="roundRect">
            <a:avLst>
              <a:gd name="adj" fmla="val 16842"/>
            </a:avLst>
          </a:prstGeom>
          <a:solidFill>
            <a:srgbClr val="FFFFFF"/>
          </a:solidFill>
          <a:ln w="12700">
            <a:solidFill>
              <a:srgbClr val="FFFFFF">
                <a:alpha val="0"/>
              </a:srgbClr>
            </a:solidFill>
            <a:prstDash val="solid"/>
          </a:ln>
        </p:spPr>
      </p:sp>
      <p:sp>
        <p:nvSpPr>
          <p:cNvPr id="12" name="Shape 9"/>
          <p:cNvSpPr/>
          <p:nvPr/>
        </p:nvSpPr>
        <p:spPr>
          <a:xfrm>
            <a:off x="640080" y="3319272"/>
            <a:ext cx="59436" cy="868680"/>
          </a:xfrm>
          <a:prstGeom prst="rect">
            <a:avLst/>
          </a:prstGeom>
          <a:solidFill>
            <a:srgbClr val="DAA62F"/>
          </a:solidFill>
          <a:ln w="12700">
            <a:solidFill>
              <a:srgbClr val="DAA62F"/>
            </a:solidFill>
            <a:prstDash val="solid"/>
          </a:ln>
        </p:spPr>
      </p:sp>
      <p:sp>
        <p:nvSpPr>
          <p:cNvPr id="13" name="Text 10"/>
          <p:cNvSpPr/>
          <p:nvPr/>
        </p:nvSpPr>
        <p:spPr>
          <a:xfrm>
            <a:off x="859536" y="3493008"/>
            <a:ext cx="3026664" cy="393192"/>
          </a:xfrm>
          <a:prstGeom prst="rect">
            <a:avLst/>
          </a:prstGeom>
          <a:noFill/>
        </p:spPr>
        <p:txBody>
          <a:bodyPr wrap="square" lIns="0" tIns="0" rIns="0" bIns="0" rtlCol="0" anchor="ctr">
            <a:normAutofit/>
          </a:bodyPr>
          <a:lstStyle/>
          <a:p>
            <a:pPr marL="0" indent="0">
              <a:buNone/>
            </a:pPr>
            <a:r>
              <a:rPr lang="en-US" sz="1300" b="1" dirty="0">
                <a:solidFill>
                  <a:srgbClr val="0D2F5F"/>
                </a:solidFill>
                <a:latin typeface="Aptos" pitchFamily="34" charset="0"/>
                <a:ea typeface="Aptos" pitchFamily="34" charset="-122"/>
                <a:cs typeface="Aptos" pitchFamily="34" charset="-120"/>
              </a:rPr>
              <a:t>PROTOCOL</a:t>
            </a:r>
            <a:endParaRPr lang="en-US" sz="1300" dirty="0"/>
          </a:p>
        </p:txBody>
      </p:sp>
      <p:sp>
        <p:nvSpPr>
          <p:cNvPr id="14" name="Text 11"/>
          <p:cNvSpPr/>
          <p:nvPr/>
        </p:nvSpPr>
        <p:spPr>
          <a:xfrm>
            <a:off x="859536" y="3986784"/>
            <a:ext cx="3026664" cy="36576"/>
          </a:xfrm>
          <a:prstGeom prst="rect">
            <a:avLst/>
          </a:prstGeom>
          <a:noFill/>
        </p:spPr>
        <p:txBody>
          <a:bodyPr wrap="square" lIns="0" tIns="0" rIns="0" bIns="0" rtlCol="0" anchor="t">
            <a:normAutofit fontScale="25000"/>
          </a:bodyPr>
          <a:lstStyle/>
          <a:p>
            <a:pPr marL="0" indent="0">
              <a:buNone/>
            </a:pPr>
            <a:r>
              <a:rPr lang="en-US" sz="1300" dirty="0">
                <a:solidFill>
                  <a:srgbClr val="63738B"/>
                </a:solidFill>
                <a:latin typeface="Aptos" pitchFamily="34" charset="0"/>
                <a:ea typeface="Aptos" pitchFamily="34" charset="-122"/>
                <a:cs typeface="Aptos" pitchFamily="34" charset="-120"/>
              </a:rPr>
              <a:t>https</a:t>
            </a:r>
            <a:endParaRPr lang="en-US" sz="1300" dirty="0"/>
          </a:p>
        </p:txBody>
      </p:sp>
      <p:sp>
        <p:nvSpPr>
          <p:cNvPr id="15" name="Shape 12"/>
          <p:cNvSpPr/>
          <p:nvPr/>
        </p:nvSpPr>
        <p:spPr>
          <a:xfrm>
            <a:off x="4343400" y="3319272"/>
            <a:ext cx="3465576" cy="868680"/>
          </a:xfrm>
          <a:prstGeom prst="roundRect">
            <a:avLst>
              <a:gd name="adj" fmla="val 16842"/>
            </a:avLst>
          </a:prstGeom>
          <a:solidFill>
            <a:srgbClr val="FFFFFF"/>
          </a:solidFill>
          <a:ln w="12700">
            <a:solidFill>
              <a:srgbClr val="FFFFFF">
                <a:alpha val="0"/>
              </a:srgbClr>
            </a:solidFill>
            <a:prstDash val="solid"/>
          </a:ln>
        </p:spPr>
      </p:sp>
      <p:sp>
        <p:nvSpPr>
          <p:cNvPr id="16" name="Shape 13"/>
          <p:cNvSpPr/>
          <p:nvPr/>
        </p:nvSpPr>
        <p:spPr>
          <a:xfrm>
            <a:off x="4343400" y="3319272"/>
            <a:ext cx="59436" cy="868680"/>
          </a:xfrm>
          <a:prstGeom prst="rect">
            <a:avLst/>
          </a:prstGeom>
          <a:solidFill>
            <a:srgbClr val="DAA62F"/>
          </a:solidFill>
          <a:ln w="12700">
            <a:solidFill>
              <a:srgbClr val="DAA62F"/>
            </a:solidFill>
            <a:prstDash val="solid"/>
          </a:ln>
        </p:spPr>
      </p:sp>
      <p:sp>
        <p:nvSpPr>
          <p:cNvPr id="17" name="Text 14"/>
          <p:cNvSpPr/>
          <p:nvPr/>
        </p:nvSpPr>
        <p:spPr>
          <a:xfrm>
            <a:off x="4562856" y="3493008"/>
            <a:ext cx="3026664" cy="393192"/>
          </a:xfrm>
          <a:prstGeom prst="rect">
            <a:avLst/>
          </a:prstGeom>
          <a:noFill/>
        </p:spPr>
        <p:txBody>
          <a:bodyPr wrap="square" lIns="0" tIns="0" rIns="0" bIns="0" rtlCol="0" anchor="ctr">
            <a:normAutofit/>
          </a:bodyPr>
          <a:lstStyle/>
          <a:p>
            <a:pPr marL="0" indent="0">
              <a:buNone/>
            </a:pPr>
            <a:r>
              <a:rPr lang="en-US" sz="1300" b="1" dirty="0">
                <a:solidFill>
                  <a:srgbClr val="0D2F5F"/>
                </a:solidFill>
                <a:latin typeface="Aptos" pitchFamily="34" charset="0"/>
                <a:ea typeface="Aptos" pitchFamily="34" charset="-122"/>
                <a:cs typeface="Aptos" pitchFamily="34" charset="-120"/>
              </a:rPr>
              <a:t>DOMAIN</a:t>
            </a:r>
            <a:endParaRPr lang="en-US" sz="1300" dirty="0"/>
          </a:p>
        </p:txBody>
      </p:sp>
      <p:sp>
        <p:nvSpPr>
          <p:cNvPr id="18" name="Text 15"/>
          <p:cNvSpPr/>
          <p:nvPr/>
        </p:nvSpPr>
        <p:spPr>
          <a:xfrm>
            <a:off x="4562856" y="3986784"/>
            <a:ext cx="3026664" cy="36576"/>
          </a:xfrm>
          <a:prstGeom prst="rect">
            <a:avLst/>
          </a:prstGeom>
          <a:noFill/>
        </p:spPr>
        <p:txBody>
          <a:bodyPr wrap="square" lIns="0" tIns="0" rIns="0" bIns="0" rtlCol="0" anchor="t">
            <a:normAutofit fontScale="25000"/>
          </a:bodyPr>
          <a:lstStyle/>
          <a:p>
            <a:pPr marL="0" indent="0">
              <a:buNone/>
            </a:pPr>
            <a:r>
              <a:rPr lang="en-US" sz="1300" dirty="0">
                <a:solidFill>
                  <a:srgbClr val="63738B"/>
                </a:solidFill>
                <a:latin typeface="Aptos" pitchFamily="34" charset="0"/>
                <a:ea typeface="Aptos" pitchFamily="34" charset="-122"/>
                <a:cs typeface="Aptos" pitchFamily="34" charset="-120"/>
              </a:rPr>
              <a:t>www.studyhub.example</a:t>
            </a:r>
            <a:endParaRPr lang="en-US" sz="1300" dirty="0"/>
          </a:p>
        </p:txBody>
      </p:sp>
      <p:sp>
        <p:nvSpPr>
          <p:cNvPr id="19" name="Shape 16"/>
          <p:cNvSpPr/>
          <p:nvPr/>
        </p:nvSpPr>
        <p:spPr>
          <a:xfrm>
            <a:off x="8046720" y="3319272"/>
            <a:ext cx="3465576" cy="868680"/>
          </a:xfrm>
          <a:prstGeom prst="roundRect">
            <a:avLst>
              <a:gd name="adj" fmla="val 16842"/>
            </a:avLst>
          </a:prstGeom>
          <a:solidFill>
            <a:srgbClr val="FFFFFF"/>
          </a:solidFill>
          <a:ln w="12700">
            <a:solidFill>
              <a:srgbClr val="FFFFFF">
                <a:alpha val="0"/>
              </a:srgbClr>
            </a:solidFill>
            <a:prstDash val="solid"/>
          </a:ln>
        </p:spPr>
      </p:sp>
      <p:sp>
        <p:nvSpPr>
          <p:cNvPr id="20" name="Shape 17"/>
          <p:cNvSpPr/>
          <p:nvPr/>
        </p:nvSpPr>
        <p:spPr>
          <a:xfrm>
            <a:off x="8046720" y="3319272"/>
            <a:ext cx="59436" cy="868680"/>
          </a:xfrm>
          <a:prstGeom prst="rect">
            <a:avLst/>
          </a:prstGeom>
          <a:solidFill>
            <a:srgbClr val="DAA62F"/>
          </a:solidFill>
          <a:ln w="12700">
            <a:solidFill>
              <a:srgbClr val="DAA62F"/>
            </a:solidFill>
            <a:prstDash val="solid"/>
          </a:ln>
        </p:spPr>
      </p:sp>
      <p:sp>
        <p:nvSpPr>
          <p:cNvPr id="21" name="Text 18"/>
          <p:cNvSpPr/>
          <p:nvPr/>
        </p:nvSpPr>
        <p:spPr>
          <a:xfrm>
            <a:off x="8266176" y="3493008"/>
            <a:ext cx="3026664" cy="393192"/>
          </a:xfrm>
          <a:prstGeom prst="rect">
            <a:avLst/>
          </a:prstGeom>
          <a:noFill/>
        </p:spPr>
        <p:txBody>
          <a:bodyPr wrap="square" lIns="0" tIns="0" rIns="0" bIns="0" rtlCol="0" anchor="ctr">
            <a:normAutofit/>
          </a:bodyPr>
          <a:lstStyle/>
          <a:p>
            <a:pPr marL="0" indent="0">
              <a:buNone/>
            </a:pPr>
            <a:r>
              <a:rPr lang="en-US" sz="1300" b="1" dirty="0">
                <a:solidFill>
                  <a:srgbClr val="0D2F5F"/>
                </a:solidFill>
                <a:latin typeface="Aptos" pitchFamily="34" charset="0"/>
                <a:ea typeface="Aptos" pitchFamily="34" charset="-122"/>
                <a:cs typeface="Aptos" pitchFamily="34" charset="-120"/>
              </a:rPr>
              <a:t>PORT</a:t>
            </a:r>
            <a:endParaRPr lang="en-US" sz="1300" dirty="0"/>
          </a:p>
        </p:txBody>
      </p:sp>
      <p:sp>
        <p:nvSpPr>
          <p:cNvPr id="22" name="Text 19"/>
          <p:cNvSpPr/>
          <p:nvPr/>
        </p:nvSpPr>
        <p:spPr>
          <a:xfrm>
            <a:off x="8266176" y="3986784"/>
            <a:ext cx="3026664" cy="36576"/>
          </a:xfrm>
          <a:prstGeom prst="rect">
            <a:avLst/>
          </a:prstGeom>
          <a:noFill/>
        </p:spPr>
        <p:txBody>
          <a:bodyPr wrap="square" lIns="0" tIns="0" rIns="0" bIns="0" rtlCol="0" anchor="t">
            <a:normAutofit fontScale="25000"/>
          </a:bodyPr>
          <a:lstStyle/>
          <a:p>
            <a:pPr marL="0" indent="0">
              <a:buNone/>
            </a:pPr>
            <a:r>
              <a:rPr lang="en-US" sz="1300" dirty="0">
                <a:solidFill>
                  <a:srgbClr val="63738B"/>
                </a:solidFill>
                <a:latin typeface="Aptos" pitchFamily="34" charset="0"/>
                <a:ea typeface="Aptos" pitchFamily="34" charset="-122"/>
                <a:cs typeface="Aptos" pitchFamily="34" charset="-120"/>
              </a:rPr>
              <a:t>443</a:t>
            </a:r>
            <a:endParaRPr lang="en-US" sz="1300" dirty="0"/>
          </a:p>
        </p:txBody>
      </p:sp>
      <p:sp>
        <p:nvSpPr>
          <p:cNvPr id="23" name="Shape 20"/>
          <p:cNvSpPr/>
          <p:nvPr/>
        </p:nvSpPr>
        <p:spPr>
          <a:xfrm>
            <a:off x="640080" y="4361688"/>
            <a:ext cx="3465576" cy="868680"/>
          </a:xfrm>
          <a:prstGeom prst="roundRect">
            <a:avLst>
              <a:gd name="adj" fmla="val 16842"/>
            </a:avLst>
          </a:prstGeom>
          <a:solidFill>
            <a:srgbClr val="FFFFFF"/>
          </a:solidFill>
          <a:ln w="12700">
            <a:solidFill>
              <a:srgbClr val="FFFFFF">
                <a:alpha val="0"/>
              </a:srgbClr>
            </a:solidFill>
            <a:prstDash val="solid"/>
          </a:ln>
        </p:spPr>
      </p:sp>
      <p:sp>
        <p:nvSpPr>
          <p:cNvPr id="24" name="Shape 21"/>
          <p:cNvSpPr/>
          <p:nvPr/>
        </p:nvSpPr>
        <p:spPr>
          <a:xfrm>
            <a:off x="640080" y="4361688"/>
            <a:ext cx="59436" cy="868680"/>
          </a:xfrm>
          <a:prstGeom prst="rect">
            <a:avLst/>
          </a:prstGeom>
          <a:solidFill>
            <a:srgbClr val="DAA62F"/>
          </a:solidFill>
          <a:ln w="12700">
            <a:solidFill>
              <a:srgbClr val="DAA62F"/>
            </a:solidFill>
            <a:prstDash val="solid"/>
          </a:ln>
        </p:spPr>
      </p:sp>
      <p:sp>
        <p:nvSpPr>
          <p:cNvPr id="25" name="Text 22"/>
          <p:cNvSpPr/>
          <p:nvPr/>
        </p:nvSpPr>
        <p:spPr>
          <a:xfrm>
            <a:off x="859536" y="4535424"/>
            <a:ext cx="3026664" cy="393192"/>
          </a:xfrm>
          <a:prstGeom prst="rect">
            <a:avLst/>
          </a:prstGeom>
          <a:noFill/>
        </p:spPr>
        <p:txBody>
          <a:bodyPr wrap="square" lIns="0" tIns="0" rIns="0" bIns="0" rtlCol="0" anchor="ctr">
            <a:normAutofit/>
          </a:bodyPr>
          <a:lstStyle/>
          <a:p>
            <a:pPr marL="0" indent="0">
              <a:buNone/>
            </a:pPr>
            <a:r>
              <a:rPr lang="en-US" sz="1300" b="1" dirty="0">
                <a:solidFill>
                  <a:srgbClr val="0D2F5F"/>
                </a:solidFill>
                <a:latin typeface="Aptos" pitchFamily="34" charset="0"/>
                <a:ea typeface="Aptos" pitchFamily="34" charset="-122"/>
                <a:cs typeface="Aptos" pitchFamily="34" charset="-120"/>
              </a:rPr>
              <a:t>PATH</a:t>
            </a:r>
            <a:endParaRPr lang="en-US" sz="1300" dirty="0"/>
          </a:p>
        </p:txBody>
      </p:sp>
      <p:sp>
        <p:nvSpPr>
          <p:cNvPr id="26" name="Text 23"/>
          <p:cNvSpPr/>
          <p:nvPr/>
        </p:nvSpPr>
        <p:spPr>
          <a:xfrm>
            <a:off x="859536" y="5029200"/>
            <a:ext cx="3026664" cy="36576"/>
          </a:xfrm>
          <a:prstGeom prst="rect">
            <a:avLst/>
          </a:prstGeom>
          <a:noFill/>
        </p:spPr>
        <p:txBody>
          <a:bodyPr wrap="square" lIns="0" tIns="0" rIns="0" bIns="0" rtlCol="0" anchor="t">
            <a:normAutofit fontScale="25000"/>
          </a:bodyPr>
          <a:lstStyle/>
          <a:p>
            <a:pPr marL="0" indent="0">
              <a:buNone/>
            </a:pPr>
            <a:r>
              <a:rPr lang="en-US" sz="1300" dirty="0">
                <a:solidFill>
                  <a:srgbClr val="63738B"/>
                </a:solidFill>
                <a:latin typeface="Aptos" pitchFamily="34" charset="0"/>
                <a:ea typeface="Aptos" pitchFamily="34" charset="-122"/>
                <a:cs typeface="Aptos" pitchFamily="34" charset="-120"/>
              </a:rPr>
              <a:t>/courses/maths</a:t>
            </a:r>
            <a:endParaRPr lang="en-US" sz="1300" dirty="0"/>
          </a:p>
        </p:txBody>
      </p:sp>
      <p:sp>
        <p:nvSpPr>
          <p:cNvPr id="27" name="Shape 24"/>
          <p:cNvSpPr/>
          <p:nvPr/>
        </p:nvSpPr>
        <p:spPr>
          <a:xfrm>
            <a:off x="4343400" y="4361688"/>
            <a:ext cx="3465576" cy="868680"/>
          </a:xfrm>
          <a:prstGeom prst="roundRect">
            <a:avLst>
              <a:gd name="adj" fmla="val 16842"/>
            </a:avLst>
          </a:prstGeom>
          <a:solidFill>
            <a:srgbClr val="FFFFFF"/>
          </a:solidFill>
          <a:ln w="12700">
            <a:solidFill>
              <a:srgbClr val="FFFFFF">
                <a:alpha val="0"/>
              </a:srgbClr>
            </a:solidFill>
            <a:prstDash val="solid"/>
          </a:ln>
        </p:spPr>
      </p:sp>
      <p:sp>
        <p:nvSpPr>
          <p:cNvPr id="28" name="Shape 25"/>
          <p:cNvSpPr/>
          <p:nvPr/>
        </p:nvSpPr>
        <p:spPr>
          <a:xfrm>
            <a:off x="4343400" y="4361688"/>
            <a:ext cx="59436" cy="868680"/>
          </a:xfrm>
          <a:prstGeom prst="rect">
            <a:avLst/>
          </a:prstGeom>
          <a:solidFill>
            <a:srgbClr val="DAA62F"/>
          </a:solidFill>
          <a:ln w="12700">
            <a:solidFill>
              <a:srgbClr val="DAA62F"/>
            </a:solidFill>
            <a:prstDash val="solid"/>
          </a:ln>
        </p:spPr>
      </p:sp>
      <p:sp>
        <p:nvSpPr>
          <p:cNvPr id="29" name="Text 26"/>
          <p:cNvSpPr/>
          <p:nvPr/>
        </p:nvSpPr>
        <p:spPr>
          <a:xfrm>
            <a:off x="4562856" y="4535424"/>
            <a:ext cx="3026664" cy="393192"/>
          </a:xfrm>
          <a:prstGeom prst="rect">
            <a:avLst/>
          </a:prstGeom>
          <a:noFill/>
        </p:spPr>
        <p:txBody>
          <a:bodyPr wrap="square" lIns="0" tIns="0" rIns="0" bIns="0" rtlCol="0" anchor="ctr">
            <a:normAutofit/>
          </a:bodyPr>
          <a:lstStyle/>
          <a:p>
            <a:pPr marL="0" indent="0">
              <a:buNone/>
            </a:pPr>
            <a:r>
              <a:rPr lang="en-US" sz="1300" b="1" dirty="0">
                <a:solidFill>
                  <a:srgbClr val="0D2F5F"/>
                </a:solidFill>
                <a:latin typeface="Aptos" pitchFamily="34" charset="0"/>
                <a:ea typeface="Aptos" pitchFamily="34" charset="-122"/>
                <a:cs typeface="Aptos" pitchFamily="34" charset="-120"/>
              </a:rPr>
              <a:t>QUERY</a:t>
            </a:r>
            <a:endParaRPr lang="en-US" sz="1300" dirty="0"/>
          </a:p>
        </p:txBody>
      </p:sp>
      <p:sp>
        <p:nvSpPr>
          <p:cNvPr id="30" name="Text 27"/>
          <p:cNvSpPr/>
          <p:nvPr/>
        </p:nvSpPr>
        <p:spPr>
          <a:xfrm>
            <a:off x="4562856" y="5029200"/>
            <a:ext cx="3026664" cy="36576"/>
          </a:xfrm>
          <a:prstGeom prst="rect">
            <a:avLst/>
          </a:prstGeom>
          <a:noFill/>
        </p:spPr>
        <p:txBody>
          <a:bodyPr wrap="square" lIns="0" tIns="0" rIns="0" bIns="0" rtlCol="0" anchor="t">
            <a:normAutofit fontScale="25000"/>
          </a:bodyPr>
          <a:lstStyle/>
          <a:p>
            <a:pPr marL="0" indent="0">
              <a:buNone/>
            </a:pPr>
            <a:r>
              <a:rPr lang="en-US" sz="1300" dirty="0">
                <a:solidFill>
                  <a:srgbClr val="63738B"/>
                </a:solidFill>
                <a:latin typeface="Aptos" pitchFamily="34" charset="0"/>
                <a:ea typeface="Aptos" pitchFamily="34" charset="-122"/>
                <a:cs typeface="Aptos" pitchFamily="34" charset="-120"/>
              </a:rPr>
              <a:t>?level=beginner</a:t>
            </a:r>
            <a:endParaRPr lang="en-US" sz="1300" dirty="0"/>
          </a:p>
        </p:txBody>
      </p:sp>
      <p:sp>
        <p:nvSpPr>
          <p:cNvPr id="31" name="Shape 28"/>
          <p:cNvSpPr/>
          <p:nvPr/>
        </p:nvSpPr>
        <p:spPr>
          <a:xfrm>
            <a:off x="8046720" y="4361688"/>
            <a:ext cx="3465576" cy="868680"/>
          </a:xfrm>
          <a:prstGeom prst="roundRect">
            <a:avLst>
              <a:gd name="adj" fmla="val 16842"/>
            </a:avLst>
          </a:prstGeom>
          <a:solidFill>
            <a:srgbClr val="FFFFFF"/>
          </a:solidFill>
          <a:ln w="12700">
            <a:solidFill>
              <a:srgbClr val="FFFFFF">
                <a:alpha val="0"/>
              </a:srgbClr>
            </a:solidFill>
            <a:prstDash val="solid"/>
          </a:ln>
        </p:spPr>
      </p:sp>
      <p:sp>
        <p:nvSpPr>
          <p:cNvPr id="32" name="Shape 29"/>
          <p:cNvSpPr/>
          <p:nvPr/>
        </p:nvSpPr>
        <p:spPr>
          <a:xfrm>
            <a:off x="8046720" y="4361688"/>
            <a:ext cx="59436" cy="868680"/>
          </a:xfrm>
          <a:prstGeom prst="rect">
            <a:avLst/>
          </a:prstGeom>
          <a:solidFill>
            <a:srgbClr val="DAA62F"/>
          </a:solidFill>
          <a:ln w="12700">
            <a:solidFill>
              <a:srgbClr val="DAA62F"/>
            </a:solidFill>
            <a:prstDash val="solid"/>
          </a:ln>
        </p:spPr>
      </p:sp>
      <p:sp>
        <p:nvSpPr>
          <p:cNvPr id="33" name="Text 30"/>
          <p:cNvSpPr/>
          <p:nvPr/>
        </p:nvSpPr>
        <p:spPr>
          <a:xfrm>
            <a:off x="8266176" y="4535424"/>
            <a:ext cx="3026664" cy="393192"/>
          </a:xfrm>
          <a:prstGeom prst="rect">
            <a:avLst/>
          </a:prstGeom>
          <a:noFill/>
        </p:spPr>
        <p:txBody>
          <a:bodyPr wrap="square" lIns="0" tIns="0" rIns="0" bIns="0" rtlCol="0" anchor="ctr">
            <a:normAutofit/>
          </a:bodyPr>
          <a:lstStyle/>
          <a:p>
            <a:pPr marL="0" indent="0">
              <a:buNone/>
            </a:pPr>
            <a:r>
              <a:rPr lang="en-US" sz="1300" b="1" dirty="0">
                <a:solidFill>
                  <a:srgbClr val="0D2F5F"/>
                </a:solidFill>
                <a:latin typeface="Aptos" pitchFamily="34" charset="0"/>
                <a:ea typeface="Aptos" pitchFamily="34" charset="-122"/>
                <a:cs typeface="Aptos" pitchFamily="34" charset="-120"/>
              </a:rPr>
              <a:t>FRAGMENT</a:t>
            </a:r>
            <a:endParaRPr lang="en-US" sz="1300" dirty="0"/>
          </a:p>
        </p:txBody>
      </p:sp>
      <p:sp>
        <p:nvSpPr>
          <p:cNvPr id="34" name="Text 31"/>
          <p:cNvSpPr/>
          <p:nvPr/>
        </p:nvSpPr>
        <p:spPr>
          <a:xfrm>
            <a:off x="8266176" y="5029200"/>
            <a:ext cx="3026664" cy="36576"/>
          </a:xfrm>
          <a:prstGeom prst="rect">
            <a:avLst/>
          </a:prstGeom>
          <a:noFill/>
        </p:spPr>
        <p:txBody>
          <a:bodyPr wrap="square" lIns="0" tIns="0" rIns="0" bIns="0" rtlCol="0" anchor="t">
            <a:normAutofit fontScale="25000"/>
          </a:bodyPr>
          <a:lstStyle/>
          <a:p>
            <a:pPr marL="0" indent="0">
              <a:buNone/>
            </a:pPr>
            <a:r>
              <a:rPr lang="en-US" sz="1300" dirty="0">
                <a:solidFill>
                  <a:srgbClr val="63738B"/>
                </a:solidFill>
                <a:latin typeface="Aptos" pitchFamily="34" charset="0"/>
                <a:ea typeface="Aptos" pitchFamily="34" charset="-122"/>
                <a:cs typeface="Aptos" pitchFamily="34" charset="-120"/>
              </a:rPr>
              <a:t>#reviews</a:t>
            </a:r>
            <a:endParaRPr lang="en-US" sz="1300" dirty="0"/>
          </a:p>
        </p:txBody>
      </p:sp>
      <p:pic>
        <p:nvPicPr>
          <p:cNvPr id="35" name="Image 0" descr="/mnt/data/cwp-logo-primary-transparent.png"/>
          <p:cNvPicPr>
            <a:picLocks noChangeAspect="1"/>
          </p:cNvPicPr>
          <p:nvPr/>
        </p:nvPicPr>
        <p:blipFill>
          <a:blip r:embed="rId1"/>
          <a:stretch>
            <a:fillRect/>
          </a:stretch>
        </p:blipFill>
        <p:spPr>
          <a:xfrm>
            <a:off x="603250" y="6029325"/>
            <a:ext cx="946150" cy="628650"/>
          </a:xfrm>
          <a:prstGeom prst="rect">
            <a:avLst/>
          </a:prstGeom>
        </p:spPr>
      </p:pic>
      <p:sp>
        <p:nvSpPr>
          <p:cNvPr id="36" name="Text 4"/>
          <p:cNvSpPr/>
          <p:nvPr/>
        </p:nvSpPr>
        <p:spPr>
          <a:xfrm>
            <a:off x="9485884" y="6419850"/>
            <a:ext cx="1746504" cy="219456"/>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codewithprof.com</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DAA62F"/>
          </a:solidFill>
          <a:ln w="12700">
            <a:solidFill>
              <a:srgbClr val="DAA62F"/>
            </a:solidFill>
            <a:prstDash val="solid"/>
          </a:ln>
        </p:spPr>
      </p:sp>
      <p:sp>
        <p:nvSpPr>
          <p:cNvPr id="3" name="Text 1"/>
          <p:cNvSpPr/>
          <p:nvPr/>
        </p:nvSpPr>
        <p:spPr>
          <a:xfrm>
            <a:off x="603504" y="292608"/>
            <a:ext cx="9144000" cy="201168"/>
          </a:xfrm>
          <a:prstGeom prst="rect">
            <a:avLst/>
          </a:prstGeom>
          <a:noFill/>
        </p:spPr>
        <p:txBody>
          <a:bodyPr wrap="square" lIns="0" tIns="0" rIns="0" bIns="0" rtlCol="0" anchor="ctr">
            <a:normAutofit/>
          </a:bodyPr>
          <a:lstStyle/>
          <a:p>
            <a:pPr marL="0" indent="0">
              <a:buNone/>
            </a:pPr>
            <a:r>
              <a:rPr lang="en-US" sz="1000" b="1" kern="0" spc="120" dirty="0">
                <a:solidFill>
                  <a:srgbClr val="63738B"/>
                </a:solidFill>
                <a:latin typeface="Aptos" pitchFamily="34" charset="0"/>
                <a:ea typeface="Aptos" pitchFamily="34" charset="-122"/>
                <a:cs typeface="Aptos" pitchFamily="34" charset="-120"/>
              </a:rPr>
              <a:t>WEEK 01 · FULL-STACK JOURNEY</a:t>
            </a:r>
            <a:endParaRPr lang="en-US" sz="1000" dirty="0"/>
          </a:p>
        </p:txBody>
      </p:sp>
      <p:sp>
        <p:nvSpPr>
          <p:cNvPr id="4" name="Text 2"/>
          <p:cNvSpPr/>
          <p:nvPr/>
        </p:nvSpPr>
        <p:spPr>
          <a:xfrm>
            <a:off x="603504" y="676656"/>
            <a:ext cx="10972800" cy="658368"/>
          </a:xfrm>
          <a:prstGeom prst="rect">
            <a:avLst/>
          </a:prstGeom>
          <a:noFill/>
        </p:spPr>
        <p:txBody>
          <a:bodyPr wrap="square" lIns="0" tIns="0" rIns="0" bIns="0" rtlCol="0" anchor="ctr">
            <a:normAutofit/>
          </a:bodyPr>
          <a:lstStyle/>
          <a:p>
            <a:pPr marL="0" indent="0">
              <a:buNone/>
            </a:pPr>
            <a:r>
              <a:rPr lang="en-US" sz="3100" b="1" dirty="0">
                <a:solidFill>
                  <a:srgbClr val="0D2F5F"/>
                </a:solidFill>
                <a:latin typeface="Aptos" pitchFamily="34" charset="0"/>
                <a:ea typeface="Aptos" pitchFamily="34" charset="-122"/>
                <a:cs typeface="Aptos" pitchFamily="34" charset="-120"/>
              </a:rPr>
              <a:t>HTTP and HTTPS</a:t>
            </a:r>
            <a:endParaRPr lang="en-US" sz="3100" dirty="0"/>
          </a:p>
        </p:txBody>
      </p:sp>
      <p:sp>
        <p:nvSpPr>
          <p:cNvPr id="5" name="Shape 3"/>
          <p:cNvSpPr/>
          <p:nvPr/>
        </p:nvSpPr>
        <p:spPr>
          <a:xfrm>
            <a:off x="603504" y="1408176"/>
            <a:ext cx="10981944" cy="0"/>
          </a:xfrm>
          <a:prstGeom prst="line">
            <a:avLst/>
          </a:prstGeom>
          <a:noFill/>
          <a:ln w="12700">
            <a:solidFill>
              <a:srgbClr val="DEE5EF"/>
            </a:solidFill>
            <a:prstDash val="solid"/>
            <a:headEnd type="none"/>
            <a:tailEnd type="none"/>
          </a:ln>
        </p:spPr>
      </p:sp>
      <p:sp>
        <p:nvSpPr>
          <p:cNvPr id="8" name="Text 5"/>
          <p:cNvSpPr/>
          <p:nvPr/>
        </p:nvSpPr>
        <p:spPr>
          <a:xfrm>
            <a:off x="11338560" y="6437376"/>
            <a:ext cx="237744" cy="201168"/>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14</a:t>
            </a:r>
            <a:endParaRPr lang="en-US" sz="1000" dirty="0"/>
          </a:p>
        </p:txBody>
      </p:sp>
      <p:sp>
        <p:nvSpPr>
          <p:cNvPr id="9" name="Shape 6"/>
          <p:cNvSpPr/>
          <p:nvPr/>
        </p:nvSpPr>
        <p:spPr>
          <a:xfrm>
            <a:off x="685800" y="1810512"/>
            <a:ext cx="5157216" cy="2377440"/>
          </a:xfrm>
          <a:prstGeom prst="roundRect">
            <a:avLst>
              <a:gd name="adj" fmla="val 6154"/>
            </a:avLst>
          </a:prstGeom>
          <a:solidFill>
            <a:srgbClr val="FFFFFF"/>
          </a:solidFill>
          <a:ln w="12700">
            <a:solidFill>
              <a:srgbClr val="FFFFFF">
                <a:alpha val="0"/>
              </a:srgbClr>
            </a:solidFill>
            <a:prstDash val="solid"/>
          </a:ln>
        </p:spPr>
      </p:sp>
      <p:sp>
        <p:nvSpPr>
          <p:cNvPr id="10" name="Shape 7"/>
          <p:cNvSpPr/>
          <p:nvPr/>
        </p:nvSpPr>
        <p:spPr>
          <a:xfrm>
            <a:off x="685800" y="1810512"/>
            <a:ext cx="59436" cy="2377440"/>
          </a:xfrm>
          <a:prstGeom prst="rect">
            <a:avLst/>
          </a:prstGeom>
          <a:solidFill>
            <a:srgbClr val="DAA62F"/>
          </a:solidFill>
          <a:ln w="12700">
            <a:solidFill>
              <a:srgbClr val="DAA62F"/>
            </a:solidFill>
            <a:prstDash val="solid"/>
          </a:ln>
        </p:spPr>
      </p:sp>
      <p:sp>
        <p:nvSpPr>
          <p:cNvPr id="11" name="Text 8"/>
          <p:cNvSpPr/>
          <p:nvPr/>
        </p:nvSpPr>
        <p:spPr>
          <a:xfrm>
            <a:off x="905256" y="1984248"/>
            <a:ext cx="4718304" cy="393192"/>
          </a:xfrm>
          <a:prstGeom prst="rect">
            <a:avLst/>
          </a:prstGeom>
          <a:noFill/>
        </p:spPr>
        <p:txBody>
          <a:bodyPr wrap="square" lIns="0" tIns="0" rIns="0" bIns="0" rtlCol="0" anchor="ctr">
            <a:normAutofit/>
          </a:bodyPr>
          <a:lstStyle/>
          <a:p>
            <a:pPr marL="0" indent="0">
              <a:buNone/>
            </a:pPr>
            <a:r>
              <a:rPr lang="en-US" sz="2500" b="1" dirty="0">
                <a:solidFill>
                  <a:srgbClr val="0D2F5F"/>
                </a:solidFill>
                <a:latin typeface="Aptos" pitchFamily="34" charset="0"/>
                <a:ea typeface="Aptos" pitchFamily="34" charset="-122"/>
                <a:cs typeface="Aptos" pitchFamily="34" charset="-120"/>
              </a:rPr>
              <a:t>HTTP</a:t>
            </a:r>
            <a:endParaRPr lang="en-US" sz="2500" dirty="0"/>
          </a:p>
        </p:txBody>
      </p:sp>
      <p:sp>
        <p:nvSpPr>
          <p:cNvPr id="12" name="Text 9"/>
          <p:cNvSpPr/>
          <p:nvPr/>
        </p:nvSpPr>
        <p:spPr>
          <a:xfrm>
            <a:off x="905256" y="2478024"/>
            <a:ext cx="4718304" cy="1545336"/>
          </a:xfrm>
          <a:prstGeom prst="rect">
            <a:avLst/>
          </a:prstGeom>
          <a:noFill/>
        </p:spPr>
        <p:txBody>
          <a:bodyPr wrap="square" lIns="0" tIns="0" rIns="0" bIns="0" rtlCol="0" anchor="t">
            <a:normAutofit/>
          </a:bodyPr>
          <a:lstStyle/>
          <a:p>
            <a:pPr marL="0" indent="0">
              <a:buNone/>
            </a:pPr>
            <a:r>
              <a:rPr lang="en-US" sz="1900" dirty="0">
                <a:solidFill>
                  <a:srgbClr val="63738B"/>
                </a:solidFill>
                <a:latin typeface="Aptos" pitchFamily="34" charset="0"/>
                <a:ea typeface="Aptos" pitchFamily="34" charset="-122"/>
                <a:cs typeface="Aptos" pitchFamily="34" charset="-120"/>
              </a:rPr>
              <a:t>Rules for requests and responses.</a:t>
            </a:r>
            <a:endParaRPr lang="en-US" sz="1900" dirty="0"/>
          </a:p>
          <a:p>
            <a:pPr marL="0" indent="0">
              <a:buNone/>
            </a:pPr>
            <a:endParaRPr lang="en-US" sz="1900" dirty="0"/>
          </a:p>
          <a:p>
            <a:pPr marL="0" indent="0">
              <a:buNone/>
            </a:pPr>
            <a:r>
              <a:rPr lang="en-US" sz="1900" dirty="0">
                <a:solidFill>
                  <a:srgbClr val="63738B"/>
                </a:solidFill>
                <a:latin typeface="Aptos" pitchFamily="34" charset="0"/>
                <a:ea typeface="Aptos" pitchFamily="34" charset="-122"/>
                <a:cs typeface="Aptos" pitchFamily="34" charset="-120"/>
              </a:rPr>
              <a:t>A message includes a method, path, headers and sometimes a body.</a:t>
            </a:r>
            <a:endParaRPr lang="en-US" sz="1900" dirty="0"/>
          </a:p>
        </p:txBody>
      </p:sp>
      <p:sp>
        <p:nvSpPr>
          <p:cNvPr id="13" name="Shape 10"/>
          <p:cNvSpPr/>
          <p:nvPr/>
        </p:nvSpPr>
        <p:spPr>
          <a:xfrm>
            <a:off x="6254496" y="1810512"/>
            <a:ext cx="5157216" cy="2377440"/>
          </a:xfrm>
          <a:prstGeom prst="roundRect">
            <a:avLst>
              <a:gd name="adj" fmla="val 6154"/>
            </a:avLst>
          </a:prstGeom>
          <a:solidFill>
            <a:srgbClr val="FFFFFF"/>
          </a:solidFill>
          <a:ln w="12700">
            <a:solidFill>
              <a:srgbClr val="FFFFFF">
                <a:alpha val="0"/>
              </a:srgbClr>
            </a:solidFill>
            <a:prstDash val="solid"/>
          </a:ln>
        </p:spPr>
      </p:sp>
      <p:sp>
        <p:nvSpPr>
          <p:cNvPr id="14" name="Shape 11"/>
          <p:cNvSpPr/>
          <p:nvPr/>
        </p:nvSpPr>
        <p:spPr>
          <a:xfrm>
            <a:off x="6254496" y="1810512"/>
            <a:ext cx="59436" cy="2377440"/>
          </a:xfrm>
          <a:prstGeom prst="rect">
            <a:avLst/>
          </a:prstGeom>
          <a:solidFill>
            <a:srgbClr val="197B66"/>
          </a:solidFill>
          <a:ln w="12700">
            <a:solidFill>
              <a:srgbClr val="197B66"/>
            </a:solidFill>
            <a:prstDash val="solid"/>
          </a:ln>
        </p:spPr>
      </p:sp>
      <p:sp>
        <p:nvSpPr>
          <p:cNvPr id="15" name="Text 12"/>
          <p:cNvSpPr/>
          <p:nvPr/>
        </p:nvSpPr>
        <p:spPr>
          <a:xfrm>
            <a:off x="6473952" y="1984248"/>
            <a:ext cx="4718304" cy="393192"/>
          </a:xfrm>
          <a:prstGeom prst="rect">
            <a:avLst/>
          </a:prstGeom>
          <a:noFill/>
        </p:spPr>
        <p:txBody>
          <a:bodyPr wrap="square" lIns="0" tIns="0" rIns="0" bIns="0" rtlCol="0" anchor="ctr">
            <a:normAutofit/>
          </a:bodyPr>
          <a:lstStyle/>
          <a:p>
            <a:pPr marL="0" indent="0">
              <a:buNone/>
            </a:pPr>
            <a:r>
              <a:rPr lang="en-US" sz="2500" b="1" dirty="0">
                <a:solidFill>
                  <a:srgbClr val="0D2F5F"/>
                </a:solidFill>
                <a:latin typeface="Aptos" pitchFamily="34" charset="0"/>
                <a:ea typeface="Aptos" pitchFamily="34" charset="-122"/>
                <a:cs typeface="Aptos" pitchFamily="34" charset="-120"/>
              </a:rPr>
              <a:t>HTTPS</a:t>
            </a:r>
            <a:endParaRPr lang="en-US" sz="2500" dirty="0"/>
          </a:p>
        </p:txBody>
      </p:sp>
      <p:sp>
        <p:nvSpPr>
          <p:cNvPr id="16" name="Text 13"/>
          <p:cNvSpPr/>
          <p:nvPr/>
        </p:nvSpPr>
        <p:spPr>
          <a:xfrm>
            <a:off x="6473952" y="2478024"/>
            <a:ext cx="4718304" cy="1545336"/>
          </a:xfrm>
          <a:prstGeom prst="rect">
            <a:avLst/>
          </a:prstGeom>
          <a:noFill/>
        </p:spPr>
        <p:txBody>
          <a:bodyPr wrap="square" lIns="0" tIns="0" rIns="0" bIns="0" rtlCol="0" anchor="t">
            <a:normAutofit/>
          </a:bodyPr>
          <a:lstStyle/>
          <a:p>
            <a:pPr marL="0" indent="0">
              <a:buNone/>
            </a:pPr>
            <a:r>
              <a:rPr lang="en-US" sz="1800" dirty="0">
                <a:solidFill>
                  <a:srgbClr val="63738B"/>
                </a:solidFill>
                <a:latin typeface="Aptos" pitchFamily="34" charset="0"/>
                <a:ea typeface="Aptos" pitchFamily="34" charset="-122"/>
                <a:cs typeface="Aptos" pitchFamily="34" charset="-120"/>
              </a:rPr>
              <a:t>HTTP protected by TLS encryption and server authentication.</a:t>
            </a:r>
            <a:endParaRPr lang="en-US" sz="1800" dirty="0"/>
          </a:p>
          <a:p>
            <a:pPr marL="0" indent="0">
              <a:buNone/>
            </a:pPr>
            <a:endParaRPr lang="en-US" sz="1800" dirty="0"/>
          </a:p>
          <a:p>
            <a:pPr marL="0" indent="0">
              <a:buNone/>
            </a:pPr>
            <a:r>
              <a:rPr lang="en-US" sz="1800" dirty="0">
                <a:solidFill>
                  <a:srgbClr val="63738B"/>
                </a:solidFill>
                <a:latin typeface="Aptos" pitchFamily="34" charset="0"/>
                <a:ea typeface="Aptos" pitchFamily="34" charset="-122"/>
                <a:cs typeface="Aptos" pitchFamily="34" charset="-120"/>
              </a:rPr>
              <a:t>Others on the network cannot easily read or alter the exchange.</a:t>
            </a:r>
            <a:endParaRPr lang="en-US" sz="1800" dirty="0"/>
          </a:p>
        </p:txBody>
      </p:sp>
      <p:sp>
        <p:nvSpPr>
          <p:cNvPr id="17" name="Shape 14"/>
          <p:cNvSpPr/>
          <p:nvPr/>
        </p:nvSpPr>
        <p:spPr>
          <a:xfrm>
            <a:off x="685800" y="4572000"/>
            <a:ext cx="10725912" cy="896112"/>
          </a:xfrm>
          <a:prstGeom prst="roundRect">
            <a:avLst>
              <a:gd name="adj" fmla="val 16327"/>
            </a:avLst>
          </a:prstGeom>
          <a:solidFill>
            <a:srgbClr val="0D2F5F"/>
          </a:solidFill>
          <a:ln w="12700">
            <a:solidFill>
              <a:srgbClr val="0D2F5F">
                <a:alpha val="0"/>
              </a:srgbClr>
            </a:solidFill>
            <a:prstDash val="solid"/>
          </a:ln>
        </p:spPr>
      </p:sp>
      <p:sp>
        <p:nvSpPr>
          <p:cNvPr id="18" name="Text 15"/>
          <p:cNvSpPr/>
          <p:nvPr/>
        </p:nvSpPr>
        <p:spPr>
          <a:xfrm>
            <a:off x="950976" y="4754880"/>
            <a:ext cx="10168128" cy="448056"/>
          </a:xfrm>
          <a:prstGeom prst="rect">
            <a:avLst/>
          </a:prstGeom>
          <a:noFill/>
        </p:spPr>
        <p:txBody>
          <a:bodyPr wrap="square" lIns="0" tIns="0" rIns="0" bIns="0" rtlCol="0" anchor="ctr">
            <a:normAutofit/>
          </a:bodyPr>
          <a:lstStyle/>
          <a:p>
            <a:pPr marL="0" indent="0" algn="ctr">
              <a:buNone/>
            </a:pPr>
            <a:r>
              <a:rPr lang="en-US" sz="2100" b="1" dirty="0">
                <a:solidFill>
                  <a:srgbClr val="FFFFFF"/>
                </a:solidFill>
                <a:latin typeface="Aptos" pitchFamily="34" charset="0"/>
                <a:ea typeface="Aptos" pitchFamily="34" charset="-122"/>
                <a:cs typeface="Aptos" pitchFamily="34" charset="-120"/>
              </a:rPr>
              <a:t>Important: HTTPS does NOT guarantee that a website is honest or trustworthy.</a:t>
            </a:r>
            <a:endParaRPr lang="en-US" sz="2100" dirty="0"/>
          </a:p>
        </p:txBody>
      </p:sp>
      <p:pic>
        <p:nvPicPr>
          <p:cNvPr id="19" name="Image 0" descr="/mnt/data/cwp-logo-primary-transparent.png"/>
          <p:cNvPicPr>
            <a:picLocks noChangeAspect="1"/>
          </p:cNvPicPr>
          <p:nvPr/>
        </p:nvPicPr>
        <p:blipFill>
          <a:blip r:embed="rId1"/>
          <a:stretch>
            <a:fillRect/>
          </a:stretch>
        </p:blipFill>
        <p:spPr>
          <a:xfrm>
            <a:off x="603250" y="6029325"/>
            <a:ext cx="946150" cy="628650"/>
          </a:xfrm>
          <a:prstGeom prst="rect">
            <a:avLst/>
          </a:prstGeom>
        </p:spPr>
      </p:pic>
      <p:sp>
        <p:nvSpPr>
          <p:cNvPr id="20" name="Text 4"/>
          <p:cNvSpPr/>
          <p:nvPr/>
        </p:nvSpPr>
        <p:spPr>
          <a:xfrm>
            <a:off x="9485884" y="6419850"/>
            <a:ext cx="1746504" cy="219456"/>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codewithprof.com</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DAA62F"/>
          </a:solidFill>
          <a:ln w="12700">
            <a:solidFill>
              <a:srgbClr val="DAA62F"/>
            </a:solidFill>
            <a:prstDash val="solid"/>
          </a:ln>
        </p:spPr>
      </p:sp>
      <p:sp>
        <p:nvSpPr>
          <p:cNvPr id="3" name="Text 1"/>
          <p:cNvSpPr/>
          <p:nvPr/>
        </p:nvSpPr>
        <p:spPr>
          <a:xfrm>
            <a:off x="603504" y="292608"/>
            <a:ext cx="9144000" cy="201168"/>
          </a:xfrm>
          <a:prstGeom prst="rect">
            <a:avLst/>
          </a:prstGeom>
          <a:noFill/>
        </p:spPr>
        <p:txBody>
          <a:bodyPr wrap="square" lIns="0" tIns="0" rIns="0" bIns="0" rtlCol="0" anchor="ctr">
            <a:normAutofit/>
          </a:bodyPr>
          <a:lstStyle/>
          <a:p>
            <a:pPr marL="0" indent="0">
              <a:buNone/>
            </a:pPr>
            <a:r>
              <a:rPr lang="en-US" sz="1000" b="1" kern="0" spc="120" dirty="0">
                <a:solidFill>
                  <a:srgbClr val="63738B"/>
                </a:solidFill>
                <a:latin typeface="Aptos" pitchFamily="34" charset="0"/>
                <a:ea typeface="Aptos" pitchFamily="34" charset="-122"/>
                <a:cs typeface="Aptos" pitchFamily="34" charset="-120"/>
              </a:rPr>
              <a:t>WEEK 01 · FULL-STACK JOURNEY</a:t>
            </a:r>
            <a:endParaRPr lang="en-US" sz="1000" dirty="0"/>
          </a:p>
        </p:txBody>
      </p:sp>
      <p:sp>
        <p:nvSpPr>
          <p:cNvPr id="4" name="Text 2"/>
          <p:cNvSpPr/>
          <p:nvPr/>
        </p:nvSpPr>
        <p:spPr>
          <a:xfrm>
            <a:off x="603504" y="676656"/>
            <a:ext cx="10972800" cy="658368"/>
          </a:xfrm>
          <a:prstGeom prst="rect">
            <a:avLst/>
          </a:prstGeom>
          <a:noFill/>
        </p:spPr>
        <p:txBody>
          <a:bodyPr wrap="square" lIns="0" tIns="0" rIns="0" bIns="0" rtlCol="0" anchor="ctr">
            <a:normAutofit/>
          </a:bodyPr>
          <a:lstStyle/>
          <a:p>
            <a:pPr marL="0" indent="0">
              <a:buNone/>
            </a:pPr>
            <a:r>
              <a:rPr lang="en-US" sz="3100" b="1" dirty="0">
                <a:solidFill>
                  <a:srgbClr val="0D2F5F"/>
                </a:solidFill>
                <a:latin typeface="Aptos" pitchFamily="34" charset="0"/>
                <a:ea typeface="Aptos" pitchFamily="34" charset="-122"/>
                <a:cs typeface="Aptos" pitchFamily="34" charset="-120"/>
              </a:rPr>
              <a:t>HTTP methods: what is the request asking?</a:t>
            </a:r>
            <a:endParaRPr lang="en-US" sz="3100" dirty="0"/>
          </a:p>
        </p:txBody>
      </p:sp>
      <p:sp>
        <p:nvSpPr>
          <p:cNvPr id="5" name="Shape 3"/>
          <p:cNvSpPr/>
          <p:nvPr/>
        </p:nvSpPr>
        <p:spPr>
          <a:xfrm>
            <a:off x="603504" y="1408176"/>
            <a:ext cx="10981944" cy="0"/>
          </a:xfrm>
          <a:prstGeom prst="line">
            <a:avLst/>
          </a:prstGeom>
          <a:noFill/>
          <a:ln w="12700">
            <a:solidFill>
              <a:srgbClr val="DEE5EF"/>
            </a:solidFill>
            <a:prstDash val="solid"/>
            <a:headEnd type="none"/>
            <a:tailEnd type="none"/>
          </a:ln>
        </p:spPr>
      </p:sp>
      <p:sp>
        <p:nvSpPr>
          <p:cNvPr id="8" name="Text 5"/>
          <p:cNvSpPr/>
          <p:nvPr/>
        </p:nvSpPr>
        <p:spPr>
          <a:xfrm>
            <a:off x="11338560" y="6437376"/>
            <a:ext cx="237744" cy="201168"/>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15</a:t>
            </a:r>
            <a:endParaRPr lang="en-US" sz="1000" dirty="0"/>
          </a:p>
        </p:txBody>
      </p:sp>
      <p:sp>
        <p:nvSpPr>
          <p:cNvPr id="9" name="Shape 6"/>
          <p:cNvSpPr/>
          <p:nvPr/>
        </p:nvSpPr>
        <p:spPr>
          <a:xfrm>
            <a:off x="804672" y="1737360"/>
            <a:ext cx="10488168" cy="612648"/>
          </a:xfrm>
          <a:prstGeom prst="roundRect">
            <a:avLst>
              <a:gd name="adj" fmla="val 23881"/>
            </a:avLst>
          </a:prstGeom>
          <a:solidFill>
            <a:srgbClr val="EAF0F7"/>
          </a:solidFill>
          <a:ln w="12700">
            <a:solidFill>
              <a:srgbClr val="EAF0F7">
                <a:alpha val="0"/>
              </a:srgbClr>
            </a:solidFill>
            <a:prstDash val="solid"/>
          </a:ln>
        </p:spPr>
      </p:sp>
      <p:sp>
        <p:nvSpPr>
          <p:cNvPr id="10" name="Shape 7"/>
          <p:cNvSpPr/>
          <p:nvPr/>
        </p:nvSpPr>
        <p:spPr>
          <a:xfrm>
            <a:off x="1024128" y="1865376"/>
            <a:ext cx="1170432" cy="338328"/>
          </a:xfrm>
          <a:prstGeom prst="roundRect">
            <a:avLst>
              <a:gd name="adj" fmla="val 48649"/>
            </a:avLst>
          </a:prstGeom>
          <a:solidFill>
            <a:srgbClr val="DAA62F"/>
          </a:solidFill>
          <a:ln w="12700">
            <a:solidFill>
              <a:srgbClr val="DAA62F">
                <a:alpha val="0"/>
              </a:srgbClr>
            </a:solidFill>
            <a:prstDash val="solid"/>
          </a:ln>
        </p:spPr>
      </p:sp>
      <p:sp>
        <p:nvSpPr>
          <p:cNvPr id="11" name="Text 8"/>
          <p:cNvSpPr/>
          <p:nvPr/>
        </p:nvSpPr>
        <p:spPr>
          <a:xfrm>
            <a:off x="1133856" y="1897380"/>
            <a:ext cx="950976" cy="246888"/>
          </a:xfrm>
          <a:prstGeom prst="rect">
            <a:avLst/>
          </a:prstGeom>
          <a:noFill/>
        </p:spPr>
        <p:txBody>
          <a:bodyPr wrap="square" lIns="0" tIns="0" rIns="0" bIns="0" rtlCol="0" anchor="ctr">
            <a:normAutofit/>
          </a:bodyPr>
          <a:lstStyle/>
          <a:p>
            <a:pPr marL="0" indent="0" algn="ctr">
              <a:buNone/>
            </a:pPr>
            <a:r>
              <a:rPr lang="en-US" sz="1100" b="1" dirty="0">
                <a:solidFill>
                  <a:srgbClr val="092448"/>
                </a:solidFill>
                <a:latin typeface="Aptos" pitchFamily="34" charset="0"/>
                <a:ea typeface="Aptos" pitchFamily="34" charset="-122"/>
                <a:cs typeface="Aptos" pitchFamily="34" charset="-120"/>
              </a:rPr>
              <a:t>GET</a:t>
            </a:r>
            <a:endParaRPr lang="en-US" sz="1100" dirty="0"/>
          </a:p>
        </p:txBody>
      </p:sp>
      <p:sp>
        <p:nvSpPr>
          <p:cNvPr id="12" name="Text 9"/>
          <p:cNvSpPr/>
          <p:nvPr/>
        </p:nvSpPr>
        <p:spPr>
          <a:xfrm>
            <a:off x="2633472" y="1874520"/>
            <a:ext cx="8183880" cy="310896"/>
          </a:xfrm>
          <a:prstGeom prst="rect">
            <a:avLst/>
          </a:prstGeom>
          <a:noFill/>
        </p:spPr>
        <p:txBody>
          <a:bodyPr wrap="square" lIns="0" tIns="0" rIns="0" bIns="0" rtlCol="0" anchor="ctr">
            <a:normAutofit/>
          </a:bodyPr>
          <a:lstStyle/>
          <a:p>
            <a:pPr marL="0" indent="0">
              <a:buNone/>
            </a:pPr>
            <a:r>
              <a:rPr lang="en-US" sz="2000" b="1" dirty="0">
                <a:solidFill>
                  <a:srgbClr val="0D2F5F"/>
                </a:solidFill>
                <a:latin typeface="Aptos" pitchFamily="34" charset="0"/>
                <a:ea typeface="Aptos" pitchFamily="34" charset="-122"/>
                <a:cs typeface="Aptos" pitchFamily="34" charset="-120"/>
              </a:rPr>
              <a:t>Read or fetch</a:t>
            </a:r>
            <a:endParaRPr lang="en-US" sz="2000" dirty="0"/>
          </a:p>
        </p:txBody>
      </p:sp>
      <p:sp>
        <p:nvSpPr>
          <p:cNvPr id="13" name="Shape 10"/>
          <p:cNvSpPr/>
          <p:nvPr/>
        </p:nvSpPr>
        <p:spPr>
          <a:xfrm>
            <a:off x="804672" y="2496312"/>
            <a:ext cx="10488168" cy="612648"/>
          </a:xfrm>
          <a:prstGeom prst="roundRect">
            <a:avLst>
              <a:gd name="adj" fmla="val 23881"/>
            </a:avLst>
          </a:prstGeom>
          <a:solidFill>
            <a:srgbClr val="FFFFFF"/>
          </a:solidFill>
          <a:ln w="12700">
            <a:solidFill>
              <a:srgbClr val="FFFFFF">
                <a:alpha val="0"/>
              </a:srgbClr>
            </a:solidFill>
            <a:prstDash val="solid"/>
          </a:ln>
        </p:spPr>
      </p:sp>
      <p:sp>
        <p:nvSpPr>
          <p:cNvPr id="14" name="Shape 11"/>
          <p:cNvSpPr/>
          <p:nvPr/>
        </p:nvSpPr>
        <p:spPr>
          <a:xfrm>
            <a:off x="1024128" y="2624328"/>
            <a:ext cx="1170432" cy="338328"/>
          </a:xfrm>
          <a:prstGeom prst="roundRect">
            <a:avLst>
              <a:gd name="adj" fmla="val 48649"/>
            </a:avLst>
          </a:prstGeom>
          <a:solidFill>
            <a:srgbClr val="DAA62F"/>
          </a:solidFill>
          <a:ln w="12700">
            <a:solidFill>
              <a:srgbClr val="DAA62F">
                <a:alpha val="0"/>
              </a:srgbClr>
            </a:solidFill>
            <a:prstDash val="solid"/>
          </a:ln>
        </p:spPr>
      </p:sp>
      <p:sp>
        <p:nvSpPr>
          <p:cNvPr id="15" name="Text 12"/>
          <p:cNvSpPr/>
          <p:nvPr/>
        </p:nvSpPr>
        <p:spPr>
          <a:xfrm>
            <a:off x="1133856" y="2656332"/>
            <a:ext cx="950976" cy="246888"/>
          </a:xfrm>
          <a:prstGeom prst="rect">
            <a:avLst/>
          </a:prstGeom>
          <a:noFill/>
        </p:spPr>
        <p:txBody>
          <a:bodyPr wrap="square" lIns="0" tIns="0" rIns="0" bIns="0" rtlCol="0" anchor="ctr">
            <a:normAutofit/>
          </a:bodyPr>
          <a:lstStyle/>
          <a:p>
            <a:pPr marL="0" indent="0" algn="ctr">
              <a:buNone/>
            </a:pPr>
            <a:r>
              <a:rPr lang="en-US" sz="1100" b="1" dirty="0">
                <a:solidFill>
                  <a:srgbClr val="092448"/>
                </a:solidFill>
                <a:latin typeface="Aptos" pitchFamily="34" charset="0"/>
                <a:ea typeface="Aptos" pitchFamily="34" charset="-122"/>
                <a:cs typeface="Aptos" pitchFamily="34" charset="-120"/>
              </a:rPr>
              <a:t>POST</a:t>
            </a:r>
            <a:endParaRPr lang="en-US" sz="1100" dirty="0"/>
          </a:p>
        </p:txBody>
      </p:sp>
      <p:sp>
        <p:nvSpPr>
          <p:cNvPr id="16" name="Text 13"/>
          <p:cNvSpPr/>
          <p:nvPr/>
        </p:nvSpPr>
        <p:spPr>
          <a:xfrm>
            <a:off x="2633472" y="2633472"/>
            <a:ext cx="8183880" cy="310896"/>
          </a:xfrm>
          <a:prstGeom prst="rect">
            <a:avLst/>
          </a:prstGeom>
          <a:noFill/>
        </p:spPr>
        <p:txBody>
          <a:bodyPr wrap="square" lIns="0" tIns="0" rIns="0" bIns="0" rtlCol="0" anchor="ctr">
            <a:normAutofit/>
          </a:bodyPr>
          <a:lstStyle/>
          <a:p>
            <a:pPr marL="0" indent="0">
              <a:buNone/>
            </a:pPr>
            <a:r>
              <a:rPr lang="en-US" sz="2000" dirty="0">
                <a:solidFill>
                  <a:srgbClr val="0D2F5F"/>
                </a:solidFill>
                <a:latin typeface="Aptos" pitchFamily="34" charset="0"/>
                <a:ea typeface="Aptos" pitchFamily="34" charset="-122"/>
                <a:cs typeface="Aptos" pitchFamily="34" charset="-120"/>
              </a:rPr>
              <a:t>Create or submit</a:t>
            </a:r>
            <a:endParaRPr lang="en-US" sz="2000" dirty="0"/>
          </a:p>
        </p:txBody>
      </p:sp>
      <p:sp>
        <p:nvSpPr>
          <p:cNvPr id="17" name="Shape 14"/>
          <p:cNvSpPr/>
          <p:nvPr/>
        </p:nvSpPr>
        <p:spPr>
          <a:xfrm>
            <a:off x="804672" y="3255264"/>
            <a:ext cx="10488168" cy="612648"/>
          </a:xfrm>
          <a:prstGeom prst="roundRect">
            <a:avLst>
              <a:gd name="adj" fmla="val 23881"/>
            </a:avLst>
          </a:prstGeom>
          <a:solidFill>
            <a:srgbClr val="EAF0F7"/>
          </a:solidFill>
          <a:ln w="12700">
            <a:solidFill>
              <a:srgbClr val="EAF0F7">
                <a:alpha val="0"/>
              </a:srgbClr>
            </a:solidFill>
            <a:prstDash val="solid"/>
          </a:ln>
        </p:spPr>
      </p:sp>
      <p:sp>
        <p:nvSpPr>
          <p:cNvPr id="18" name="Shape 15"/>
          <p:cNvSpPr/>
          <p:nvPr/>
        </p:nvSpPr>
        <p:spPr>
          <a:xfrm>
            <a:off x="1024128" y="3383280"/>
            <a:ext cx="1170432" cy="338328"/>
          </a:xfrm>
          <a:prstGeom prst="roundRect">
            <a:avLst>
              <a:gd name="adj" fmla="val 48649"/>
            </a:avLst>
          </a:prstGeom>
          <a:solidFill>
            <a:srgbClr val="DAA62F"/>
          </a:solidFill>
          <a:ln w="12700">
            <a:solidFill>
              <a:srgbClr val="DAA62F">
                <a:alpha val="0"/>
              </a:srgbClr>
            </a:solidFill>
            <a:prstDash val="solid"/>
          </a:ln>
        </p:spPr>
      </p:sp>
      <p:sp>
        <p:nvSpPr>
          <p:cNvPr id="19" name="Text 16"/>
          <p:cNvSpPr/>
          <p:nvPr/>
        </p:nvSpPr>
        <p:spPr>
          <a:xfrm>
            <a:off x="1133856" y="3415284"/>
            <a:ext cx="950976" cy="246888"/>
          </a:xfrm>
          <a:prstGeom prst="rect">
            <a:avLst/>
          </a:prstGeom>
          <a:noFill/>
        </p:spPr>
        <p:txBody>
          <a:bodyPr wrap="square" lIns="0" tIns="0" rIns="0" bIns="0" rtlCol="0" anchor="ctr">
            <a:normAutofit/>
          </a:bodyPr>
          <a:lstStyle/>
          <a:p>
            <a:pPr marL="0" indent="0" algn="ctr">
              <a:buNone/>
            </a:pPr>
            <a:r>
              <a:rPr lang="en-US" sz="1100" b="1" dirty="0">
                <a:solidFill>
                  <a:srgbClr val="092448"/>
                </a:solidFill>
                <a:latin typeface="Aptos" pitchFamily="34" charset="0"/>
                <a:ea typeface="Aptos" pitchFamily="34" charset="-122"/>
                <a:cs typeface="Aptos" pitchFamily="34" charset="-120"/>
              </a:rPr>
              <a:t>PUT</a:t>
            </a:r>
            <a:endParaRPr lang="en-US" sz="1100" dirty="0"/>
          </a:p>
        </p:txBody>
      </p:sp>
      <p:sp>
        <p:nvSpPr>
          <p:cNvPr id="20" name="Text 17"/>
          <p:cNvSpPr/>
          <p:nvPr/>
        </p:nvSpPr>
        <p:spPr>
          <a:xfrm>
            <a:off x="2633472" y="3392424"/>
            <a:ext cx="8183880" cy="310896"/>
          </a:xfrm>
          <a:prstGeom prst="rect">
            <a:avLst/>
          </a:prstGeom>
          <a:noFill/>
        </p:spPr>
        <p:txBody>
          <a:bodyPr wrap="square" lIns="0" tIns="0" rIns="0" bIns="0" rtlCol="0" anchor="ctr">
            <a:normAutofit/>
          </a:bodyPr>
          <a:lstStyle/>
          <a:p>
            <a:pPr marL="0" indent="0">
              <a:buNone/>
            </a:pPr>
            <a:r>
              <a:rPr lang="en-US" sz="2000" dirty="0">
                <a:solidFill>
                  <a:srgbClr val="0D2F5F"/>
                </a:solidFill>
                <a:latin typeface="Aptos" pitchFamily="34" charset="0"/>
                <a:ea typeface="Aptos" pitchFamily="34" charset="-122"/>
                <a:cs typeface="Aptos" pitchFamily="34" charset="-120"/>
              </a:rPr>
              <a:t>Replace/update</a:t>
            </a:r>
            <a:endParaRPr lang="en-US" sz="2000" dirty="0"/>
          </a:p>
        </p:txBody>
      </p:sp>
      <p:sp>
        <p:nvSpPr>
          <p:cNvPr id="21" name="Shape 18"/>
          <p:cNvSpPr/>
          <p:nvPr/>
        </p:nvSpPr>
        <p:spPr>
          <a:xfrm>
            <a:off x="804672" y="4014216"/>
            <a:ext cx="10488168" cy="612648"/>
          </a:xfrm>
          <a:prstGeom prst="roundRect">
            <a:avLst>
              <a:gd name="adj" fmla="val 23881"/>
            </a:avLst>
          </a:prstGeom>
          <a:solidFill>
            <a:srgbClr val="FFFFFF"/>
          </a:solidFill>
          <a:ln w="12700">
            <a:solidFill>
              <a:srgbClr val="FFFFFF">
                <a:alpha val="0"/>
              </a:srgbClr>
            </a:solidFill>
            <a:prstDash val="solid"/>
          </a:ln>
        </p:spPr>
      </p:sp>
      <p:sp>
        <p:nvSpPr>
          <p:cNvPr id="22" name="Shape 19"/>
          <p:cNvSpPr/>
          <p:nvPr/>
        </p:nvSpPr>
        <p:spPr>
          <a:xfrm>
            <a:off x="1024128" y="4142232"/>
            <a:ext cx="1170432" cy="338328"/>
          </a:xfrm>
          <a:prstGeom prst="roundRect">
            <a:avLst>
              <a:gd name="adj" fmla="val 48649"/>
            </a:avLst>
          </a:prstGeom>
          <a:solidFill>
            <a:srgbClr val="DAA62F"/>
          </a:solidFill>
          <a:ln w="12700">
            <a:solidFill>
              <a:srgbClr val="DAA62F">
                <a:alpha val="0"/>
              </a:srgbClr>
            </a:solidFill>
            <a:prstDash val="solid"/>
          </a:ln>
        </p:spPr>
      </p:sp>
      <p:sp>
        <p:nvSpPr>
          <p:cNvPr id="23" name="Text 20"/>
          <p:cNvSpPr/>
          <p:nvPr/>
        </p:nvSpPr>
        <p:spPr>
          <a:xfrm>
            <a:off x="1133856" y="4174236"/>
            <a:ext cx="950976" cy="246888"/>
          </a:xfrm>
          <a:prstGeom prst="rect">
            <a:avLst/>
          </a:prstGeom>
          <a:noFill/>
        </p:spPr>
        <p:txBody>
          <a:bodyPr wrap="square" lIns="0" tIns="0" rIns="0" bIns="0" rtlCol="0" anchor="ctr">
            <a:normAutofit/>
          </a:bodyPr>
          <a:lstStyle/>
          <a:p>
            <a:pPr marL="0" indent="0" algn="ctr">
              <a:buNone/>
            </a:pPr>
            <a:r>
              <a:rPr lang="en-US" sz="1100" b="1" dirty="0">
                <a:solidFill>
                  <a:srgbClr val="092448"/>
                </a:solidFill>
                <a:latin typeface="Aptos" pitchFamily="34" charset="0"/>
                <a:ea typeface="Aptos" pitchFamily="34" charset="-122"/>
                <a:cs typeface="Aptos" pitchFamily="34" charset="-120"/>
              </a:rPr>
              <a:t>PATCH</a:t>
            </a:r>
            <a:endParaRPr lang="en-US" sz="1100" dirty="0"/>
          </a:p>
        </p:txBody>
      </p:sp>
      <p:sp>
        <p:nvSpPr>
          <p:cNvPr id="24" name="Text 21"/>
          <p:cNvSpPr/>
          <p:nvPr/>
        </p:nvSpPr>
        <p:spPr>
          <a:xfrm>
            <a:off x="2633472" y="4151376"/>
            <a:ext cx="8183880" cy="310896"/>
          </a:xfrm>
          <a:prstGeom prst="rect">
            <a:avLst/>
          </a:prstGeom>
          <a:noFill/>
        </p:spPr>
        <p:txBody>
          <a:bodyPr wrap="square" lIns="0" tIns="0" rIns="0" bIns="0" rtlCol="0" anchor="ctr">
            <a:normAutofit/>
          </a:bodyPr>
          <a:lstStyle/>
          <a:p>
            <a:pPr marL="0" indent="0">
              <a:buNone/>
            </a:pPr>
            <a:r>
              <a:rPr lang="en-US" sz="2000" dirty="0">
                <a:solidFill>
                  <a:srgbClr val="0D2F5F"/>
                </a:solidFill>
                <a:latin typeface="Aptos" pitchFamily="34" charset="0"/>
                <a:ea typeface="Aptos" pitchFamily="34" charset="-122"/>
                <a:cs typeface="Aptos" pitchFamily="34" charset="-120"/>
              </a:rPr>
              <a:t>Change part</a:t>
            </a:r>
            <a:endParaRPr lang="en-US" sz="2000" dirty="0"/>
          </a:p>
        </p:txBody>
      </p:sp>
      <p:sp>
        <p:nvSpPr>
          <p:cNvPr id="25" name="Shape 22"/>
          <p:cNvSpPr/>
          <p:nvPr/>
        </p:nvSpPr>
        <p:spPr>
          <a:xfrm>
            <a:off x="804672" y="4773168"/>
            <a:ext cx="10488168" cy="612648"/>
          </a:xfrm>
          <a:prstGeom prst="roundRect">
            <a:avLst>
              <a:gd name="adj" fmla="val 23881"/>
            </a:avLst>
          </a:prstGeom>
          <a:solidFill>
            <a:srgbClr val="EAF0F7"/>
          </a:solidFill>
          <a:ln w="12700">
            <a:solidFill>
              <a:srgbClr val="EAF0F7">
                <a:alpha val="0"/>
              </a:srgbClr>
            </a:solidFill>
            <a:prstDash val="solid"/>
          </a:ln>
        </p:spPr>
      </p:sp>
      <p:sp>
        <p:nvSpPr>
          <p:cNvPr id="26" name="Shape 23"/>
          <p:cNvSpPr/>
          <p:nvPr/>
        </p:nvSpPr>
        <p:spPr>
          <a:xfrm>
            <a:off x="1024128" y="4901184"/>
            <a:ext cx="1170432" cy="338328"/>
          </a:xfrm>
          <a:prstGeom prst="roundRect">
            <a:avLst>
              <a:gd name="adj" fmla="val 48649"/>
            </a:avLst>
          </a:prstGeom>
          <a:solidFill>
            <a:srgbClr val="0D2F5F"/>
          </a:solidFill>
          <a:ln w="12700">
            <a:solidFill>
              <a:srgbClr val="0D2F5F">
                <a:alpha val="0"/>
              </a:srgbClr>
            </a:solidFill>
            <a:prstDash val="solid"/>
          </a:ln>
        </p:spPr>
      </p:sp>
      <p:sp>
        <p:nvSpPr>
          <p:cNvPr id="27" name="Text 24"/>
          <p:cNvSpPr/>
          <p:nvPr/>
        </p:nvSpPr>
        <p:spPr>
          <a:xfrm>
            <a:off x="1133856" y="4933188"/>
            <a:ext cx="950976" cy="246888"/>
          </a:xfrm>
          <a:prstGeom prst="rect">
            <a:avLst/>
          </a:prstGeom>
          <a:noFill/>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DELETE</a:t>
            </a:r>
            <a:endParaRPr lang="en-US" sz="1100" dirty="0"/>
          </a:p>
        </p:txBody>
      </p:sp>
      <p:sp>
        <p:nvSpPr>
          <p:cNvPr id="28" name="Text 25"/>
          <p:cNvSpPr/>
          <p:nvPr/>
        </p:nvSpPr>
        <p:spPr>
          <a:xfrm>
            <a:off x="2633472" y="4910328"/>
            <a:ext cx="8183880" cy="310896"/>
          </a:xfrm>
          <a:prstGeom prst="rect">
            <a:avLst/>
          </a:prstGeom>
          <a:noFill/>
        </p:spPr>
        <p:txBody>
          <a:bodyPr wrap="square" lIns="0" tIns="0" rIns="0" bIns="0" rtlCol="0" anchor="ctr">
            <a:normAutofit/>
          </a:bodyPr>
          <a:lstStyle/>
          <a:p>
            <a:pPr marL="0" indent="0">
              <a:buNone/>
            </a:pPr>
            <a:r>
              <a:rPr lang="en-US" sz="2000" dirty="0">
                <a:solidFill>
                  <a:srgbClr val="0D2F5F"/>
                </a:solidFill>
                <a:latin typeface="Aptos" pitchFamily="34" charset="0"/>
                <a:ea typeface="Aptos" pitchFamily="34" charset="-122"/>
                <a:cs typeface="Aptos" pitchFamily="34" charset="-120"/>
              </a:rPr>
              <a:t>Remove</a:t>
            </a:r>
            <a:endParaRPr lang="en-US" sz="2000" dirty="0"/>
          </a:p>
        </p:txBody>
      </p:sp>
      <p:pic>
        <p:nvPicPr>
          <p:cNvPr id="29" name="Image 0" descr="/mnt/data/cwp-logo-primary-transparent.png"/>
          <p:cNvPicPr>
            <a:picLocks noChangeAspect="1"/>
          </p:cNvPicPr>
          <p:nvPr/>
        </p:nvPicPr>
        <p:blipFill>
          <a:blip r:embed="rId1"/>
          <a:stretch>
            <a:fillRect/>
          </a:stretch>
        </p:blipFill>
        <p:spPr>
          <a:xfrm>
            <a:off x="603250" y="6029325"/>
            <a:ext cx="946150" cy="628650"/>
          </a:xfrm>
          <a:prstGeom prst="rect">
            <a:avLst/>
          </a:prstGeom>
        </p:spPr>
      </p:pic>
      <p:sp>
        <p:nvSpPr>
          <p:cNvPr id="30" name="Text 4"/>
          <p:cNvSpPr/>
          <p:nvPr/>
        </p:nvSpPr>
        <p:spPr>
          <a:xfrm>
            <a:off x="9485884" y="6419850"/>
            <a:ext cx="1746504" cy="219456"/>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codewithprof.com</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DAA62F"/>
          </a:solidFill>
          <a:ln w="12700">
            <a:solidFill>
              <a:srgbClr val="DAA62F"/>
            </a:solidFill>
            <a:prstDash val="solid"/>
          </a:ln>
        </p:spPr>
      </p:sp>
      <p:sp>
        <p:nvSpPr>
          <p:cNvPr id="3" name="Text 1"/>
          <p:cNvSpPr/>
          <p:nvPr/>
        </p:nvSpPr>
        <p:spPr>
          <a:xfrm>
            <a:off x="603504" y="292608"/>
            <a:ext cx="9144000" cy="201168"/>
          </a:xfrm>
          <a:prstGeom prst="rect">
            <a:avLst/>
          </a:prstGeom>
          <a:noFill/>
        </p:spPr>
        <p:txBody>
          <a:bodyPr wrap="square" lIns="0" tIns="0" rIns="0" bIns="0" rtlCol="0" anchor="ctr">
            <a:normAutofit/>
          </a:bodyPr>
          <a:lstStyle/>
          <a:p>
            <a:pPr marL="0" indent="0">
              <a:buNone/>
            </a:pPr>
            <a:r>
              <a:rPr lang="en-US" sz="1000" b="1" kern="0" spc="120" dirty="0">
                <a:solidFill>
                  <a:srgbClr val="63738B"/>
                </a:solidFill>
                <a:latin typeface="Aptos" pitchFamily="34" charset="0"/>
                <a:ea typeface="Aptos" pitchFamily="34" charset="-122"/>
                <a:cs typeface="Aptos" pitchFamily="34" charset="-120"/>
              </a:rPr>
              <a:t>WEEK 01 · FULL-STACK JOURNEY</a:t>
            </a:r>
            <a:endParaRPr lang="en-US" sz="1000" dirty="0"/>
          </a:p>
        </p:txBody>
      </p:sp>
      <p:sp>
        <p:nvSpPr>
          <p:cNvPr id="4" name="Text 2"/>
          <p:cNvSpPr/>
          <p:nvPr/>
        </p:nvSpPr>
        <p:spPr>
          <a:xfrm>
            <a:off x="603504" y="676656"/>
            <a:ext cx="10972800" cy="658368"/>
          </a:xfrm>
          <a:prstGeom prst="rect">
            <a:avLst/>
          </a:prstGeom>
          <a:noFill/>
        </p:spPr>
        <p:txBody>
          <a:bodyPr wrap="square" lIns="0" tIns="0" rIns="0" bIns="0" rtlCol="0" anchor="ctr">
            <a:normAutofit/>
          </a:bodyPr>
          <a:lstStyle/>
          <a:p>
            <a:pPr marL="0" indent="0">
              <a:buNone/>
            </a:pPr>
            <a:r>
              <a:rPr lang="en-US" sz="3100" b="1" dirty="0">
                <a:solidFill>
                  <a:srgbClr val="0D2F5F"/>
                </a:solidFill>
                <a:latin typeface="Aptos" pitchFamily="34" charset="0"/>
                <a:ea typeface="Aptos" pitchFamily="34" charset="-122"/>
                <a:cs typeface="Aptos" pitchFamily="34" charset="-120"/>
              </a:rPr>
              <a:t>HTTP response codes</a:t>
            </a:r>
            <a:endParaRPr lang="en-US" sz="3100" dirty="0"/>
          </a:p>
        </p:txBody>
      </p:sp>
      <p:sp>
        <p:nvSpPr>
          <p:cNvPr id="5" name="Shape 3"/>
          <p:cNvSpPr/>
          <p:nvPr/>
        </p:nvSpPr>
        <p:spPr>
          <a:xfrm>
            <a:off x="603504" y="1408176"/>
            <a:ext cx="10981944" cy="0"/>
          </a:xfrm>
          <a:prstGeom prst="line">
            <a:avLst/>
          </a:prstGeom>
          <a:noFill/>
          <a:ln w="12700">
            <a:solidFill>
              <a:srgbClr val="DEE5EF"/>
            </a:solidFill>
            <a:prstDash val="solid"/>
            <a:headEnd type="none"/>
            <a:tailEnd type="none"/>
          </a:ln>
        </p:spPr>
      </p:sp>
      <p:sp>
        <p:nvSpPr>
          <p:cNvPr id="8" name="Text 5"/>
          <p:cNvSpPr/>
          <p:nvPr/>
        </p:nvSpPr>
        <p:spPr>
          <a:xfrm>
            <a:off x="11338560" y="6437376"/>
            <a:ext cx="237744" cy="201168"/>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16</a:t>
            </a:r>
            <a:endParaRPr lang="en-US" sz="1000" dirty="0"/>
          </a:p>
        </p:txBody>
      </p:sp>
      <p:sp>
        <p:nvSpPr>
          <p:cNvPr id="9" name="Shape 6"/>
          <p:cNvSpPr/>
          <p:nvPr/>
        </p:nvSpPr>
        <p:spPr>
          <a:xfrm>
            <a:off x="704088" y="1792224"/>
            <a:ext cx="5230368" cy="1444752"/>
          </a:xfrm>
          <a:prstGeom prst="roundRect">
            <a:avLst>
              <a:gd name="adj" fmla="val 10127"/>
            </a:avLst>
          </a:prstGeom>
          <a:solidFill>
            <a:srgbClr val="FFFFFF"/>
          </a:solidFill>
          <a:ln w="12700">
            <a:solidFill>
              <a:srgbClr val="FFFFFF">
                <a:alpha val="0"/>
              </a:srgbClr>
            </a:solidFill>
            <a:prstDash val="solid"/>
          </a:ln>
        </p:spPr>
      </p:sp>
      <p:sp>
        <p:nvSpPr>
          <p:cNvPr id="10" name="Shape 7"/>
          <p:cNvSpPr/>
          <p:nvPr/>
        </p:nvSpPr>
        <p:spPr>
          <a:xfrm>
            <a:off x="886968" y="2020824"/>
            <a:ext cx="1024128" cy="822960"/>
          </a:xfrm>
          <a:prstGeom prst="roundRect">
            <a:avLst>
              <a:gd name="adj" fmla="val 17778"/>
            </a:avLst>
          </a:prstGeom>
          <a:solidFill>
            <a:srgbClr val="197B66"/>
          </a:solidFill>
          <a:ln w="12700">
            <a:solidFill>
              <a:srgbClr val="197B66">
                <a:alpha val="0"/>
              </a:srgbClr>
            </a:solidFill>
            <a:prstDash val="solid"/>
          </a:ln>
        </p:spPr>
      </p:sp>
      <p:sp>
        <p:nvSpPr>
          <p:cNvPr id="11" name="Text 8"/>
          <p:cNvSpPr/>
          <p:nvPr/>
        </p:nvSpPr>
        <p:spPr>
          <a:xfrm>
            <a:off x="978408" y="2267712"/>
            <a:ext cx="841248" cy="292608"/>
          </a:xfrm>
          <a:prstGeom prst="rect">
            <a:avLst/>
          </a:prstGeom>
          <a:noFill/>
        </p:spPr>
        <p:txBody>
          <a:bodyPr wrap="square" lIns="0" tIns="0" rIns="0" bIns="0" rtlCol="0" anchor="ctr">
            <a:normAutofit fontScale="80000"/>
          </a:bodyPr>
          <a:lstStyle/>
          <a:p>
            <a:pPr marL="0" indent="0" algn="ctr">
              <a:buNone/>
            </a:pPr>
            <a:r>
              <a:rPr lang="en-US" sz="2400" b="1" dirty="0">
                <a:solidFill>
                  <a:srgbClr val="FFFFFF"/>
                </a:solidFill>
                <a:latin typeface="Aptos" pitchFamily="34" charset="0"/>
                <a:ea typeface="Aptos" pitchFamily="34" charset="-122"/>
                <a:cs typeface="Aptos" pitchFamily="34" charset="-120"/>
              </a:rPr>
              <a:t>2xx</a:t>
            </a:r>
            <a:endParaRPr lang="en-US" sz="2400" dirty="0"/>
          </a:p>
        </p:txBody>
      </p:sp>
      <p:sp>
        <p:nvSpPr>
          <p:cNvPr id="12" name="Text 9"/>
          <p:cNvSpPr/>
          <p:nvPr/>
        </p:nvSpPr>
        <p:spPr>
          <a:xfrm>
            <a:off x="2121408" y="1993392"/>
            <a:ext cx="3566160" cy="365760"/>
          </a:xfrm>
          <a:prstGeom prst="rect">
            <a:avLst/>
          </a:prstGeom>
          <a:noFill/>
        </p:spPr>
        <p:txBody>
          <a:bodyPr wrap="square" lIns="0" tIns="0" rIns="0" bIns="0" rtlCol="0" anchor="ctr">
            <a:normAutofit/>
          </a:bodyPr>
          <a:lstStyle/>
          <a:p>
            <a:pPr marL="0" indent="0">
              <a:buNone/>
            </a:pPr>
            <a:r>
              <a:rPr lang="en-US" sz="1900" b="1" dirty="0">
                <a:solidFill>
                  <a:srgbClr val="0D2F5F"/>
                </a:solidFill>
                <a:latin typeface="Aptos" pitchFamily="34" charset="0"/>
                <a:ea typeface="Aptos" pitchFamily="34" charset="-122"/>
                <a:cs typeface="Aptos" pitchFamily="34" charset="-120"/>
              </a:rPr>
              <a:t>SUCCESS</a:t>
            </a:r>
            <a:endParaRPr lang="en-US" sz="1900" dirty="0"/>
          </a:p>
        </p:txBody>
      </p:sp>
      <p:sp>
        <p:nvSpPr>
          <p:cNvPr id="13" name="Text 10"/>
          <p:cNvSpPr/>
          <p:nvPr/>
        </p:nvSpPr>
        <p:spPr>
          <a:xfrm>
            <a:off x="2121408" y="2560320"/>
            <a:ext cx="3584448" cy="329184"/>
          </a:xfrm>
          <a:prstGeom prst="rect">
            <a:avLst/>
          </a:prstGeom>
          <a:noFill/>
        </p:spPr>
        <p:txBody>
          <a:bodyPr wrap="square" lIns="0" tIns="0" rIns="0" bIns="0" rtlCol="0" anchor="ctr">
            <a:normAutofit/>
          </a:bodyPr>
          <a:lstStyle/>
          <a:p>
            <a:pPr marL="0" indent="0">
              <a:buNone/>
            </a:pPr>
            <a:r>
              <a:rPr lang="en-US" sz="1600" dirty="0">
                <a:solidFill>
                  <a:srgbClr val="63738B"/>
                </a:solidFill>
                <a:latin typeface="Aptos" pitchFamily="34" charset="0"/>
                <a:ea typeface="Aptos" pitchFamily="34" charset="-122"/>
                <a:cs typeface="Aptos" pitchFamily="34" charset="-120"/>
              </a:rPr>
              <a:t>200 OK</a:t>
            </a:r>
            <a:endParaRPr lang="en-US" sz="1600" dirty="0"/>
          </a:p>
        </p:txBody>
      </p:sp>
      <p:sp>
        <p:nvSpPr>
          <p:cNvPr id="14" name="Shape 11"/>
          <p:cNvSpPr/>
          <p:nvPr/>
        </p:nvSpPr>
        <p:spPr>
          <a:xfrm>
            <a:off x="6263640" y="1792224"/>
            <a:ext cx="5230368" cy="1444752"/>
          </a:xfrm>
          <a:prstGeom prst="roundRect">
            <a:avLst>
              <a:gd name="adj" fmla="val 10127"/>
            </a:avLst>
          </a:prstGeom>
          <a:solidFill>
            <a:srgbClr val="FFFFFF"/>
          </a:solidFill>
          <a:ln w="12700">
            <a:solidFill>
              <a:srgbClr val="FFFFFF">
                <a:alpha val="0"/>
              </a:srgbClr>
            </a:solidFill>
            <a:prstDash val="solid"/>
          </a:ln>
        </p:spPr>
      </p:sp>
      <p:sp>
        <p:nvSpPr>
          <p:cNvPr id="15" name="Shape 12"/>
          <p:cNvSpPr/>
          <p:nvPr/>
        </p:nvSpPr>
        <p:spPr>
          <a:xfrm>
            <a:off x="6446520" y="2020824"/>
            <a:ext cx="1024128" cy="822960"/>
          </a:xfrm>
          <a:prstGeom prst="roundRect">
            <a:avLst>
              <a:gd name="adj" fmla="val 17778"/>
            </a:avLst>
          </a:prstGeom>
          <a:solidFill>
            <a:srgbClr val="DAA62F"/>
          </a:solidFill>
          <a:ln w="12700">
            <a:solidFill>
              <a:srgbClr val="DAA62F">
                <a:alpha val="0"/>
              </a:srgbClr>
            </a:solidFill>
            <a:prstDash val="solid"/>
          </a:ln>
        </p:spPr>
      </p:sp>
      <p:sp>
        <p:nvSpPr>
          <p:cNvPr id="16" name="Text 13"/>
          <p:cNvSpPr/>
          <p:nvPr/>
        </p:nvSpPr>
        <p:spPr>
          <a:xfrm>
            <a:off x="6537960" y="2267712"/>
            <a:ext cx="841248" cy="292608"/>
          </a:xfrm>
          <a:prstGeom prst="rect">
            <a:avLst/>
          </a:prstGeom>
          <a:noFill/>
        </p:spPr>
        <p:txBody>
          <a:bodyPr wrap="square" lIns="0" tIns="0" rIns="0" bIns="0" rtlCol="0" anchor="ctr">
            <a:normAutofit fontScale="80000"/>
          </a:bodyPr>
          <a:lstStyle/>
          <a:p>
            <a:pPr marL="0" indent="0" algn="ctr">
              <a:buNone/>
            </a:pPr>
            <a:r>
              <a:rPr lang="en-US" sz="2400" b="1" dirty="0">
                <a:solidFill>
                  <a:srgbClr val="FFFFFF"/>
                </a:solidFill>
                <a:latin typeface="Aptos" pitchFamily="34" charset="0"/>
                <a:ea typeface="Aptos" pitchFamily="34" charset="-122"/>
                <a:cs typeface="Aptos" pitchFamily="34" charset="-120"/>
              </a:rPr>
              <a:t>3xx</a:t>
            </a:r>
            <a:endParaRPr lang="en-US" sz="2400" dirty="0"/>
          </a:p>
        </p:txBody>
      </p:sp>
      <p:sp>
        <p:nvSpPr>
          <p:cNvPr id="17" name="Text 14"/>
          <p:cNvSpPr/>
          <p:nvPr/>
        </p:nvSpPr>
        <p:spPr>
          <a:xfrm>
            <a:off x="7680960" y="1993392"/>
            <a:ext cx="3566160" cy="365760"/>
          </a:xfrm>
          <a:prstGeom prst="rect">
            <a:avLst/>
          </a:prstGeom>
          <a:noFill/>
        </p:spPr>
        <p:txBody>
          <a:bodyPr wrap="square" lIns="0" tIns="0" rIns="0" bIns="0" rtlCol="0" anchor="ctr">
            <a:normAutofit/>
          </a:bodyPr>
          <a:lstStyle/>
          <a:p>
            <a:pPr marL="0" indent="0">
              <a:buNone/>
            </a:pPr>
            <a:r>
              <a:rPr lang="en-US" sz="1900" b="1" dirty="0">
                <a:solidFill>
                  <a:srgbClr val="0D2F5F"/>
                </a:solidFill>
                <a:latin typeface="Aptos" pitchFamily="34" charset="0"/>
                <a:ea typeface="Aptos" pitchFamily="34" charset="-122"/>
                <a:cs typeface="Aptos" pitchFamily="34" charset="-120"/>
              </a:rPr>
              <a:t>REDIRECT</a:t>
            </a:r>
            <a:endParaRPr lang="en-US" sz="1900" dirty="0"/>
          </a:p>
        </p:txBody>
      </p:sp>
      <p:sp>
        <p:nvSpPr>
          <p:cNvPr id="18" name="Text 15"/>
          <p:cNvSpPr/>
          <p:nvPr/>
        </p:nvSpPr>
        <p:spPr>
          <a:xfrm>
            <a:off x="7680960" y="2560320"/>
            <a:ext cx="3584448" cy="329184"/>
          </a:xfrm>
          <a:prstGeom prst="rect">
            <a:avLst/>
          </a:prstGeom>
          <a:noFill/>
        </p:spPr>
        <p:txBody>
          <a:bodyPr wrap="square" lIns="0" tIns="0" rIns="0" bIns="0" rtlCol="0" anchor="ctr">
            <a:normAutofit/>
          </a:bodyPr>
          <a:lstStyle/>
          <a:p>
            <a:pPr marL="0" indent="0">
              <a:buNone/>
            </a:pPr>
            <a:r>
              <a:rPr lang="en-US" sz="1600" dirty="0">
                <a:solidFill>
                  <a:srgbClr val="63738B"/>
                </a:solidFill>
                <a:latin typeface="Aptos" pitchFamily="34" charset="0"/>
                <a:ea typeface="Aptos" pitchFamily="34" charset="-122"/>
                <a:cs typeface="Aptos" pitchFamily="34" charset="-120"/>
              </a:rPr>
              <a:t>301 Moved</a:t>
            </a:r>
            <a:endParaRPr lang="en-US" sz="1600" dirty="0"/>
          </a:p>
        </p:txBody>
      </p:sp>
      <p:sp>
        <p:nvSpPr>
          <p:cNvPr id="19" name="Shape 16"/>
          <p:cNvSpPr/>
          <p:nvPr/>
        </p:nvSpPr>
        <p:spPr>
          <a:xfrm>
            <a:off x="704088" y="3474720"/>
            <a:ext cx="5230368" cy="1444752"/>
          </a:xfrm>
          <a:prstGeom prst="roundRect">
            <a:avLst>
              <a:gd name="adj" fmla="val 10127"/>
            </a:avLst>
          </a:prstGeom>
          <a:solidFill>
            <a:srgbClr val="FFFFFF"/>
          </a:solidFill>
          <a:ln w="12700">
            <a:solidFill>
              <a:srgbClr val="FFFFFF">
                <a:alpha val="0"/>
              </a:srgbClr>
            </a:solidFill>
            <a:prstDash val="solid"/>
          </a:ln>
        </p:spPr>
      </p:sp>
      <p:sp>
        <p:nvSpPr>
          <p:cNvPr id="20" name="Shape 17"/>
          <p:cNvSpPr/>
          <p:nvPr/>
        </p:nvSpPr>
        <p:spPr>
          <a:xfrm>
            <a:off x="886968" y="3703320"/>
            <a:ext cx="1024128" cy="822960"/>
          </a:xfrm>
          <a:prstGeom prst="roundRect">
            <a:avLst>
              <a:gd name="adj" fmla="val 17778"/>
            </a:avLst>
          </a:prstGeom>
          <a:solidFill>
            <a:srgbClr val="C15454"/>
          </a:solidFill>
          <a:ln w="12700">
            <a:solidFill>
              <a:srgbClr val="C15454">
                <a:alpha val="0"/>
              </a:srgbClr>
            </a:solidFill>
            <a:prstDash val="solid"/>
          </a:ln>
        </p:spPr>
      </p:sp>
      <p:sp>
        <p:nvSpPr>
          <p:cNvPr id="21" name="Text 18"/>
          <p:cNvSpPr/>
          <p:nvPr/>
        </p:nvSpPr>
        <p:spPr>
          <a:xfrm>
            <a:off x="978408" y="3950208"/>
            <a:ext cx="841248" cy="292608"/>
          </a:xfrm>
          <a:prstGeom prst="rect">
            <a:avLst/>
          </a:prstGeom>
          <a:noFill/>
        </p:spPr>
        <p:txBody>
          <a:bodyPr wrap="square" lIns="0" tIns="0" rIns="0" bIns="0" rtlCol="0" anchor="ctr">
            <a:normAutofit fontScale="80000"/>
          </a:bodyPr>
          <a:lstStyle/>
          <a:p>
            <a:pPr marL="0" indent="0" algn="ctr">
              <a:buNone/>
            </a:pPr>
            <a:r>
              <a:rPr lang="en-US" sz="2400" b="1" dirty="0">
                <a:solidFill>
                  <a:srgbClr val="FFFFFF"/>
                </a:solidFill>
                <a:latin typeface="Aptos" pitchFamily="34" charset="0"/>
                <a:ea typeface="Aptos" pitchFamily="34" charset="-122"/>
                <a:cs typeface="Aptos" pitchFamily="34" charset="-120"/>
              </a:rPr>
              <a:t>4xx</a:t>
            </a:r>
            <a:endParaRPr lang="en-US" sz="2400" dirty="0"/>
          </a:p>
        </p:txBody>
      </p:sp>
      <p:sp>
        <p:nvSpPr>
          <p:cNvPr id="22" name="Text 19"/>
          <p:cNvSpPr/>
          <p:nvPr/>
        </p:nvSpPr>
        <p:spPr>
          <a:xfrm>
            <a:off x="2121408" y="3675888"/>
            <a:ext cx="3566160" cy="365760"/>
          </a:xfrm>
          <a:prstGeom prst="rect">
            <a:avLst/>
          </a:prstGeom>
          <a:noFill/>
        </p:spPr>
        <p:txBody>
          <a:bodyPr wrap="square" lIns="0" tIns="0" rIns="0" bIns="0" rtlCol="0" anchor="ctr">
            <a:normAutofit/>
          </a:bodyPr>
          <a:lstStyle/>
          <a:p>
            <a:pPr marL="0" indent="0">
              <a:buNone/>
            </a:pPr>
            <a:r>
              <a:rPr lang="en-US" sz="1900" b="1" dirty="0">
                <a:solidFill>
                  <a:srgbClr val="0D2F5F"/>
                </a:solidFill>
                <a:latin typeface="Aptos" pitchFamily="34" charset="0"/>
                <a:ea typeface="Aptos" pitchFamily="34" charset="-122"/>
                <a:cs typeface="Aptos" pitchFamily="34" charset="-120"/>
              </a:rPr>
              <a:t>CLIENT-SIDE ISSUE</a:t>
            </a:r>
            <a:endParaRPr lang="en-US" sz="1900" dirty="0"/>
          </a:p>
        </p:txBody>
      </p:sp>
      <p:sp>
        <p:nvSpPr>
          <p:cNvPr id="23" name="Text 20"/>
          <p:cNvSpPr/>
          <p:nvPr/>
        </p:nvSpPr>
        <p:spPr>
          <a:xfrm>
            <a:off x="2121408" y="4242816"/>
            <a:ext cx="3584448" cy="329184"/>
          </a:xfrm>
          <a:prstGeom prst="rect">
            <a:avLst/>
          </a:prstGeom>
          <a:noFill/>
        </p:spPr>
        <p:txBody>
          <a:bodyPr wrap="square" lIns="0" tIns="0" rIns="0" bIns="0" rtlCol="0" anchor="ctr">
            <a:normAutofit/>
          </a:bodyPr>
          <a:lstStyle/>
          <a:p>
            <a:pPr marL="0" indent="0">
              <a:buNone/>
            </a:pPr>
            <a:r>
              <a:rPr lang="en-US" sz="1600" dirty="0">
                <a:solidFill>
                  <a:srgbClr val="63738B"/>
                </a:solidFill>
                <a:latin typeface="Aptos" pitchFamily="34" charset="0"/>
                <a:ea typeface="Aptos" pitchFamily="34" charset="-122"/>
                <a:cs typeface="Aptos" pitchFamily="34" charset="-120"/>
              </a:rPr>
              <a:t>404 Not Found · 401 · 403</a:t>
            </a:r>
            <a:endParaRPr lang="en-US" sz="1600" dirty="0"/>
          </a:p>
        </p:txBody>
      </p:sp>
      <p:sp>
        <p:nvSpPr>
          <p:cNvPr id="24" name="Shape 21"/>
          <p:cNvSpPr/>
          <p:nvPr/>
        </p:nvSpPr>
        <p:spPr>
          <a:xfrm>
            <a:off x="6263640" y="3474720"/>
            <a:ext cx="5230368" cy="1444752"/>
          </a:xfrm>
          <a:prstGeom prst="roundRect">
            <a:avLst>
              <a:gd name="adj" fmla="val 10127"/>
            </a:avLst>
          </a:prstGeom>
          <a:solidFill>
            <a:srgbClr val="FFFFFF"/>
          </a:solidFill>
          <a:ln w="12700">
            <a:solidFill>
              <a:srgbClr val="FFFFFF">
                <a:alpha val="0"/>
              </a:srgbClr>
            </a:solidFill>
            <a:prstDash val="solid"/>
          </a:ln>
        </p:spPr>
      </p:sp>
      <p:sp>
        <p:nvSpPr>
          <p:cNvPr id="25" name="Shape 22"/>
          <p:cNvSpPr/>
          <p:nvPr/>
        </p:nvSpPr>
        <p:spPr>
          <a:xfrm>
            <a:off x="6446520" y="3703320"/>
            <a:ext cx="1024128" cy="822960"/>
          </a:xfrm>
          <a:prstGeom prst="roundRect">
            <a:avLst>
              <a:gd name="adj" fmla="val 17778"/>
            </a:avLst>
          </a:prstGeom>
          <a:solidFill>
            <a:srgbClr val="0D2F5F"/>
          </a:solidFill>
          <a:ln w="12700">
            <a:solidFill>
              <a:srgbClr val="0D2F5F">
                <a:alpha val="0"/>
              </a:srgbClr>
            </a:solidFill>
            <a:prstDash val="solid"/>
          </a:ln>
        </p:spPr>
      </p:sp>
      <p:sp>
        <p:nvSpPr>
          <p:cNvPr id="26" name="Text 23"/>
          <p:cNvSpPr/>
          <p:nvPr/>
        </p:nvSpPr>
        <p:spPr>
          <a:xfrm>
            <a:off x="6537960" y="3950208"/>
            <a:ext cx="841248" cy="292608"/>
          </a:xfrm>
          <a:prstGeom prst="rect">
            <a:avLst/>
          </a:prstGeom>
          <a:noFill/>
        </p:spPr>
        <p:txBody>
          <a:bodyPr wrap="square" lIns="0" tIns="0" rIns="0" bIns="0" rtlCol="0" anchor="ctr">
            <a:normAutofit fontScale="80000"/>
          </a:bodyPr>
          <a:lstStyle/>
          <a:p>
            <a:pPr marL="0" indent="0" algn="ctr">
              <a:buNone/>
            </a:pPr>
            <a:r>
              <a:rPr lang="en-US" sz="2400" b="1" dirty="0">
                <a:solidFill>
                  <a:srgbClr val="FFFFFF"/>
                </a:solidFill>
                <a:latin typeface="Aptos" pitchFamily="34" charset="0"/>
                <a:ea typeface="Aptos" pitchFamily="34" charset="-122"/>
                <a:cs typeface="Aptos" pitchFamily="34" charset="-120"/>
              </a:rPr>
              <a:t>5xx</a:t>
            </a:r>
            <a:endParaRPr lang="en-US" sz="2400" dirty="0"/>
          </a:p>
        </p:txBody>
      </p:sp>
      <p:sp>
        <p:nvSpPr>
          <p:cNvPr id="27" name="Text 24"/>
          <p:cNvSpPr/>
          <p:nvPr/>
        </p:nvSpPr>
        <p:spPr>
          <a:xfrm>
            <a:off x="7680960" y="3675888"/>
            <a:ext cx="3566160" cy="365760"/>
          </a:xfrm>
          <a:prstGeom prst="rect">
            <a:avLst/>
          </a:prstGeom>
          <a:noFill/>
        </p:spPr>
        <p:txBody>
          <a:bodyPr wrap="square" lIns="0" tIns="0" rIns="0" bIns="0" rtlCol="0" anchor="ctr">
            <a:normAutofit/>
          </a:bodyPr>
          <a:lstStyle/>
          <a:p>
            <a:pPr marL="0" indent="0">
              <a:buNone/>
            </a:pPr>
            <a:r>
              <a:rPr lang="en-US" sz="1900" b="1" dirty="0">
                <a:solidFill>
                  <a:srgbClr val="0D2F5F"/>
                </a:solidFill>
                <a:latin typeface="Aptos" pitchFamily="34" charset="0"/>
                <a:ea typeface="Aptos" pitchFamily="34" charset="-122"/>
                <a:cs typeface="Aptos" pitchFamily="34" charset="-120"/>
              </a:rPr>
              <a:t>SERVER-SIDE ISSUE</a:t>
            </a:r>
            <a:endParaRPr lang="en-US" sz="1900" dirty="0"/>
          </a:p>
        </p:txBody>
      </p:sp>
      <p:sp>
        <p:nvSpPr>
          <p:cNvPr id="28" name="Text 25"/>
          <p:cNvSpPr/>
          <p:nvPr/>
        </p:nvSpPr>
        <p:spPr>
          <a:xfrm>
            <a:off x="7680960" y="4242816"/>
            <a:ext cx="3584448" cy="329184"/>
          </a:xfrm>
          <a:prstGeom prst="rect">
            <a:avLst/>
          </a:prstGeom>
          <a:noFill/>
        </p:spPr>
        <p:txBody>
          <a:bodyPr wrap="square" lIns="0" tIns="0" rIns="0" bIns="0" rtlCol="0" anchor="ctr">
            <a:normAutofit/>
          </a:bodyPr>
          <a:lstStyle/>
          <a:p>
            <a:pPr marL="0" indent="0">
              <a:buNone/>
            </a:pPr>
            <a:r>
              <a:rPr lang="en-US" sz="1600" dirty="0">
                <a:solidFill>
                  <a:srgbClr val="63738B"/>
                </a:solidFill>
                <a:latin typeface="Aptos" pitchFamily="34" charset="0"/>
                <a:ea typeface="Aptos" pitchFamily="34" charset="-122"/>
                <a:cs typeface="Aptos" pitchFamily="34" charset="-120"/>
              </a:rPr>
              <a:t>500 Internal Server Error</a:t>
            </a:r>
            <a:endParaRPr lang="en-US" sz="1600" dirty="0"/>
          </a:p>
        </p:txBody>
      </p:sp>
      <p:pic>
        <p:nvPicPr>
          <p:cNvPr id="29" name="Image 0" descr="/mnt/data/cwp-logo-primary-transparent.png"/>
          <p:cNvPicPr>
            <a:picLocks noChangeAspect="1"/>
          </p:cNvPicPr>
          <p:nvPr/>
        </p:nvPicPr>
        <p:blipFill>
          <a:blip r:embed="rId1"/>
          <a:stretch>
            <a:fillRect/>
          </a:stretch>
        </p:blipFill>
        <p:spPr>
          <a:xfrm>
            <a:off x="603250" y="6029325"/>
            <a:ext cx="946150" cy="628650"/>
          </a:xfrm>
          <a:prstGeom prst="rect">
            <a:avLst/>
          </a:prstGeom>
        </p:spPr>
      </p:pic>
      <p:sp>
        <p:nvSpPr>
          <p:cNvPr id="30" name="Text 4"/>
          <p:cNvSpPr/>
          <p:nvPr/>
        </p:nvSpPr>
        <p:spPr>
          <a:xfrm>
            <a:off x="9485884" y="6419850"/>
            <a:ext cx="1746504" cy="219456"/>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codewithprof.com</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DAA62F"/>
          </a:solidFill>
          <a:ln w="12700">
            <a:solidFill>
              <a:srgbClr val="DAA62F"/>
            </a:solidFill>
            <a:prstDash val="solid"/>
          </a:ln>
        </p:spPr>
      </p:sp>
      <p:sp>
        <p:nvSpPr>
          <p:cNvPr id="3" name="Text 1"/>
          <p:cNvSpPr/>
          <p:nvPr/>
        </p:nvSpPr>
        <p:spPr>
          <a:xfrm>
            <a:off x="603504" y="292608"/>
            <a:ext cx="9144000" cy="201168"/>
          </a:xfrm>
          <a:prstGeom prst="rect">
            <a:avLst/>
          </a:prstGeom>
          <a:noFill/>
        </p:spPr>
        <p:txBody>
          <a:bodyPr wrap="square" lIns="0" tIns="0" rIns="0" bIns="0" rtlCol="0" anchor="ctr">
            <a:normAutofit/>
          </a:bodyPr>
          <a:lstStyle/>
          <a:p>
            <a:pPr marL="0" indent="0">
              <a:buNone/>
            </a:pPr>
            <a:r>
              <a:rPr lang="en-US" sz="1000" b="1" kern="0" spc="120" dirty="0">
                <a:solidFill>
                  <a:srgbClr val="63738B"/>
                </a:solidFill>
                <a:latin typeface="Aptos" pitchFamily="34" charset="0"/>
                <a:ea typeface="Aptos" pitchFamily="34" charset="-122"/>
                <a:cs typeface="Aptos" pitchFamily="34" charset="-120"/>
              </a:rPr>
              <a:t>WEEK 01 · FULL-STACK JOURNEY</a:t>
            </a:r>
            <a:endParaRPr lang="en-US" sz="1000" dirty="0"/>
          </a:p>
        </p:txBody>
      </p:sp>
      <p:sp>
        <p:nvSpPr>
          <p:cNvPr id="4" name="Text 2"/>
          <p:cNvSpPr/>
          <p:nvPr/>
        </p:nvSpPr>
        <p:spPr>
          <a:xfrm>
            <a:off x="603504" y="676656"/>
            <a:ext cx="10972800" cy="658368"/>
          </a:xfrm>
          <a:prstGeom prst="rect">
            <a:avLst/>
          </a:prstGeom>
          <a:noFill/>
        </p:spPr>
        <p:txBody>
          <a:bodyPr wrap="square" lIns="0" tIns="0" rIns="0" bIns="0" rtlCol="0" anchor="ctr">
            <a:normAutofit/>
          </a:bodyPr>
          <a:lstStyle/>
          <a:p>
            <a:pPr marL="0" indent="0">
              <a:buNone/>
            </a:pPr>
            <a:r>
              <a:rPr lang="en-US" sz="3100" b="1" dirty="0">
                <a:solidFill>
                  <a:srgbClr val="0D2F5F"/>
                </a:solidFill>
                <a:latin typeface="Aptos" pitchFamily="34" charset="0"/>
                <a:ea typeface="Aptos" pitchFamily="34" charset="-122"/>
                <a:cs typeface="Aptos" pitchFamily="34" charset="-120"/>
              </a:rPr>
              <a:t>APIs: software talking to software</a:t>
            </a:r>
            <a:endParaRPr lang="en-US" sz="3100" dirty="0"/>
          </a:p>
        </p:txBody>
      </p:sp>
      <p:sp>
        <p:nvSpPr>
          <p:cNvPr id="5" name="Shape 3"/>
          <p:cNvSpPr/>
          <p:nvPr/>
        </p:nvSpPr>
        <p:spPr>
          <a:xfrm>
            <a:off x="603504" y="1408176"/>
            <a:ext cx="10981944" cy="0"/>
          </a:xfrm>
          <a:prstGeom prst="line">
            <a:avLst/>
          </a:prstGeom>
          <a:noFill/>
          <a:ln w="12700">
            <a:solidFill>
              <a:srgbClr val="DEE5EF"/>
            </a:solidFill>
            <a:prstDash val="solid"/>
            <a:headEnd type="none"/>
            <a:tailEnd type="none"/>
          </a:ln>
        </p:spPr>
      </p:sp>
      <p:sp>
        <p:nvSpPr>
          <p:cNvPr id="8" name="Text 5"/>
          <p:cNvSpPr/>
          <p:nvPr/>
        </p:nvSpPr>
        <p:spPr>
          <a:xfrm>
            <a:off x="11338560" y="6437376"/>
            <a:ext cx="237744" cy="201168"/>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17</a:t>
            </a:r>
            <a:endParaRPr lang="en-US" sz="1000" dirty="0"/>
          </a:p>
        </p:txBody>
      </p:sp>
      <p:sp>
        <p:nvSpPr>
          <p:cNvPr id="9" name="Shape 6"/>
          <p:cNvSpPr/>
          <p:nvPr/>
        </p:nvSpPr>
        <p:spPr>
          <a:xfrm>
            <a:off x="768096" y="1883664"/>
            <a:ext cx="5029200" cy="2276856"/>
          </a:xfrm>
          <a:prstGeom prst="roundRect">
            <a:avLst>
              <a:gd name="adj" fmla="val 6426"/>
            </a:avLst>
          </a:prstGeom>
          <a:solidFill>
            <a:srgbClr val="FFFFFF"/>
          </a:solidFill>
          <a:ln w="12700">
            <a:solidFill>
              <a:srgbClr val="FFFFFF">
                <a:alpha val="0"/>
              </a:srgbClr>
            </a:solidFill>
            <a:prstDash val="solid"/>
          </a:ln>
        </p:spPr>
      </p:sp>
      <p:sp>
        <p:nvSpPr>
          <p:cNvPr id="10" name="Text 7"/>
          <p:cNvSpPr/>
          <p:nvPr/>
        </p:nvSpPr>
        <p:spPr>
          <a:xfrm>
            <a:off x="1051560" y="2167128"/>
            <a:ext cx="4453128" cy="384048"/>
          </a:xfrm>
          <a:prstGeom prst="rect">
            <a:avLst/>
          </a:prstGeom>
          <a:noFill/>
        </p:spPr>
        <p:txBody>
          <a:bodyPr wrap="square" lIns="0" tIns="0" rIns="0" bIns="0" rtlCol="0" anchor="ctr">
            <a:normAutofit/>
          </a:bodyPr>
          <a:lstStyle/>
          <a:p>
            <a:pPr marL="0" indent="0">
              <a:buNone/>
            </a:pPr>
            <a:r>
              <a:rPr lang="en-US" sz="2100" b="1" dirty="0">
                <a:solidFill>
                  <a:srgbClr val="0D2F5F"/>
                </a:solidFill>
                <a:latin typeface="Aptos" pitchFamily="34" charset="0"/>
                <a:ea typeface="Aptos" pitchFamily="34" charset="-122"/>
                <a:cs typeface="Aptos" pitchFamily="34" charset="-120"/>
              </a:rPr>
              <a:t>WEB PAGE</a:t>
            </a:r>
            <a:endParaRPr lang="en-US" sz="2100" dirty="0"/>
          </a:p>
        </p:txBody>
      </p:sp>
      <p:sp>
        <p:nvSpPr>
          <p:cNvPr id="11" name="Text 8"/>
          <p:cNvSpPr/>
          <p:nvPr/>
        </p:nvSpPr>
        <p:spPr>
          <a:xfrm>
            <a:off x="1042416" y="2816352"/>
            <a:ext cx="4535424" cy="804672"/>
          </a:xfrm>
          <a:prstGeom prst="rect">
            <a:avLst/>
          </a:prstGeom>
          <a:noFill/>
        </p:spPr>
        <p:txBody>
          <a:bodyPr wrap="square" lIns="0" tIns="0" rIns="0" bIns="0" rtlCol="0" anchor="ctr">
            <a:normAutofit/>
          </a:bodyPr>
          <a:lstStyle/>
          <a:p>
            <a:pPr marL="0" indent="0">
              <a:buNone/>
            </a:pPr>
            <a:r>
              <a:rPr lang="en-US" sz="1900" dirty="0">
                <a:solidFill>
                  <a:srgbClr val="63738B"/>
                </a:solidFill>
                <a:latin typeface="Aptos" pitchFamily="34" charset="0"/>
                <a:ea typeface="Aptos" pitchFamily="34" charset="-122"/>
                <a:cs typeface="Aptos" pitchFamily="34" charset="-120"/>
              </a:rPr>
              <a:t>Designed for people</a:t>
            </a:r>
            <a:endParaRPr lang="en-US" sz="1900" dirty="0"/>
          </a:p>
          <a:p>
            <a:pPr marL="0" indent="0">
              <a:buNone/>
            </a:pPr>
            <a:r>
              <a:rPr lang="en-US" sz="1900" dirty="0">
                <a:solidFill>
                  <a:srgbClr val="63738B"/>
                </a:solidFill>
                <a:latin typeface="Aptos" pitchFamily="34" charset="0"/>
                <a:ea typeface="Aptos" pitchFamily="34" charset="-122"/>
                <a:cs typeface="Aptos" pitchFamily="34" charset="-120"/>
              </a:rPr>
              <a:t>HTML rendered in the browser</a:t>
            </a:r>
            <a:endParaRPr lang="en-US" sz="1900" dirty="0"/>
          </a:p>
        </p:txBody>
      </p:sp>
      <p:sp>
        <p:nvSpPr>
          <p:cNvPr id="12" name="Shape 9"/>
          <p:cNvSpPr/>
          <p:nvPr/>
        </p:nvSpPr>
        <p:spPr>
          <a:xfrm>
            <a:off x="6245352" y="1883664"/>
            <a:ext cx="5029200" cy="2276856"/>
          </a:xfrm>
          <a:prstGeom prst="roundRect">
            <a:avLst>
              <a:gd name="adj" fmla="val 6426"/>
            </a:avLst>
          </a:prstGeom>
          <a:solidFill>
            <a:srgbClr val="FFFFFF"/>
          </a:solidFill>
          <a:ln w="12700">
            <a:solidFill>
              <a:srgbClr val="FFFFFF">
                <a:alpha val="0"/>
              </a:srgbClr>
            </a:solidFill>
            <a:prstDash val="solid"/>
          </a:ln>
        </p:spPr>
      </p:sp>
      <p:sp>
        <p:nvSpPr>
          <p:cNvPr id="13" name="Text 10"/>
          <p:cNvSpPr/>
          <p:nvPr/>
        </p:nvSpPr>
        <p:spPr>
          <a:xfrm>
            <a:off x="6528816" y="2167128"/>
            <a:ext cx="4462272" cy="384048"/>
          </a:xfrm>
          <a:prstGeom prst="rect">
            <a:avLst/>
          </a:prstGeom>
          <a:noFill/>
        </p:spPr>
        <p:txBody>
          <a:bodyPr wrap="square" lIns="0" tIns="0" rIns="0" bIns="0" rtlCol="0" anchor="ctr">
            <a:normAutofit/>
          </a:bodyPr>
          <a:lstStyle/>
          <a:p>
            <a:pPr marL="0" indent="0">
              <a:buNone/>
            </a:pPr>
            <a:r>
              <a:rPr lang="en-US" sz="2100" b="1" dirty="0">
                <a:solidFill>
                  <a:srgbClr val="0D2F5F"/>
                </a:solidFill>
                <a:latin typeface="Aptos" pitchFamily="34" charset="0"/>
                <a:ea typeface="Aptos" pitchFamily="34" charset="-122"/>
                <a:cs typeface="Aptos" pitchFamily="34" charset="-120"/>
              </a:rPr>
              <a:t>API</a:t>
            </a:r>
            <a:endParaRPr lang="en-US" sz="2100" dirty="0"/>
          </a:p>
        </p:txBody>
      </p:sp>
      <p:sp>
        <p:nvSpPr>
          <p:cNvPr id="14" name="Text 11"/>
          <p:cNvSpPr/>
          <p:nvPr/>
        </p:nvSpPr>
        <p:spPr>
          <a:xfrm>
            <a:off x="6519672" y="2816352"/>
            <a:ext cx="4535424" cy="804672"/>
          </a:xfrm>
          <a:prstGeom prst="rect">
            <a:avLst/>
          </a:prstGeom>
          <a:noFill/>
        </p:spPr>
        <p:txBody>
          <a:bodyPr wrap="square" lIns="0" tIns="0" rIns="0" bIns="0" rtlCol="0" anchor="ctr">
            <a:normAutofit/>
          </a:bodyPr>
          <a:lstStyle/>
          <a:p>
            <a:pPr marL="0" indent="0">
              <a:buNone/>
            </a:pPr>
            <a:r>
              <a:rPr lang="en-US" sz="1900" dirty="0">
                <a:solidFill>
                  <a:srgbClr val="63738B"/>
                </a:solidFill>
                <a:latin typeface="Aptos" pitchFamily="34" charset="0"/>
                <a:ea typeface="Aptos" pitchFamily="34" charset="-122"/>
                <a:cs typeface="Aptos" pitchFamily="34" charset="-120"/>
              </a:rPr>
              <a:t>Designed for programs</a:t>
            </a:r>
            <a:endParaRPr lang="en-US" sz="1900" dirty="0"/>
          </a:p>
          <a:p>
            <a:pPr marL="0" indent="0">
              <a:buNone/>
            </a:pPr>
            <a:r>
              <a:rPr lang="en-US" sz="1900" dirty="0">
                <a:solidFill>
                  <a:srgbClr val="63738B"/>
                </a:solidFill>
                <a:latin typeface="Aptos" pitchFamily="34" charset="0"/>
                <a:ea typeface="Aptos" pitchFamily="34" charset="-122"/>
                <a:cs typeface="Aptos" pitchFamily="34" charset="-120"/>
              </a:rPr>
              <a:t>Often responds with JSON</a:t>
            </a:r>
            <a:endParaRPr lang="en-US" sz="1900" dirty="0"/>
          </a:p>
        </p:txBody>
      </p:sp>
      <p:sp>
        <p:nvSpPr>
          <p:cNvPr id="15" name="Shape 12"/>
          <p:cNvSpPr/>
          <p:nvPr/>
        </p:nvSpPr>
        <p:spPr>
          <a:xfrm>
            <a:off x="1078992" y="4572000"/>
            <a:ext cx="10021824" cy="758952"/>
          </a:xfrm>
          <a:prstGeom prst="roundRect">
            <a:avLst>
              <a:gd name="adj" fmla="val 19277"/>
            </a:avLst>
          </a:prstGeom>
          <a:solidFill>
            <a:srgbClr val="0D2F5F"/>
          </a:solidFill>
          <a:ln w="12700">
            <a:solidFill>
              <a:srgbClr val="0D2F5F">
                <a:alpha val="0"/>
              </a:srgbClr>
            </a:solidFill>
            <a:prstDash val="solid"/>
          </a:ln>
        </p:spPr>
      </p:sp>
      <p:sp>
        <p:nvSpPr>
          <p:cNvPr id="16" name="Text 13"/>
          <p:cNvSpPr/>
          <p:nvPr/>
        </p:nvSpPr>
        <p:spPr>
          <a:xfrm>
            <a:off x="1261872" y="4782312"/>
            <a:ext cx="9610344" cy="329184"/>
          </a:xfrm>
          <a:prstGeom prst="rect">
            <a:avLst/>
          </a:prstGeom>
          <a:noFill/>
        </p:spPr>
        <p:txBody>
          <a:bodyPr wrap="square" lIns="0" tIns="0" rIns="0" bIns="0" rtlCol="0" anchor="ctr">
            <a:normAutofit/>
          </a:bodyPr>
          <a:lstStyle/>
          <a:p>
            <a:pPr marL="0" indent="0" algn="ctr">
              <a:buNone/>
            </a:pPr>
            <a:r>
              <a:rPr lang="en-US" sz="1700" b="1" dirty="0">
                <a:solidFill>
                  <a:srgbClr val="FFFFFF"/>
                </a:solidFill>
                <a:latin typeface="Aptos" pitchFamily="34" charset="0"/>
                <a:ea typeface="Aptos" pitchFamily="34" charset="-122"/>
                <a:cs typeface="Aptos" pitchFamily="34" charset="-120"/>
              </a:rPr>
              <a:t>GET /api/time  →  {"utc_time": "2026-10-07T10:00:00+00:00"}</a:t>
            </a:r>
            <a:endParaRPr lang="en-US" sz="1700" dirty="0"/>
          </a:p>
        </p:txBody>
      </p:sp>
      <p:pic>
        <p:nvPicPr>
          <p:cNvPr id="17" name="Image 0" descr="/mnt/data/cwp-logo-primary-transparent.png"/>
          <p:cNvPicPr>
            <a:picLocks noChangeAspect="1"/>
          </p:cNvPicPr>
          <p:nvPr/>
        </p:nvPicPr>
        <p:blipFill>
          <a:blip r:embed="rId1"/>
          <a:stretch>
            <a:fillRect/>
          </a:stretch>
        </p:blipFill>
        <p:spPr>
          <a:xfrm>
            <a:off x="603250" y="6029325"/>
            <a:ext cx="946150" cy="628650"/>
          </a:xfrm>
          <a:prstGeom prst="rect">
            <a:avLst/>
          </a:prstGeom>
        </p:spPr>
      </p:pic>
      <p:sp>
        <p:nvSpPr>
          <p:cNvPr id="18" name="Text 4"/>
          <p:cNvSpPr/>
          <p:nvPr/>
        </p:nvSpPr>
        <p:spPr>
          <a:xfrm>
            <a:off x="9485884" y="6419850"/>
            <a:ext cx="1746504" cy="219456"/>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codewithprof.com</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DAA62F"/>
          </a:solidFill>
          <a:ln w="12700">
            <a:solidFill>
              <a:srgbClr val="DAA62F"/>
            </a:solidFill>
            <a:prstDash val="solid"/>
          </a:ln>
        </p:spPr>
      </p:sp>
      <p:sp>
        <p:nvSpPr>
          <p:cNvPr id="3" name="Text 1"/>
          <p:cNvSpPr/>
          <p:nvPr/>
        </p:nvSpPr>
        <p:spPr>
          <a:xfrm>
            <a:off x="603504" y="292608"/>
            <a:ext cx="9144000" cy="201168"/>
          </a:xfrm>
          <a:prstGeom prst="rect">
            <a:avLst/>
          </a:prstGeom>
          <a:noFill/>
        </p:spPr>
        <p:txBody>
          <a:bodyPr wrap="square" lIns="0" tIns="0" rIns="0" bIns="0" rtlCol="0" anchor="ctr">
            <a:normAutofit/>
          </a:bodyPr>
          <a:lstStyle/>
          <a:p>
            <a:pPr marL="0" indent="0">
              <a:buNone/>
            </a:pPr>
            <a:r>
              <a:rPr lang="en-US" sz="1000" b="1" kern="0" spc="120" dirty="0">
                <a:solidFill>
                  <a:srgbClr val="63738B"/>
                </a:solidFill>
                <a:latin typeface="Aptos" pitchFamily="34" charset="0"/>
                <a:ea typeface="Aptos" pitchFamily="34" charset="-122"/>
                <a:cs typeface="Aptos" pitchFamily="34" charset="-120"/>
              </a:rPr>
              <a:t>WEEK 01 · FULL-STACK JOURNEY</a:t>
            </a:r>
            <a:endParaRPr lang="en-US" sz="1000" dirty="0"/>
          </a:p>
        </p:txBody>
      </p:sp>
      <p:sp>
        <p:nvSpPr>
          <p:cNvPr id="4" name="Text 2"/>
          <p:cNvSpPr/>
          <p:nvPr/>
        </p:nvSpPr>
        <p:spPr>
          <a:xfrm>
            <a:off x="603504" y="676656"/>
            <a:ext cx="10972800" cy="658368"/>
          </a:xfrm>
          <a:prstGeom prst="rect">
            <a:avLst/>
          </a:prstGeom>
          <a:noFill/>
        </p:spPr>
        <p:txBody>
          <a:bodyPr wrap="square" lIns="0" tIns="0" rIns="0" bIns="0" rtlCol="0" anchor="ctr">
            <a:normAutofit/>
          </a:bodyPr>
          <a:lstStyle/>
          <a:p>
            <a:pPr marL="0" indent="0">
              <a:buNone/>
            </a:pPr>
            <a:r>
              <a:rPr lang="en-US" sz="3100" b="1" dirty="0">
                <a:solidFill>
                  <a:srgbClr val="0D2F5F"/>
                </a:solidFill>
                <a:latin typeface="Aptos" pitchFamily="34" charset="0"/>
                <a:ea typeface="Aptos" pitchFamily="34" charset="-122"/>
                <a:cs typeface="Aptos" pitchFamily="34" charset="-120"/>
              </a:rPr>
              <a:t>The cloud: whose computer runs the app?</a:t>
            </a:r>
            <a:endParaRPr lang="en-US" sz="3100" dirty="0"/>
          </a:p>
        </p:txBody>
      </p:sp>
      <p:sp>
        <p:nvSpPr>
          <p:cNvPr id="5" name="Shape 3"/>
          <p:cNvSpPr/>
          <p:nvPr/>
        </p:nvSpPr>
        <p:spPr>
          <a:xfrm>
            <a:off x="603504" y="1408176"/>
            <a:ext cx="10981944" cy="0"/>
          </a:xfrm>
          <a:prstGeom prst="line">
            <a:avLst/>
          </a:prstGeom>
          <a:noFill/>
          <a:ln w="12700">
            <a:solidFill>
              <a:srgbClr val="DEE5EF"/>
            </a:solidFill>
            <a:prstDash val="solid"/>
            <a:headEnd type="none"/>
            <a:tailEnd type="none"/>
          </a:ln>
        </p:spPr>
      </p:sp>
      <p:sp>
        <p:nvSpPr>
          <p:cNvPr id="8" name="Text 5"/>
          <p:cNvSpPr/>
          <p:nvPr/>
        </p:nvSpPr>
        <p:spPr>
          <a:xfrm>
            <a:off x="11338560" y="6437376"/>
            <a:ext cx="237744" cy="201168"/>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18</a:t>
            </a:r>
            <a:endParaRPr lang="en-US" sz="1000" dirty="0"/>
          </a:p>
        </p:txBody>
      </p:sp>
      <p:sp>
        <p:nvSpPr>
          <p:cNvPr id="9" name="Shape 6"/>
          <p:cNvSpPr/>
          <p:nvPr/>
        </p:nvSpPr>
        <p:spPr>
          <a:xfrm>
            <a:off x="685800" y="1874520"/>
            <a:ext cx="3392424" cy="2596896"/>
          </a:xfrm>
          <a:prstGeom prst="roundRect">
            <a:avLst>
              <a:gd name="adj" fmla="val 5634"/>
            </a:avLst>
          </a:prstGeom>
          <a:solidFill>
            <a:srgbClr val="FFFFFF"/>
          </a:solidFill>
          <a:ln w="12700">
            <a:solidFill>
              <a:srgbClr val="FFFFFF">
                <a:alpha val="0"/>
              </a:srgbClr>
            </a:solidFill>
            <a:prstDash val="solid"/>
          </a:ln>
        </p:spPr>
      </p:sp>
      <p:sp>
        <p:nvSpPr>
          <p:cNvPr id="10" name="Shape 7"/>
          <p:cNvSpPr/>
          <p:nvPr/>
        </p:nvSpPr>
        <p:spPr>
          <a:xfrm>
            <a:off x="685800" y="1874520"/>
            <a:ext cx="59436" cy="2596896"/>
          </a:xfrm>
          <a:prstGeom prst="rect">
            <a:avLst/>
          </a:prstGeom>
          <a:solidFill>
            <a:srgbClr val="DAA62F"/>
          </a:solidFill>
          <a:ln w="12700">
            <a:solidFill>
              <a:srgbClr val="DAA62F"/>
            </a:solidFill>
            <a:prstDash val="solid"/>
          </a:ln>
        </p:spPr>
      </p:sp>
      <p:sp>
        <p:nvSpPr>
          <p:cNvPr id="11" name="Text 8"/>
          <p:cNvSpPr/>
          <p:nvPr/>
        </p:nvSpPr>
        <p:spPr>
          <a:xfrm>
            <a:off x="905256" y="2048256"/>
            <a:ext cx="2953512" cy="393192"/>
          </a:xfrm>
          <a:prstGeom prst="rect">
            <a:avLst/>
          </a:prstGeom>
          <a:noFill/>
        </p:spPr>
        <p:txBody>
          <a:bodyPr wrap="square" lIns="0" tIns="0" rIns="0" bIns="0" rtlCol="0" anchor="ctr">
            <a:normAutofit/>
          </a:bodyPr>
          <a:lstStyle/>
          <a:p>
            <a:pPr marL="0" indent="0">
              <a:buNone/>
            </a:pPr>
            <a:r>
              <a:rPr lang="en-US" sz="2300" b="1" dirty="0">
                <a:solidFill>
                  <a:srgbClr val="0D2F5F"/>
                </a:solidFill>
                <a:latin typeface="Aptos" pitchFamily="34" charset="0"/>
                <a:ea typeface="Aptos" pitchFamily="34" charset="-122"/>
                <a:cs typeface="Aptos" pitchFamily="34" charset="-120"/>
              </a:rPr>
              <a:t>IaaS</a:t>
            </a:r>
            <a:endParaRPr lang="en-US" sz="2300" dirty="0"/>
          </a:p>
        </p:txBody>
      </p:sp>
      <p:sp>
        <p:nvSpPr>
          <p:cNvPr id="12" name="Text 9"/>
          <p:cNvSpPr/>
          <p:nvPr/>
        </p:nvSpPr>
        <p:spPr>
          <a:xfrm>
            <a:off x="905256" y="2542032"/>
            <a:ext cx="2953512" cy="1764792"/>
          </a:xfrm>
          <a:prstGeom prst="rect">
            <a:avLst/>
          </a:prstGeom>
          <a:noFill/>
        </p:spPr>
        <p:txBody>
          <a:bodyPr wrap="square" lIns="0" tIns="0" rIns="0" bIns="0" rtlCol="0" anchor="t">
            <a:normAutofit/>
          </a:bodyPr>
          <a:lstStyle/>
          <a:p>
            <a:pPr marL="0" indent="0">
              <a:buNone/>
            </a:pPr>
            <a:r>
              <a:rPr lang="en-US" sz="1800" dirty="0">
                <a:solidFill>
                  <a:srgbClr val="63738B"/>
                </a:solidFill>
                <a:latin typeface="Aptos" pitchFamily="34" charset="0"/>
                <a:ea typeface="Aptos" pitchFamily="34" charset="-122"/>
                <a:cs typeface="Aptos" pitchFamily="34" charset="-120"/>
              </a:rPr>
              <a:t>Rent infrastructure and manage operating systems.</a:t>
            </a:r>
            <a:endParaRPr lang="en-US" sz="1800" dirty="0"/>
          </a:p>
          <a:p>
            <a:pPr marL="0" indent="0">
              <a:buNone/>
            </a:pPr>
            <a:endParaRPr lang="en-US" sz="1800" dirty="0"/>
          </a:p>
          <a:p>
            <a:pPr marL="0" indent="0">
              <a:buNone/>
            </a:pPr>
            <a:r>
              <a:rPr lang="en-US" sz="1800" dirty="0">
                <a:solidFill>
                  <a:srgbClr val="63738B"/>
                </a:solidFill>
                <a:latin typeface="Aptos" pitchFamily="34" charset="0"/>
                <a:ea typeface="Aptos" pitchFamily="34" charset="-122"/>
                <a:cs typeface="Aptos" pitchFamily="34" charset="-120"/>
              </a:rPr>
              <a:t>Example: Azure Virtual Machines.</a:t>
            </a:r>
            <a:endParaRPr lang="en-US" sz="1800" dirty="0"/>
          </a:p>
        </p:txBody>
      </p:sp>
      <p:sp>
        <p:nvSpPr>
          <p:cNvPr id="13" name="Shape 10"/>
          <p:cNvSpPr/>
          <p:nvPr/>
        </p:nvSpPr>
        <p:spPr>
          <a:xfrm>
            <a:off x="4398264" y="1874520"/>
            <a:ext cx="3392424" cy="2596896"/>
          </a:xfrm>
          <a:prstGeom prst="roundRect">
            <a:avLst>
              <a:gd name="adj" fmla="val 5634"/>
            </a:avLst>
          </a:prstGeom>
          <a:solidFill>
            <a:srgbClr val="FFFFFF"/>
          </a:solidFill>
          <a:ln w="12700">
            <a:solidFill>
              <a:srgbClr val="FFFFFF">
                <a:alpha val="0"/>
              </a:srgbClr>
            </a:solidFill>
            <a:prstDash val="solid"/>
          </a:ln>
        </p:spPr>
      </p:sp>
      <p:sp>
        <p:nvSpPr>
          <p:cNvPr id="14" name="Shape 11"/>
          <p:cNvSpPr/>
          <p:nvPr/>
        </p:nvSpPr>
        <p:spPr>
          <a:xfrm>
            <a:off x="4398264" y="1874520"/>
            <a:ext cx="59436" cy="2596896"/>
          </a:xfrm>
          <a:prstGeom prst="rect">
            <a:avLst/>
          </a:prstGeom>
          <a:solidFill>
            <a:srgbClr val="DAA62F"/>
          </a:solidFill>
          <a:ln w="12700">
            <a:solidFill>
              <a:srgbClr val="DAA62F"/>
            </a:solidFill>
            <a:prstDash val="solid"/>
          </a:ln>
        </p:spPr>
      </p:sp>
      <p:sp>
        <p:nvSpPr>
          <p:cNvPr id="15" name="Text 12"/>
          <p:cNvSpPr/>
          <p:nvPr/>
        </p:nvSpPr>
        <p:spPr>
          <a:xfrm>
            <a:off x="4617720" y="2048256"/>
            <a:ext cx="2953512" cy="393192"/>
          </a:xfrm>
          <a:prstGeom prst="rect">
            <a:avLst/>
          </a:prstGeom>
          <a:noFill/>
        </p:spPr>
        <p:txBody>
          <a:bodyPr wrap="square" lIns="0" tIns="0" rIns="0" bIns="0" rtlCol="0" anchor="ctr">
            <a:normAutofit/>
          </a:bodyPr>
          <a:lstStyle/>
          <a:p>
            <a:pPr marL="0" indent="0">
              <a:buNone/>
            </a:pPr>
            <a:r>
              <a:rPr lang="en-US" sz="2300" b="1" dirty="0">
                <a:solidFill>
                  <a:srgbClr val="0D2F5F"/>
                </a:solidFill>
                <a:latin typeface="Aptos" pitchFamily="34" charset="0"/>
                <a:ea typeface="Aptos" pitchFamily="34" charset="-122"/>
                <a:cs typeface="Aptos" pitchFamily="34" charset="-120"/>
              </a:rPr>
              <a:t>PaaS</a:t>
            </a:r>
            <a:endParaRPr lang="en-US" sz="2300" dirty="0"/>
          </a:p>
        </p:txBody>
      </p:sp>
      <p:sp>
        <p:nvSpPr>
          <p:cNvPr id="16" name="Text 13"/>
          <p:cNvSpPr/>
          <p:nvPr/>
        </p:nvSpPr>
        <p:spPr>
          <a:xfrm>
            <a:off x="4617720" y="2542032"/>
            <a:ext cx="2953512" cy="1764792"/>
          </a:xfrm>
          <a:prstGeom prst="rect">
            <a:avLst/>
          </a:prstGeom>
          <a:noFill/>
        </p:spPr>
        <p:txBody>
          <a:bodyPr wrap="square" lIns="0" tIns="0" rIns="0" bIns="0" rtlCol="0" anchor="t">
            <a:normAutofit/>
          </a:bodyPr>
          <a:lstStyle/>
          <a:p>
            <a:pPr marL="0" indent="0">
              <a:buNone/>
            </a:pPr>
            <a:r>
              <a:rPr lang="en-US" sz="1800" dirty="0">
                <a:solidFill>
                  <a:srgbClr val="63738B"/>
                </a:solidFill>
                <a:latin typeface="Aptos" pitchFamily="34" charset="0"/>
                <a:ea typeface="Aptos" pitchFamily="34" charset="-122"/>
                <a:cs typeface="Aptos" pitchFamily="34" charset="-120"/>
              </a:rPr>
              <a:t>Deploy application code; the provider operates the platform.</a:t>
            </a:r>
            <a:endParaRPr lang="en-US" sz="1800" dirty="0"/>
          </a:p>
          <a:p>
            <a:pPr marL="0" indent="0">
              <a:buNone/>
            </a:pPr>
            <a:endParaRPr lang="en-US" sz="1800" dirty="0"/>
          </a:p>
          <a:p>
            <a:pPr marL="0" indent="0">
              <a:buNone/>
            </a:pPr>
            <a:r>
              <a:rPr lang="en-US" sz="1800" dirty="0">
                <a:solidFill>
                  <a:srgbClr val="63738B"/>
                </a:solidFill>
                <a:latin typeface="Aptos" pitchFamily="34" charset="0"/>
                <a:ea typeface="Aptos" pitchFamily="34" charset="-122"/>
                <a:cs typeface="Aptos" pitchFamily="34" charset="-120"/>
              </a:rPr>
              <a:t>Example: Azure App Service.</a:t>
            </a:r>
            <a:endParaRPr lang="en-US" sz="1800" dirty="0"/>
          </a:p>
        </p:txBody>
      </p:sp>
      <p:sp>
        <p:nvSpPr>
          <p:cNvPr id="17" name="Shape 14"/>
          <p:cNvSpPr/>
          <p:nvPr/>
        </p:nvSpPr>
        <p:spPr>
          <a:xfrm>
            <a:off x="8101584" y="1874520"/>
            <a:ext cx="3392424" cy="2596896"/>
          </a:xfrm>
          <a:prstGeom prst="roundRect">
            <a:avLst>
              <a:gd name="adj" fmla="val 5634"/>
            </a:avLst>
          </a:prstGeom>
          <a:solidFill>
            <a:srgbClr val="FFFFFF"/>
          </a:solidFill>
          <a:ln w="12700">
            <a:solidFill>
              <a:srgbClr val="FFFFFF">
                <a:alpha val="0"/>
              </a:srgbClr>
            </a:solidFill>
            <a:prstDash val="solid"/>
          </a:ln>
        </p:spPr>
      </p:sp>
      <p:sp>
        <p:nvSpPr>
          <p:cNvPr id="18" name="Shape 15"/>
          <p:cNvSpPr/>
          <p:nvPr/>
        </p:nvSpPr>
        <p:spPr>
          <a:xfrm>
            <a:off x="8101584" y="1874520"/>
            <a:ext cx="59436" cy="2596896"/>
          </a:xfrm>
          <a:prstGeom prst="rect">
            <a:avLst/>
          </a:prstGeom>
          <a:solidFill>
            <a:srgbClr val="DAA62F"/>
          </a:solidFill>
          <a:ln w="12700">
            <a:solidFill>
              <a:srgbClr val="DAA62F"/>
            </a:solidFill>
            <a:prstDash val="solid"/>
          </a:ln>
        </p:spPr>
      </p:sp>
      <p:sp>
        <p:nvSpPr>
          <p:cNvPr id="19" name="Text 16"/>
          <p:cNvSpPr/>
          <p:nvPr/>
        </p:nvSpPr>
        <p:spPr>
          <a:xfrm>
            <a:off x="8321040" y="2048256"/>
            <a:ext cx="2953512" cy="393192"/>
          </a:xfrm>
          <a:prstGeom prst="rect">
            <a:avLst/>
          </a:prstGeom>
          <a:noFill/>
        </p:spPr>
        <p:txBody>
          <a:bodyPr wrap="square" lIns="0" tIns="0" rIns="0" bIns="0" rtlCol="0" anchor="ctr">
            <a:normAutofit/>
          </a:bodyPr>
          <a:lstStyle/>
          <a:p>
            <a:pPr marL="0" indent="0">
              <a:buNone/>
            </a:pPr>
            <a:r>
              <a:rPr lang="en-US" sz="2300" b="1" dirty="0">
                <a:solidFill>
                  <a:srgbClr val="0D2F5F"/>
                </a:solidFill>
                <a:latin typeface="Aptos" pitchFamily="34" charset="0"/>
                <a:ea typeface="Aptos" pitchFamily="34" charset="-122"/>
                <a:cs typeface="Aptos" pitchFamily="34" charset="-120"/>
              </a:rPr>
              <a:t>SaaS</a:t>
            </a:r>
            <a:endParaRPr lang="en-US" sz="2300" dirty="0"/>
          </a:p>
        </p:txBody>
      </p:sp>
      <p:sp>
        <p:nvSpPr>
          <p:cNvPr id="20" name="Text 17"/>
          <p:cNvSpPr/>
          <p:nvPr/>
        </p:nvSpPr>
        <p:spPr>
          <a:xfrm>
            <a:off x="8321040" y="2542032"/>
            <a:ext cx="2953512" cy="1764792"/>
          </a:xfrm>
          <a:prstGeom prst="rect">
            <a:avLst/>
          </a:prstGeom>
          <a:noFill/>
        </p:spPr>
        <p:txBody>
          <a:bodyPr wrap="square" lIns="0" tIns="0" rIns="0" bIns="0" rtlCol="0" anchor="t">
            <a:normAutofit/>
          </a:bodyPr>
          <a:lstStyle/>
          <a:p>
            <a:pPr marL="0" indent="0">
              <a:buNone/>
            </a:pPr>
            <a:r>
              <a:rPr lang="en-US" sz="1800" dirty="0">
                <a:solidFill>
                  <a:srgbClr val="63738B"/>
                </a:solidFill>
                <a:latin typeface="Aptos" pitchFamily="34" charset="0"/>
                <a:ea typeface="Aptos" pitchFamily="34" charset="-122"/>
                <a:cs typeface="Aptos" pitchFamily="34" charset="-120"/>
              </a:rPr>
              <a:t>Use ready-made software through the internet.</a:t>
            </a:r>
            <a:endParaRPr lang="en-US" sz="1800" dirty="0"/>
          </a:p>
          <a:p>
            <a:pPr marL="0" indent="0">
              <a:buNone/>
            </a:pPr>
            <a:endParaRPr lang="en-US" sz="1800" dirty="0"/>
          </a:p>
          <a:p>
            <a:pPr marL="0" indent="0">
              <a:buNone/>
            </a:pPr>
            <a:r>
              <a:rPr lang="en-US" sz="1800" dirty="0">
                <a:solidFill>
                  <a:srgbClr val="63738B"/>
                </a:solidFill>
                <a:latin typeface="Aptos" pitchFamily="34" charset="0"/>
                <a:ea typeface="Aptos" pitchFamily="34" charset="-122"/>
                <a:cs typeface="Aptos" pitchFamily="34" charset="-120"/>
              </a:rPr>
              <a:t>Example: Microsoft 365.</a:t>
            </a:r>
            <a:endParaRPr lang="en-US" sz="1800" dirty="0"/>
          </a:p>
        </p:txBody>
      </p:sp>
      <p:sp>
        <p:nvSpPr>
          <p:cNvPr id="21" name="Text 18"/>
          <p:cNvSpPr/>
          <p:nvPr/>
        </p:nvSpPr>
        <p:spPr>
          <a:xfrm>
            <a:off x="850392" y="4928616"/>
            <a:ext cx="10561320" cy="521208"/>
          </a:xfrm>
          <a:prstGeom prst="rect">
            <a:avLst/>
          </a:prstGeom>
          <a:noFill/>
        </p:spPr>
        <p:txBody>
          <a:bodyPr wrap="square" lIns="0" tIns="0" rIns="0" bIns="0" rtlCol="0" anchor="ctr">
            <a:normAutofit/>
          </a:bodyPr>
          <a:lstStyle/>
          <a:p>
            <a:pPr marL="0" indent="0" algn="ctr">
              <a:buNone/>
            </a:pPr>
            <a:r>
              <a:rPr lang="en-US" sz="2100" b="1" dirty="0">
                <a:solidFill>
                  <a:srgbClr val="0D2F5F"/>
                </a:solidFill>
                <a:latin typeface="Aptos" pitchFamily="34" charset="0"/>
                <a:ea typeface="Aptos" pitchFamily="34" charset="-122"/>
                <a:cs typeface="Aptos" pitchFamily="34" charset="-120"/>
              </a:rPr>
              <a:t>Cloud computing = on-demand computing services running in data centres.</a:t>
            </a:r>
            <a:endParaRPr lang="en-US" sz="2100" dirty="0"/>
          </a:p>
        </p:txBody>
      </p:sp>
      <p:pic>
        <p:nvPicPr>
          <p:cNvPr id="22" name="Image 0" descr="/mnt/data/cwp-logo-primary-transparent.png"/>
          <p:cNvPicPr>
            <a:picLocks noChangeAspect="1"/>
          </p:cNvPicPr>
          <p:nvPr/>
        </p:nvPicPr>
        <p:blipFill>
          <a:blip r:embed="rId1"/>
          <a:stretch>
            <a:fillRect/>
          </a:stretch>
        </p:blipFill>
        <p:spPr>
          <a:xfrm>
            <a:off x="603250" y="6029325"/>
            <a:ext cx="946150" cy="628650"/>
          </a:xfrm>
          <a:prstGeom prst="rect">
            <a:avLst/>
          </a:prstGeom>
        </p:spPr>
      </p:pic>
      <p:sp>
        <p:nvSpPr>
          <p:cNvPr id="23" name="Text 4"/>
          <p:cNvSpPr/>
          <p:nvPr/>
        </p:nvSpPr>
        <p:spPr>
          <a:xfrm>
            <a:off x="9485884" y="6419850"/>
            <a:ext cx="1746504" cy="219456"/>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codewithprof.com</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DAA62F"/>
          </a:solidFill>
          <a:ln w="12700">
            <a:solidFill>
              <a:srgbClr val="DAA62F"/>
            </a:solidFill>
            <a:prstDash val="solid"/>
          </a:ln>
        </p:spPr>
      </p:sp>
      <p:sp>
        <p:nvSpPr>
          <p:cNvPr id="3" name="Text 1"/>
          <p:cNvSpPr/>
          <p:nvPr/>
        </p:nvSpPr>
        <p:spPr>
          <a:xfrm>
            <a:off x="603504" y="292608"/>
            <a:ext cx="9144000" cy="201168"/>
          </a:xfrm>
          <a:prstGeom prst="rect">
            <a:avLst/>
          </a:prstGeom>
          <a:noFill/>
        </p:spPr>
        <p:txBody>
          <a:bodyPr wrap="square" lIns="0" tIns="0" rIns="0" bIns="0" rtlCol="0" anchor="ctr">
            <a:normAutofit/>
          </a:bodyPr>
          <a:lstStyle/>
          <a:p>
            <a:pPr marL="0" indent="0">
              <a:buNone/>
            </a:pPr>
            <a:r>
              <a:rPr lang="en-US" sz="1000" b="1" kern="0" spc="120" dirty="0">
                <a:solidFill>
                  <a:srgbClr val="63738B"/>
                </a:solidFill>
                <a:latin typeface="Aptos" pitchFamily="34" charset="0"/>
                <a:ea typeface="Aptos" pitchFamily="34" charset="-122"/>
                <a:cs typeface="Aptos" pitchFamily="34" charset="-120"/>
              </a:rPr>
              <a:t>WEEK 01 · FULL-STACK JOURNEY</a:t>
            </a:r>
            <a:endParaRPr lang="en-US" sz="1000" dirty="0"/>
          </a:p>
        </p:txBody>
      </p:sp>
      <p:sp>
        <p:nvSpPr>
          <p:cNvPr id="4" name="Text 2"/>
          <p:cNvSpPr/>
          <p:nvPr/>
        </p:nvSpPr>
        <p:spPr>
          <a:xfrm>
            <a:off x="603504" y="676656"/>
            <a:ext cx="10972800" cy="658368"/>
          </a:xfrm>
          <a:prstGeom prst="rect">
            <a:avLst/>
          </a:prstGeom>
          <a:noFill/>
        </p:spPr>
        <p:txBody>
          <a:bodyPr wrap="square" lIns="0" tIns="0" rIns="0" bIns="0" rtlCol="0" anchor="ctr">
            <a:normAutofit/>
          </a:bodyPr>
          <a:lstStyle/>
          <a:p>
            <a:pPr marL="0" indent="0">
              <a:buNone/>
            </a:pPr>
            <a:r>
              <a:rPr lang="en-US" sz="3100" b="1" dirty="0">
                <a:solidFill>
                  <a:srgbClr val="0D2F5F"/>
                </a:solidFill>
                <a:latin typeface="Aptos" pitchFamily="34" charset="0"/>
                <a:ea typeface="Aptos" pitchFamily="34" charset="-122"/>
                <a:cs typeface="Aptos" pitchFamily="34" charset="-120"/>
              </a:rPr>
              <a:t>What happens when you visit a website?</a:t>
            </a:r>
            <a:endParaRPr lang="en-US" sz="3100" dirty="0"/>
          </a:p>
        </p:txBody>
      </p:sp>
      <p:sp>
        <p:nvSpPr>
          <p:cNvPr id="5" name="Shape 3"/>
          <p:cNvSpPr/>
          <p:nvPr/>
        </p:nvSpPr>
        <p:spPr>
          <a:xfrm>
            <a:off x="603504" y="1408176"/>
            <a:ext cx="10981944" cy="0"/>
          </a:xfrm>
          <a:prstGeom prst="line">
            <a:avLst/>
          </a:prstGeom>
          <a:noFill/>
          <a:ln w="12700">
            <a:solidFill>
              <a:srgbClr val="DEE5EF"/>
            </a:solidFill>
            <a:prstDash val="solid"/>
            <a:headEnd type="none"/>
            <a:tailEnd type="none"/>
          </a:ln>
        </p:spPr>
      </p:sp>
      <p:sp>
        <p:nvSpPr>
          <p:cNvPr id="8" name="Text 5"/>
          <p:cNvSpPr/>
          <p:nvPr/>
        </p:nvSpPr>
        <p:spPr>
          <a:xfrm>
            <a:off x="11338560" y="6437376"/>
            <a:ext cx="237744" cy="201168"/>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19</a:t>
            </a:r>
            <a:endParaRPr lang="en-US" sz="1000" dirty="0"/>
          </a:p>
        </p:txBody>
      </p:sp>
      <p:sp>
        <p:nvSpPr>
          <p:cNvPr id="9" name="Shape 6"/>
          <p:cNvSpPr/>
          <p:nvPr/>
        </p:nvSpPr>
        <p:spPr>
          <a:xfrm>
            <a:off x="667512" y="1728216"/>
            <a:ext cx="3493008" cy="1389888"/>
          </a:xfrm>
          <a:prstGeom prst="roundRect">
            <a:avLst>
              <a:gd name="adj" fmla="val 10526"/>
            </a:avLst>
          </a:prstGeom>
          <a:solidFill>
            <a:srgbClr val="FFFFFF"/>
          </a:solidFill>
          <a:ln w="12700">
            <a:solidFill>
              <a:srgbClr val="FFFFFF">
                <a:alpha val="0"/>
              </a:srgbClr>
            </a:solidFill>
            <a:prstDash val="solid"/>
          </a:ln>
        </p:spPr>
      </p:sp>
      <p:sp>
        <p:nvSpPr>
          <p:cNvPr id="10" name="Text 7"/>
          <p:cNvSpPr/>
          <p:nvPr/>
        </p:nvSpPr>
        <p:spPr>
          <a:xfrm>
            <a:off x="859536" y="1911096"/>
            <a:ext cx="640080" cy="402336"/>
          </a:xfrm>
          <a:prstGeom prst="rect">
            <a:avLst/>
          </a:prstGeom>
          <a:noFill/>
        </p:spPr>
        <p:txBody>
          <a:bodyPr wrap="square" lIns="0" tIns="0" rIns="0" bIns="0" rtlCol="0" anchor="ctr">
            <a:normAutofit/>
          </a:bodyPr>
          <a:lstStyle/>
          <a:p>
            <a:pPr marL="0" indent="0">
              <a:buNone/>
            </a:pPr>
            <a:r>
              <a:rPr lang="en-US" sz="2500" b="1" dirty="0">
                <a:solidFill>
                  <a:srgbClr val="DAA62F"/>
                </a:solidFill>
                <a:latin typeface="Aptos" pitchFamily="34" charset="0"/>
                <a:ea typeface="Aptos" pitchFamily="34" charset="-122"/>
                <a:cs typeface="Aptos" pitchFamily="34" charset="-120"/>
              </a:rPr>
              <a:t>01</a:t>
            </a:r>
            <a:endParaRPr lang="en-US" sz="2500" dirty="0"/>
          </a:p>
        </p:txBody>
      </p:sp>
      <p:sp>
        <p:nvSpPr>
          <p:cNvPr id="11" name="Text 8"/>
          <p:cNvSpPr/>
          <p:nvPr/>
        </p:nvSpPr>
        <p:spPr>
          <a:xfrm>
            <a:off x="850392" y="2459736"/>
            <a:ext cx="3136392" cy="393192"/>
          </a:xfrm>
          <a:prstGeom prst="rect">
            <a:avLst/>
          </a:prstGeom>
          <a:noFill/>
        </p:spPr>
        <p:txBody>
          <a:bodyPr wrap="square" lIns="0" tIns="0" rIns="0" bIns="0" rtlCol="0" anchor="ctr">
            <a:normAutofit/>
          </a:bodyPr>
          <a:lstStyle/>
          <a:p>
            <a:pPr marL="0" indent="0">
              <a:buNone/>
            </a:pPr>
            <a:r>
              <a:rPr lang="en-US" sz="1800" b="1" dirty="0">
                <a:solidFill>
                  <a:srgbClr val="0D2F5F"/>
                </a:solidFill>
                <a:latin typeface="Aptos" pitchFamily="34" charset="0"/>
                <a:ea typeface="Aptos" pitchFamily="34" charset="-122"/>
                <a:cs typeface="Aptos" pitchFamily="34" charset="-120"/>
              </a:rPr>
              <a:t>Enter a domain</a:t>
            </a:r>
            <a:endParaRPr lang="en-US" sz="1800" dirty="0"/>
          </a:p>
        </p:txBody>
      </p:sp>
      <p:sp>
        <p:nvSpPr>
          <p:cNvPr id="12" name="Shape 9"/>
          <p:cNvSpPr/>
          <p:nvPr/>
        </p:nvSpPr>
        <p:spPr>
          <a:xfrm>
            <a:off x="4416552" y="1728216"/>
            <a:ext cx="3493008" cy="1389888"/>
          </a:xfrm>
          <a:prstGeom prst="roundRect">
            <a:avLst>
              <a:gd name="adj" fmla="val 10526"/>
            </a:avLst>
          </a:prstGeom>
          <a:solidFill>
            <a:srgbClr val="FFFFFF"/>
          </a:solidFill>
          <a:ln w="12700">
            <a:solidFill>
              <a:srgbClr val="FFFFFF">
                <a:alpha val="0"/>
              </a:srgbClr>
            </a:solidFill>
            <a:prstDash val="solid"/>
          </a:ln>
        </p:spPr>
      </p:sp>
      <p:sp>
        <p:nvSpPr>
          <p:cNvPr id="13" name="Text 10"/>
          <p:cNvSpPr/>
          <p:nvPr/>
        </p:nvSpPr>
        <p:spPr>
          <a:xfrm>
            <a:off x="4608576" y="1911096"/>
            <a:ext cx="640080" cy="402336"/>
          </a:xfrm>
          <a:prstGeom prst="rect">
            <a:avLst/>
          </a:prstGeom>
          <a:noFill/>
        </p:spPr>
        <p:txBody>
          <a:bodyPr wrap="square" lIns="0" tIns="0" rIns="0" bIns="0" rtlCol="0" anchor="ctr">
            <a:normAutofit/>
          </a:bodyPr>
          <a:lstStyle/>
          <a:p>
            <a:pPr marL="0" indent="0">
              <a:buNone/>
            </a:pPr>
            <a:r>
              <a:rPr lang="en-US" sz="2500" b="1" dirty="0">
                <a:solidFill>
                  <a:srgbClr val="DAA62F"/>
                </a:solidFill>
                <a:latin typeface="Aptos" pitchFamily="34" charset="0"/>
                <a:ea typeface="Aptos" pitchFamily="34" charset="-122"/>
                <a:cs typeface="Aptos" pitchFamily="34" charset="-120"/>
              </a:rPr>
              <a:t>02</a:t>
            </a:r>
            <a:endParaRPr lang="en-US" sz="2500" dirty="0"/>
          </a:p>
        </p:txBody>
      </p:sp>
      <p:sp>
        <p:nvSpPr>
          <p:cNvPr id="14" name="Text 11"/>
          <p:cNvSpPr/>
          <p:nvPr/>
        </p:nvSpPr>
        <p:spPr>
          <a:xfrm>
            <a:off x="4599432" y="2459736"/>
            <a:ext cx="3136392" cy="393192"/>
          </a:xfrm>
          <a:prstGeom prst="rect">
            <a:avLst/>
          </a:prstGeom>
          <a:noFill/>
        </p:spPr>
        <p:txBody>
          <a:bodyPr wrap="square" lIns="0" tIns="0" rIns="0" bIns="0" rtlCol="0" anchor="ctr">
            <a:normAutofit/>
          </a:bodyPr>
          <a:lstStyle/>
          <a:p>
            <a:pPr marL="0" indent="0">
              <a:buNone/>
            </a:pPr>
            <a:r>
              <a:rPr lang="en-US" sz="1800" b="1" dirty="0">
                <a:solidFill>
                  <a:srgbClr val="0D2F5F"/>
                </a:solidFill>
                <a:latin typeface="Aptos" pitchFamily="34" charset="0"/>
                <a:ea typeface="Aptos" pitchFamily="34" charset="-122"/>
                <a:cs typeface="Aptos" pitchFamily="34" charset="-120"/>
              </a:rPr>
              <a:t>DNS looks up address</a:t>
            </a:r>
            <a:endParaRPr lang="en-US" sz="1800" dirty="0"/>
          </a:p>
        </p:txBody>
      </p:sp>
      <p:sp>
        <p:nvSpPr>
          <p:cNvPr id="15" name="Shape 12"/>
          <p:cNvSpPr/>
          <p:nvPr/>
        </p:nvSpPr>
        <p:spPr>
          <a:xfrm>
            <a:off x="8165592" y="1728216"/>
            <a:ext cx="3493008" cy="1389888"/>
          </a:xfrm>
          <a:prstGeom prst="roundRect">
            <a:avLst>
              <a:gd name="adj" fmla="val 10526"/>
            </a:avLst>
          </a:prstGeom>
          <a:solidFill>
            <a:srgbClr val="FFFFFF"/>
          </a:solidFill>
          <a:ln w="12700">
            <a:solidFill>
              <a:srgbClr val="FFFFFF">
                <a:alpha val="0"/>
              </a:srgbClr>
            </a:solidFill>
            <a:prstDash val="solid"/>
          </a:ln>
        </p:spPr>
      </p:sp>
      <p:sp>
        <p:nvSpPr>
          <p:cNvPr id="16" name="Text 13"/>
          <p:cNvSpPr/>
          <p:nvPr/>
        </p:nvSpPr>
        <p:spPr>
          <a:xfrm>
            <a:off x="8357616" y="1911096"/>
            <a:ext cx="640080" cy="402336"/>
          </a:xfrm>
          <a:prstGeom prst="rect">
            <a:avLst/>
          </a:prstGeom>
          <a:noFill/>
        </p:spPr>
        <p:txBody>
          <a:bodyPr wrap="square" lIns="0" tIns="0" rIns="0" bIns="0" rtlCol="0" anchor="ctr">
            <a:normAutofit/>
          </a:bodyPr>
          <a:lstStyle/>
          <a:p>
            <a:pPr marL="0" indent="0">
              <a:buNone/>
            </a:pPr>
            <a:r>
              <a:rPr lang="en-US" sz="2500" b="1" dirty="0">
                <a:solidFill>
                  <a:srgbClr val="DAA62F"/>
                </a:solidFill>
                <a:latin typeface="Aptos" pitchFamily="34" charset="0"/>
                <a:ea typeface="Aptos" pitchFamily="34" charset="-122"/>
                <a:cs typeface="Aptos" pitchFamily="34" charset="-120"/>
              </a:rPr>
              <a:t>03</a:t>
            </a:r>
            <a:endParaRPr lang="en-US" sz="2500" dirty="0"/>
          </a:p>
        </p:txBody>
      </p:sp>
      <p:sp>
        <p:nvSpPr>
          <p:cNvPr id="17" name="Text 14"/>
          <p:cNvSpPr/>
          <p:nvPr/>
        </p:nvSpPr>
        <p:spPr>
          <a:xfrm>
            <a:off x="8348472" y="2459736"/>
            <a:ext cx="3136392" cy="393192"/>
          </a:xfrm>
          <a:prstGeom prst="rect">
            <a:avLst/>
          </a:prstGeom>
          <a:noFill/>
        </p:spPr>
        <p:txBody>
          <a:bodyPr wrap="square" lIns="0" tIns="0" rIns="0" bIns="0" rtlCol="0" anchor="ctr">
            <a:normAutofit/>
          </a:bodyPr>
          <a:lstStyle/>
          <a:p>
            <a:pPr marL="0" indent="0">
              <a:buNone/>
            </a:pPr>
            <a:r>
              <a:rPr lang="en-US" sz="1800" b="1" dirty="0">
                <a:solidFill>
                  <a:srgbClr val="0D2F5F"/>
                </a:solidFill>
                <a:latin typeface="Aptos" pitchFamily="34" charset="0"/>
                <a:ea typeface="Aptos" pitchFamily="34" charset="-122"/>
                <a:cs typeface="Aptos" pitchFamily="34" charset="-120"/>
              </a:rPr>
              <a:t>Browser sends request</a:t>
            </a:r>
            <a:endParaRPr lang="en-US" sz="1800" dirty="0"/>
          </a:p>
        </p:txBody>
      </p:sp>
      <p:sp>
        <p:nvSpPr>
          <p:cNvPr id="18" name="Shape 15"/>
          <p:cNvSpPr/>
          <p:nvPr/>
        </p:nvSpPr>
        <p:spPr>
          <a:xfrm>
            <a:off x="667512" y="3419856"/>
            <a:ext cx="3493008" cy="1389888"/>
          </a:xfrm>
          <a:prstGeom prst="roundRect">
            <a:avLst>
              <a:gd name="adj" fmla="val 10526"/>
            </a:avLst>
          </a:prstGeom>
          <a:solidFill>
            <a:srgbClr val="FFFFFF"/>
          </a:solidFill>
          <a:ln w="12700">
            <a:solidFill>
              <a:srgbClr val="FFFFFF">
                <a:alpha val="0"/>
              </a:srgbClr>
            </a:solidFill>
            <a:prstDash val="solid"/>
          </a:ln>
        </p:spPr>
      </p:sp>
      <p:sp>
        <p:nvSpPr>
          <p:cNvPr id="19" name="Text 16"/>
          <p:cNvSpPr/>
          <p:nvPr/>
        </p:nvSpPr>
        <p:spPr>
          <a:xfrm>
            <a:off x="859536" y="3602736"/>
            <a:ext cx="640080" cy="402336"/>
          </a:xfrm>
          <a:prstGeom prst="rect">
            <a:avLst/>
          </a:prstGeom>
          <a:noFill/>
        </p:spPr>
        <p:txBody>
          <a:bodyPr wrap="square" lIns="0" tIns="0" rIns="0" bIns="0" rtlCol="0" anchor="ctr">
            <a:normAutofit/>
          </a:bodyPr>
          <a:lstStyle/>
          <a:p>
            <a:pPr marL="0" indent="0">
              <a:buNone/>
            </a:pPr>
            <a:r>
              <a:rPr lang="en-US" sz="2500" b="1" dirty="0">
                <a:solidFill>
                  <a:srgbClr val="DAA62F"/>
                </a:solidFill>
                <a:latin typeface="Aptos" pitchFamily="34" charset="0"/>
                <a:ea typeface="Aptos" pitchFamily="34" charset="-122"/>
                <a:cs typeface="Aptos" pitchFamily="34" charset="-120"/>
              </a:rPr>
              <a:t>04</a:t>
            </a:r>
            <a:endParaRPr lang="en-US" sz="2500" dirty="0"/>
          </a:p>
        </p:txBody>
      </p:sp>
      <p:sp>
        <p:nvSpPr>
          <p:cNvPr id="20" name="Text 17"/>
          <p:cNvSpPr/>
          <p:nvPr/>
        </p:nvSpPr>
        <p:spPr>
          <a:xfrm>
            <a:off x="850392" y="4151376"/>
            <a:ext cx="3136392" cy="393192"/>
          </a:xfrm>
          <a:prstGeom prst="rect">
            <a:avLst/>
          </a:prstGeom>
          <a:noFill/>
        </p:spPr>
        <p:txBody>
          <a:bodyPr wrap="square" lIns="0" tIns="0" rIns="0" bIns="0" rtlCol="0" anchor="ctr">
            <a:normAutofit/>
          </a:bodyPr>
          <a:lstStyle/>
          <a:p>
            <a:pPr marL="0" indent="0">
              <a:buNone/>
            </a:pPr>
            <a:r>
              <a:rPr lang="en-US" sz="1800" b="1" dirty="0">
                <a:solidFill>
                  <a:srgbClr val="0D2F5F"/>
                </a:solidFill>
                <a:latin typeface="Aptos" pitchFamily="34" charset="0"/>
                <a:ea typeface="Aptos" pitchFamily="34" charset="-122"/>
                <a:cs typeface="Aptos" pitchFamily="34" charset="-120"/>
              </a:rPr>
              <a:t>Server reads needed data</a:t>
            </a:r>
            <a:endParaRPr lang="en-US" sz="1800" dirty="0"/>
          </a:p>
        </p:txBody>
      </p:sp>
      <p:sp>
        <p:nvSpPr>
          <p:cNvPr id="21" name="Shape 18"/>
          <p:cNvSpPr/>
          <p:nvPr/>
        </p:nvSpPr>
        <p:spPr>
          <a:xfrm>
            <a:off x="4416552" y="3419856"/>
            <a:ext cx="3493008" cy="1389888"/>
          </a:xfrm>
          <a:prstGeom prst="roundRect">
            <a:avLst>
              <a:gd name="adj" fmla="val 10526"/>
            </a:avLst>
          </a:prstGeom>
          <a:solidFill>
            <a:srgbClr val="FFFFFF"/>
          </a:solidFill>
          <a:ln w="12700">
            <a:solidFill>
              <a:srgbClr val="FFFFFF">
                <a:alpha val="0"/>
              </a:srgbClr>
            </a:solidFill>
            <a:prstDash val="solid"/>
          </a:ln>
        </p:spPr>
      </p:sp>
      <p:sp>
        <p:nvSpPr>
          <p:cNvPr id="22" name="Text 19"/>
          <p:cNvSpPr/>
          <p:nvPr/>
        </p:nvSpPr>
        <p:spPr>
          <a:xfrm>
            <a:off x="4608576" y="3602736"/>
            <a:ext cx="640080" cy="402336"/>
          </a:xfrm>
          <a:prstGeom prst="rect">
            <a:avLst/>
          </a:prstGeom>
          <a:noFill/>
        </p:spPr>
        <p:txBody>
          <a:bodyPr wrap="square" lIns="0" tIns="0" rIns="0" bIns="0" rtlCol="0" anchor="ctr">
            <a:normAutofit/>
          </a:bodyPr>
          <a:lstStyle/>
          <a:p>
            <a:pPr marL="0" indent="0">
              <a:buNone/>
            </a:pPr>
            <a:r>
              <a:rPr lang="en-US" sz="2500" b="1" dirty="0">
                <a:solidFill>
                  <a:srgbClr val="DAA62F"/>
                </a:solidFill>
                <a:latin typeface="Aptos" pitchFamily="34" charset="0"/>
                <a:ea typeface="Aptos" pitchFamily="34" charset="-122"/>
                <a:cs typeface="Aptos" pitchFamily="34" charset="-120"/>
              </a:rPr>
              <a:t>05</a:t>
            </a:r>
            <a:endParaRPr lang="en-US" sz="2500" dirty="0"/>
          </a:p>
        </p:txBody>
      </p:sp>
      <p:sp>
        <p:nvSpPr>
          <p:cNvPr id="23" name="Text 20"/>
          <p:cNvSpPr/>
          <p:nvPr/>
        </p:nvSpPr>
        <p:spPr>
          <a:xfrm>
            <a:off x="4599432" y="4151376"/>
            <a:ext cx="3136392" cy="393192"/>
          </a:xfrm>
          <a:prstGeom prst="rect">
            <a:avLst/>
          </a:prstGeom>
          <a:noFill/>
        </p:spPr>
        <p:txBody>
          <a:bodyPr wrap="square" lIns="0" tIns="0" rIns="0" bIns="0" rtlCol="0" anchor="ctr">
            <a:normAutofit/>
          </a:bodyPr>
          <a:lstStyle/>
          <a:p>
            <a:pPr marL="0" indent="0">
              <a:buNone/>
            </a:pPr>
            <a:r>
              <a:rPr lang="en-US" sz="1800" b="1" dirty="0">
                <a:solidFill>
                  <a:srgbClr val="0D2F5F"/>
                </a:solidFill>
                <a:latin typeface="Aptos" pitchFamily="34" charset="0"/>
                <a:ea typeface="Aptos" pitchFamily="34" charset="-122"/>
                <a:cs typeface="Aptos" pitchFamily="34" charset="-120"/>
              </a:rPr>
              <a:t>Server sends response</a:t>
            </a:r>
            <a:endParaRPr lang="en-US" sz="1800" dirty="0"/>
          </a:p>
        </p:txBody>
      </p:sp>
      <p:sp>
        <p:nvSpPr>
          <p:cNvPr id="24" name="Shape 21"/>
          <p:cNvSpPr/>
          <p:nvPr/>
        </p:nvSpPr>
        <p:spPr>
          <a:xfrm>
            <a:off x="8165592" y="3419856"/>
            <a:ext cx="3493008" cy="1389888"/>
          </a:xfrm>
          <a:prstGeom prst="roundRect">
            <a:avLst>
              <a:gd name="adj" fmla="val 10526"/>
            </a:avLst>
          </a:prstGeom>
          <a:solidFill>
            <a:srgbClr val="FFFFFF"/>
          </a:solidFill>
          <a:ln w="12700">
            <a:solidFill>
              <a:srgbClr val="FFFFFF">
                <a:alpha val="0"/>
              </a:srgbClr>
            </a:solidFill>
            <a:prstDash val="solid"/>
          </a:ln>
        </p:spPr>
      </p:sp>
      <p:sp>
        <p:nvSpPr>
          <p:cNvPr id="25" name="Text 22"/>
          <p:cNvSpPr/>
          <p:nvPr/>
        </p:nvSpPr>
        <p:spPr>
          <a:xfrm>
            <a:off x="8357616" y="3602736"/>
            <a:ext cx="640080" cy="402336"/>
          </a:xfrm>
          <a:prstGeom prst="rect">
            <a:avLst/>
          </a:prstGeom>
          <a:noFill/>
        </p:spPr>
        <p:txBody>
          <a:bodyPr wrap="square" lIns="0" tIns="0" rIns="0" bIns="0" rtlCol="0" anchor="ctr">
            <a:normAutofit/>
          </a:bodyPr>
          <a:lstStyle/>
          <a:p>
            <a:pPr marL="0" indent="0">
              <a:buNone/>
            </a:pPr>
            <a:r>
              <a:rPr lang="en-US" sz="2500" b="1" dirty="0">
                <a:solidFill>
                  <a:srgbClr val="DAA62F"/>
                </a:solidFill>
                <a:latin typeface="Aptos" pitchFamily="34" charset="0"/>
                <a:ea typeface="Aptos" pitchFamily="34" charset="-122"/>
                <a:cs typeface="Aptos" pitchFamily="34" charset="-120"/>
              </a:rPr>
              <a:t>06</a:t>
            </a:r>
            <a:endParaRPr lang="en-US" sz="2500" dirty="0"/>
          </a:p>
        </p:txBody>
      </p:sp>
      <p:sp>
        <p:nvSpPr>
          <p:cNvPr id="26" name="Text 23"/>
          <p:cNvSpPr/>
          <p:nvPr/>
        </p:nvSpPr>
        <p:spPr>
          <a:xfrm>
            <a:off x="8348472" y="4151376"/>
            <a:ext cx="3136392" cy="393192"/>
          </a:xfrm>
          <a:prstGeom prst="rect">
            <a:avLst/>
          </a:prstGeom>
          <a:noFill/>
        </p:spPr>
        <p:txBody>
          <a:bodyPr wrap="square" lIns="0" tIns="0" rIns="0" bIns="0" rtlCol="0" anchor="ctr">
            <a:normAutofit/>
          </a:bodyPr>
          <a:lstStyle/>
          <a:p>
            <a:pPr marL="0" indent="0">
              <a:buNone/>
            </a:pPr>
            <a:r>
              <a:rPr lang="en-US" sz="1800" b="1" dirty="0">
                <a:solidFill>
                  <a:srgbClr val="0D2F5F"/>
                </a:solidFill>
                <a:latin typeface="Aptos" pitchFamily="34" charset="0"/>
                <a:ea typeface="Aptos" pitchFamily="34" charset="-122"/>
                <a:cs typeface="Aptos" pitchFamily="34" charset="-120"/>
              </a:rPr>
              <a:t>Browser renders page</a:t>
            </a:r>
            <a:endParaRPr lang="en-US" sz="1800" dirty="0"/>
          </a:p>
        </p:txBody>
      </p:sp>
      <p:sp>
        <p:nvSpPr>
          <p:cNvPr id="27" name="Text 24"/>
          <p:cNvSpPr/>
          <p:nvPr/>
        </p:nvSpPr>
        <p:spPr>
          <a:xfrm>
            <a:off x="822960" y="5422392"/>
            <a:ext cx="10533888" cy="512064"/>
          </a:xfrm>
          <a:prstGeom prst="rect">
            <a:avLst/>
          </a:prstGeom>
          <a:noFill/>
        </p:spPr>
        <p:txBody>
          <a:bodyPr wrap="square" lIns="0" tIns="0" rIns="0" bIns="0" rtlCol="0" anchor="ctr">
            <a:normAutofit/>
          </a:bodyPr>
          <a:lstStyle/>
          <a:p>
            <a:pPr marL="0" indent="0" algn="ctr">
              <a:buNone/>
            </a:pPr>
            <a:r>
              <a:rPr lang="en-US" sz="1800" b="1" dirty="0">
                <a:solidFill>
                  <a:srgbClr val="0D2F5F"/>
                </a:solidFill>
                <a:latin typeface="Aptos" pitchFamily="34" charset="0"/>
                <a:ea typeface="Aptos" pitchFamily="34" charset="-122"/>
                <a:cs typeface="Aptos" pitchFamily="34" charset="-120"/>
              </a:rPr>
              <a:t>Follow the journey in BOTH directions: the request goes out; the response comes back.</a:t>
            </a:r>
            <a:endParaRPr lang="en-US" sz="1800" dirty="0"/>
          </a:p>
        </p:txBody>
      </p:sp>
      <p:pic>
        <p:nvPicPr>
          <p:cNvPr id="28" name="Image 0" descr="/mnt/data/cwp-logo-primary-transparent.png"/>
          <p:cNvPicPr>
            <a:picLocks noChangeAspect="1"/>
          </p:cNvPicPr>
          <p:nvPr/>
        </p:nvPicPr>
        <p:blipFill>
          <a:blip r:embed="rId1"/>
          <a:stretch>
            <a:fillRect/>
          </a:stretch>
        </p:blipFill>
        <p:spPr>
          <a:xfrm>
            <a:off x="603250" y="6029325"/>
            <a:ext cx="946150" cy="628650"/>
          </a:xfrm>
          <a:prstGeom prst="rect">
            <a:avLst/>
          </a:prstGeom>
        </p:spPr>
      </p:pic>
      <p:sp>
        <p:nvSpPr>
          <p:cNvPr id="29" name="Text 4"/>
          <p:cNvSpPr/>
          <p:nvPr/>
        </p:nvSpPr>
        <p:spPr>
          <a:xfrm>
            <a:off x="9485884" y="6419850"/>
            <a:ext cx="1746504" cy="219456"/>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codewithprof.com</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DAA62F"/>
          </a:solidFill>
          <a:ln w="12700">
            <a:solidFill>
              <a:srgbClr val="DAA62F"/>
            </a:solidFill>
            <a:prstDash val="solid"/>
          </a:ln>
        </p:spPr>
      </p:sp>
      <p:sp>
        <p:nvSpPr>
          <p:cNvPr id="3" name="Text 1"/>
          <p:cNvSpPr/>
          <p:nvPr/>
        </p:nvSpPr>
        <p:spPr>
          <a:xfrm>
            <a:off x="603504" y="292608"/>
            <a:ext cx="9144000" cy="201168"/>
          </a:xfrm>
          <a:prstGeom prst="rect">
            <a:avLst/>
          </a:prstGeom>
          <a:noFill/>
        </p:spPr>
        <p:txBody>
          <a:bodyPr wrap="square" lIns="0" tIns="0" rIns="0" bIns="0" rtlCol="0" anchor="ctr">
            <a:normAutofit/>
          </a:bodyPr>
          <a:lstStyle/>
          <a:p>
            <a:pPr marL="0" indent="0">
              <a:buNone/>
            </a:pPr>
            <a:r>
              <a:rPr lang="en-US" sz="1000" b="1" kern="0" spc="120" dirty="0">
                <a:solidFill>
                  <a:srgbClr val="63738B"/>
                </a:solidFill>
                <a:latin typeface="Aptos" pitchFamily="34" charset="0"/>
                <a:ea typeface="Aptos" pitchFamily="34" charset="-122"/>
                <a:cs typeface="Aptos" pitchFamily="34" charset="-120"/>
              </a:rPr>
              <a:t>WEEK 01 · FULL-STACK JOURNEY</a:t>
            </a:r>
            <a:endParaRPr lang="en-US" sz="1000" dirty="0"/>
          </a:p>
        </p:txBody>
      </p:sp>
      <p:sp>
        <p:nvSpPr>
          <p:cNvPr id="4" name="Text 2"/>
          <p:cNvSpPr/>
          <p:nvPr/>
        </p:nvSpPr>
        <p:spPr>
          <a:xfrm>
            <a:off x="603504" y="676656"/>
            <a:ext cx="10972800" cy="658368"/>
          </a:xfrm>
          <a:prstGeom prst="rect">
            <a:avLst/>
          </a:prstGeom>
          <a:noFill/>
        </p:spPr>
        <p:txBody>
          <a:bodyPr wrap="square" lIns="0" tIns="0" rIns="0" bIns="0" rtlCol="0" anchor="ctr">
            <a:normAutofit/>
          </a:bodyPr>
          <a:lstStyle/>
          <a:p>
            <a:pPr marL="0" indent="0">
              <a:buNone/>
            </a:pPr>
            <a:r>
              <a:rPr lang="en-US" sz="3100" b="1" dirty="0">
                <a:solidFill>
                  <a:srgbClr val="0D2F5F"/>
                </a:solidFill>
                <a:latin typeface="Aptos" pitchFamily="34" charset="0"/>
                <a:ea typeface="Aptos" pitchFamily="34" charset="-122"/>
                <a:cs typeface="Aptos" pitchFamily="34" charset="-120"/>
              </a:rPr>
              <a:t>The simplest web architecture</a:t>
            </a:r>
            <a:endParaRPr lang="en-US" sz="3100" dirty="0"/>
          </a:p>
        </p:txBody>
      </p:sp>
      <p:sp>
        <p:nvSpPr>
          <p:cNvPr id="5" name="Shape 3"/>
          <p:cNvSpPr/>
          <p:nvPr/>
        </p:nvSpPr>
        <p:spPr>
          <a:xfrm>
            <a:off x="603504" y="1408176"/>
            <a:ext cx="10981944" cy="0"/>
          </a:xfrm>
          <a:prstGeom prst="line">
            <a:avLst/>
          </a:prstGeom>
          <a:noFill/>
          <a:ln w="12700">
            <a:solidFill>
              <a:srgbClr val="DEE5EF"/>
            </a:solidFill>
            <a:prstDash val="solid"/>
            <a:headEnd type="none"/>
            <a:tailEnd type="none"/>
          </a:ln>
        </p:spPr>
      </p:sp>
      <p:sp>
        <p:nvSpPr>
          <p:cNvPr id="8" name="Text 5"/>
          <p:cNvSpPr/>
          <p:nvPr/>
        </p:nvSpPr>
        <p:spPr>
          <a:xfrm>
            <a:off x="11338560" y="6437376"/>
            <a:ext cx="237744" cy="201168"/>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20</a:t>
            </a:r>
            <a:endParaRPr lang="en-US" sz="1000" dirty="0"/>
          </a:p>
        </p:txBody>
      </p:sp>
      <p:sp>
        <p:nvSpPr>
          <p:cNvPr id="9" name="Shape 6"/>
          <p:cNvSpPr/>
          <p:nvPr/>
        </p:nvSpPr>
        <p:spPr>
          <a:xfrm>
            <a:off x="685800" y="2523744"/>
            <a:ext cx="2551176" cy="1289304"/>
          </a:xfrm>
          <a:prstGeom prst="roundRect">
            <a:avLst>
              <a:gd name="adj" fmla="val 11348"/>
            </a:avLst>
          </a:prstGeom>
          <a:solidFill>
            <a:srgbClr val="FFFFFF"/>
          </a:solidFill>
          <a:ln w="12700">
            <a:solidFill>
              <a:srgbClr val="FFFFFF">
                <a:alpha val="0"/>
              </a:srgbClr>
            </a:solidFill>
            <a:prstDash val="solid"/>
          </a:ln>
        </p:spPr>
      </p:sp>
      <p:sp>
        <p:nvSpPr>
          <p:cNvPr id="10" name="Text 7"/>
          <p:cNvSpPr/>
          <p:nvPr/>
        </p:nvSpPr>
        <p:spPr>
          <a:xfrm>
            <a:off x="786384" y="2779776"/>
            <a:ext cx="2350008" cy="393192"/>
          </a:xfrm>
          <a:prstGeom prst="rect">
            <a:avLst/>
          </a:prstGeom>
          <a:noFill/>
        </p:spPr>
        <p:txBody>
          <a:bodyPr wrap="square" lIns="0" tIns="0" rIns="0" bIns="0" rtlCol="0" anchor="ctr">
            <a:normAutofit/>
          </a:bodyPr>
          <a:lstStyle/>
          <a:p>
            <a:pPr marL="0" indent="0" algn="ctr">
              <a:buNone/>
            </a:pPr>
            <a:r>
              <a:rPr lang="en-US" sz="2100" b="1" dirty="0">
                <a:solidFill>
                  <a:srgbClr val="0D2F5F"/>
                </a:solidFill>
                <a:latin typeface="Aptos" pitchFamily="34" charset="0"/>
                <a:ea typeface="Aptos" pitchFamily="34" charset="-122"/>
                <a:cs typeface="Aptos" pitchFamily="34" charset="-120"/>
              </a:rPr>
              <a:t>BROWSER</a:t>
            </a:r>
            <a:endParaRPr lang="en-US" sz="2100" dirty="0"/>
          </a:p>
        </p:txBody>
      </p:sp>
      <p:sp>
        <p:nvSpPr>
          <p:cNvPr id="11" name="Text 8"/>
          <p:cNvSpPr/>
          <p:nvPr/>
        </p:nvSpPr>
        <p:spPr>
          <a:xfrm>
            <a:off x="795528" y="3273552"/>
            <a:ext cx="2331720" cy="292608"/>
          </a:xfrm>
          <a:prstGeom prst="rect">
            <a:avLst/>
          </a:prstGeom>
          <a:noFill/>
        </p:spPr>
        <p:txBody>
          <a:bodyPr wrap="square" lIns="0" tIns="0" rIns="0" bIns="0" rtlCol="0" anchor="ctr">
            <a:normAutofit/>
          </a:bodyPr>
          <a:lstStyle/>
          <a:p>
            <a:pPr marL="0" indent="0" algn="ctr">
              <a:buNone/>
            </a:pPr>
            <a:r>
              <a:rPr lang="en-US" sz="1400" dirty="0">
                <a:solidFill>
                  <a:srgbClr val="63738B"/>
                </a:solidFill>
                <a:latin typeface="Aptos" pitchFamily="34" charset="0"/>
                <a:ea typeface="Aptos" pitchFamily="34" charset="-122"/>
                <a:cs typeface="Aptos" pitchFamily="34" charset="-120"/>
              </a:rPr>
              <a:t>Client</a:t>
            </a:r>
            <a:endParaRPr lang="en-US" sz="1400" dirty="0"/>
          </a:p>
        </p:txBody>
      </p:sp>
      <p:sp>
        <p:nvSpPr>
          <p:cNvPr id="12" name="Shape 9"/>
          <p:cNvSpPr/>
          <p:nvPr/>
        </p:nvSpPr>
        <p:spPr>
          <a:xfrm>
            <a:off x="3264408" y="3154680"/>
            <a:ext cx="246888" cy="0"/>
          </a:xfrm>
          <a:prstGeom prst="line">
            <a:avLst/>
          </a:prstGeom>
          <a:noFill/>
          <a:ln w="25400">
            <a:solidFill>
              <a:srgbClr val="DAA62F"/>
            </a:solidFill>
            <a:prstDash val="solid"/>
            <a:headEnd type="none"/>
            <a:tailEnd type="triangle"/>
          </a:ln>
        </p:spPr>
      </p:sp>
      <p:sp>
        <p:nvSpPr>
          <p:cNvPr id="13" name="Shape 10"/>
          <p:cNvSpPr/>
          <p:nvPr/>
        </p:nvSpPr>
        <p:spPr>
          <a:xfrm>
            <a:off x="3538728" y="2523744"/>
            <a:ext cx="2551176" cy="1289304"/>
          </a:xfrm>
          <a:prstGeom prst="roundRect">
            <a:avLst>
              <a:gd name="adj" fmla="val 11348"/>
            </a:avLst>
          </a:prstGeom>
          <a:solidFill>
            <a:srgbClr val="FFFFFF"/>
          </a:solidFill>
          <a:ln w="12700">
            <a:solidFill>
              <a:srgbClr val="FFFFFF">
                <a:alpha val="0"/>
              </a:srgbClr>
            </a:solidFill>
            <a:prstDash val="solid"/>
          </a:ln>
        </p:spPr>
      </p:sp>
      <p:sp>
        <p:nvSpPr>
          <p:cNvPr id="14" name="Text 11"/>
          <p:cNvSpPr/>
          <p:nvPr/>
        </p:nvSpPr>
        <p:spPr>
          <a:xfrm>
            <a:off x="3639312" y="2779776"/>
            <a:ext cx="2350008" cy="393192"/>
          </a:xfrm>
          <a:prstGeom prst="rect">
            <a:avLst/>
          </a:prstGeom>
          <a:noFill/>
        </p:spPr>
        <p:txBody>
          <a:bodyPr wrap="square" lIns="0" tIns="0" rIns="0" bIns="0" rtlCol="0" anchor="ctr">
            <a:normAutofit/>
          </a:bodyPr>
          <a:lstStyle/>
          <a:p>
            <a:pPr marL="0" indent="0" algn="ctr">
              <a:buNone/>
            </a:pPr>
            <a:r>
              <a:rPr lang="en-US" sz="2100" b="1" dirty="0">
                <a:solidFill>
                  <a:srgbClr val="0D2F5F"/>
                </a:solidFill>
                <a:latin typeface="Aptos" pitchFamily="34" charset="0"/>
                <a:ea typeface="Aptos" pitchFamily="34" charset="-122"/>
                <a:cs typeface="Aptos" pitchFamily="34" charset="-120"/>
              </a:rPr>
              <a:t>INTERNET</a:t>
            </a:r>
            <a:endParaRPr lang="en-US" sz="2100" dirty="0"/>
          </a:p>
        </p:txBody>
      </p:sp>
      <p:sp>
        <p:nvSpPr>
          <p:cNvPr id="15" name="Text 12"/>
          <p:cNvSpPr/>
          <p:nvPr/>
        </p:nvSpPr>
        <p:spPr>
          <a:xfrm>
            <a:off x="3648456" y="3273552"/>
            <a:ext cx="2331720" cy="292608"/>
          </a:xfrm>
          <a:prstGeom prst="rect">
            <a:avLst/>
          </a:prstGeom>
          <a:noFill/>
        </p:spPr>
        <p:txBody>
          <a:bodyPr wrap="square" lIns="0" tIns="0" rIns="0" bIns="0" rtlCol="0" anchor="ctr">
            <a:normAutofit/>
          </a:bodyPr>
          <a:lstStyle/>
          <a:p>
            <a:pPr marL="0" indent="0" algn="ctr">
              <a:buNone/>
            </a:pPr>
            <a:r>
              <a:rPr lang="en-US" sz="1400" dirty="0">
                <a:solidFill>
                  <a:srgbClr val="63738B"/>
                </a:solidFill>
                <a:latin typeface="Aptos" pitchFamily="34" charset="0"/>
                <a:ea typeface="Aptos" pitchFamily="34" charset="-122"/>
                <a:cs typeface="Aptos" pitchFamily="34" charset="-120"/>
              </a:rPr>
              <a:t>Network</a:t>
            </a:r>
            <a:endParaRPr lang="en-US" sz="1400" dirty="0"/>
          </a:p>
        </p:txBody>
      </p:sp>
      <p:sp>
        <p:nvSpPr>
          <p:cNvPr id="16" name="Shape 13"/>
          <p:cNvSpPr/>
          <p:nvPr/>
        </p:nvSpPr>
        <p:spPr>
          <a:xfrm>
            <a:off x="6117336" y="3154680"/>
            <a:ext cx="246888" cy="0"/>
          </a:xfrm>
          <a:prstGeom prst="line">
            <a:avLst/>
          </a:prstGeom>
          <a:noFill/>
          <a:ln w="25400">
            <a:solidFill>
              <a:srgbClr val="DAA62F"/>
            </a:solidFill>
            <a:prstDash val="solid"/>
            <a:headEnd type="none"/>
            <a:tailEnd type="triangle"/>
          </a:ln>
        </p:spPr>
      </p:sp>
      <p:sp>
        <p:nvSpPr>
          <p:cNvPr id="17" name="Shape 14"/>
          <p:cNvSpPr/>
          <p:nvPr/>
        </p:nvSpPr>
        <p:spPr>
          <a:xfrm>
            <a:off x="6391656" y="2523744"/>
            <a:ext cx="2551176" cy="1289304"/>
          </a:xfrm>
          <a:prstGeom prst="roundRect">
            <a:avLst>
              <a:gd name="adj" fmla="val 11348"/>
            </a:avLst>
          </a:prstGeom>
          <a:solidFill>
            <a:srgbClr val="0D2F5F"/>
          </a:solidFill>
          <a:ln w="12700">
            <a:solidFill>
              <a:srgbClr val="0D2F5F">
                <a:alpha val="0"/>
              </a:srgbClr>
            </a:solidFill>
            <a:prstDash val="solid"/>
          </a:ln>
        </p:spPr>
      </p:sp>
      <p:sp>
        <p:nvSpPr>
          <p:cNvPr id="18" name="Text 15"/>
          <p:cNvSpPr/>
          <p:nvPr/>
        </p:nvSpPr>
        <p:spPr>
          <a:xfrm>
            <a:off x="6492240" y="2779776"/>
            <a:ext cx="2350008" cy="393192"/>
          </a:xfrm>
          <a:prstGeom prst="rect">
            <a:avLst/>
          </a:prstGeom>
          <a:noFill/>
        </p:spPr>
        <p:txBody>
          <a:bodyPr wrap="square" lIns="0" tIns="0" rIns="0" bIns="0" rtlCol="0" anchor="ctr">
            <a:normAutofit/>
          </a:bodyPr>
          <a:lstStyle/>
          <a:p>
            <a:pPr marL="0" indent="0" algn="ctr">
              <a:buNone/>
            </a:pPr>
            <a:r>
              <a:rPr lang="en-US" sz="2100" b="1" dirty="0">
                <a:solidFill>
                  <a:srgbClr val="FFFFFF"/>
                </a:solidFill>
                <a:latin typeface="Aptos" pitchFamily="34" charset="0"/>
                <a:ea typeface="Aptos" pitchFamily="34" charset="-122"/>
                <a:cs typeface="Aptos" pitchFamily="34" charset="-120"/>
              </a:rPr>
              <a:t>SERVER</a:t>
            </a:r>
            <a:endParaRPr lang="en-US" sz="2100" dirty="0"/>
          </a:p>
        </p:txBody>
      </p:sp>
      <p:sp>
        <p:nvSpPr>
          <p:cNvPr id="19" name="Text 16"/>
          <p:cNvSpPr/>
          <p:nvPr/>
        </p:nvSpPr>
        <p:spPr>
          <a:xfrm>
            <a:off x="6501384" y="3273552"/>
            <a:ext cx="2331720" cy="292608"/>
          </a:xfrm>
          <a:prstGeom prst="rect">
            <a:avLst/>
          </a:prstGeom>
          <a:noFill/>
        </p:spPr>
        <p:txBody>
          <a:bodyPr wrap="square" lIns="0" tIns="0" rIns="0" bIns="0" rtlCol="0" anchor="ctr">
            <a:normAutofit/>
          </a:bodyPr>
          <a:lstStyle/>
          <a:p>
            <a:pPr marL="0" indent="0" algn="ctr">
              <a:buNone/>
            </a:pPr>
            <a:r>
              <a:rPr lang="en-US" sz="1400" dirty="0">
                <a:solidFill>
                  <a:srgbClr val="DCE6F4"/>
                </a:solidFill>
                <a:latin typeface="Aptos" pitchFamily="34" charset="0"/>
                <a:ea typeface="Aptos" pitchFamily="34" charset="-122"/>
                <a:cs typeface="Aptos" pitchFamily="34" charset="-120"/>
              </a:rPr>
              <a:t>App logic</a:t>
            </a:r>
            <a:endParaRPr lang="en-US" sz="1400" dirty="0"/>
          </a:p>
        </p:txBody>
      </p:sp>
      <p:sp>
        <p:nvSpPr>
          <p:cNvPr id="20" name="Shape 17"/>
          <p:cNvSpPr/>
          <p:nvPr/>
        </p:nvSpPr>
        <p:spPr>
          <a:xfrm>
            <a:off x="8970264" y="3154680"/>
            <a:ext cx="246888" cy="0"/>
          </a:xfrm>
          <a:prstGeom prst="line">
            <a:avLst/>
          </a:prstGeom>
          <a:noFill/>
          <a:ln w="25400">
            <a:solidFill>
              <a:srgbClr val="DAA62F"/>
            </a:solidFill>
            <a:prstDash val="solid"/>
            <a:headEnd type="none"/>
            <a:tailEnd type="triangle"/>
          </a:ln>
        </p:spPr>
      </p:sp>
      <p:sp>
        <p:nvSpPr>
          <p:cNvPr id="21" name="Shape 18"/>
          <p:cNvSpPr/>
          <p:nvPr/>
        </p:nvSpPr>
        <p:spPr>
          <a:xfrm>
            <a:off x="9244584" y="2523744"/>
            <a:ext cx="2551176" cy="1289304"/>
          </a:xfrm>
          <a:prstGeom prst="roundRect">
            <a:avLst>
              <a:gd name="adj" fmla="val 11348"/>
            </a:avLst>
          </a:prstGeom>
          <a:solidFill>
            <a:srgbClr val="FFFFFF"/>
          </a:solidFill>
          <a:ln w="12700">
            <a:solidFill>
              <a:srgbClr val="FFFFFF">
                <a:alpha val="0"/>
              </a:srgbClr>
            </a:solidFill>
            <a:prstDash val="solid"/>
          </a:ln>
        </p:spPr>
      </p:sp>
      <p:sp>
        <p:nvSpPr>
          <p:cNvPr id="22" name="Text 19"/>
          <p:cNvSpPr/>
          <p:nvPr/>
        </p:nvSpPr>
        <p:spPr>
          <a:xfrm>
            <a:off x="9345168" y="2779776"/>
            <a:ext cx="2350008" cy="393192"/>
          </a:xfrm>
          <a:prstGeom prst="rect">
            <a:avLst/>
          </a:prstGeom>
          <a:noFill/>
        </p:spPr>
        <p:txBody>
          <a:bodyPr wrap="square" lIns="0" tIns="0" rIns="0" bIns="0" rtlCol="0" anchor="ctr">
            <a:normAutofit/>
          </a:bodyPr>
          <a:lstStyle/>
          <a:p>
            <a:pPr marL="0" indent="0" algn="ctr">
              <a:buNone/>
            </a:pPr>
            <a:r>
              <a:rPr lang="en-US" sz="2100" b="1" dirty="0">
                <a:solidFill>
                  <a:srgbClr val="0D2F5F"/>
                </a:solidFill>
                <a:latin typeface="Aptos" pitchFamily="34" charset="0"/>
                <a:ea typeface="Aptos" pitchFamily="34" charset="-122"/>
                <a:cs typeface="Aptos" pitchFamily="34" charset="-120"/>
              </a:rPr>
              <a:t>DATABASE</a:t>
            </a:r>
            <a:endParaRPr lang="en-US" sz="2100" dirty="0"/>
          </a:p>
        </p:txBody>
      </p:sp>
      <p:sp>
        <p:nvSpPr>
          <p:cNvPr id="23" name="Text 20"/>
          <p:cNvSpPr/>
          <p:nvPr/>
        </p:nvSpPr>
        <p:spPr>
          <a:xfrm>
            <a:off x="9354312" y="3273552"/>
            <a:ext cx="2331720" cy="292608"/>
          </a:xfrm>
          <a:prstGeom prst="rect">
            <a:avLst/>
          </a:prstGeom>
          <a:noFill/>
        </p:spPr>
        <p:txBody>
          <a:bodyPr wrap="square" lIns="0" tIns="0" rIns="0" bIns="0" rtlCol="0" anchor="ctr">
            <a:normAutofit/>
          </a:bodyPr>
          <a:lstStyle/>
          <a:p>
            <a:pPr marL="0" indent="0" algn="ctr">
              <a:buNone/>
            </a:pPr>
            <a:r>
              <a:rPr lang="en-US" sz="1400" dirty="0">
                <a:solidFill>
                  <a:srgbClr val="63738B"/>
                </a:solidFill>
                <a:latin typeface="Aptos" pitchFamily="34" charset="0"/>
                <a:ea typeface="Aptos" pitchFamily="34" charset="-122"/>
                <a:cs typeface="Aptos" pitchFamily="34" charset="-120"/>
              </a:rPr>
              <a:t>Stored data</a:t>
            </a:r>
            <a:endParaRPr lang="en-US" sz="1400" dirty="0"/>
          </a:p>
        </p:txBody>
      </p:sp>
      <p:sp>
        <p:nvSpPr>
          <p:cNvPr id="24" name="Text 21"/>
          <p:cNvSpPr/>
          <p:nvPr/>
        </p:nvSpPr>
        <p:spPr>
          <a:xfrm>
            <a:off x="960120" y="4507992"/>
            <a:ext cx="10241280" cy="557784"/>
          </a:xfrm>
          <a:prstGeom prst="rect">
            <a:avLst/>
          </a:prstGeom>
          <a:noFill/>
        </p:spPr>
        <p:txBody>
          <a:bodyPr wrap="square" lIns="0" tIns="0" rIns="0" bIns="0" rtlCol="0" anchor="ctr">
            <a:normAutofit/>
          </a:bodyPr>
          <a:lstStyle/>
          <a:p>
            <a:pPr marL="0" indent="0" algn="ctr">
              <a:buNone/>
            </a:pPr>
            <a:r>
              <a:rPr lang="en-US" sz="2100" b="1" dirty="0">
                <a:solidFill>
                  <a:srgbClr val="0D2F5F"/>
                </a:solidFill>
                <a:latin typeface="Aptos" pitchFamily="34" charset="0"/>
                <a:ea typeface="Aptos" pitchFamily="34" charset="-122"/>
                <a:cs typeface="Aptos" pitchFamily="34" charset="-120"/>
              </a:rPr>
              <a:t>Requests travel right  →  Responses travel back left</a:t>
            </a:r>
            <a:endParaRPr lang="en-US" sz="2100" dirty="0"/>
          </a:p>
        </p:txBody>
      </p:sp>
      <p:pic>
        <p:nvPicPr>
          <p:cNvPr id="25" name="Image 0" descr="/mnt/data/cwp-logo-primary-transparent.png"/>
          <p:cNvPicPr>
            <a:picLocks noChangeAspect="1"/>
          </p:cNvPicPr>
          <p:nvPr/>
        </p:nvPicPr>
        <p:blipFill>
          <a:blip r:embed="rId1"/>
          <a:stretch>
            <a:fillRect/>
          </a:stretch>
        </p:blipFill>
        <p:spPr>
          <a:xfrm>
            <a:off x="603250" y="6029325"/>
            <a:ext cx="946150" cy="628650"/>
          </a:xfrm>
          <a:prstGeom prst="rect">
            <a:avLst/>
          </a:prstGeom>
        </p:spPr>
      </p:pic>
      <p:sp>
        <p:nvSpPr>
          <p:cNvPr id="26" name="Text 4"/>
          <p:cNvSpPr/>
          <p:nvPr/>
        </p:nvSpPr>
        <p:spPr>
          <a:xfrm>
            <a:off x="9485884" y="6419850"/>
            <a:ext cx="1746504" cy="219456"/>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codewithprof.com</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DAA62F"/>
          </a:solidFill>
          <a:ln w="12700">
            <a:solidFill>
              <a:srgbClr val="DAA62F"/>
            </a:solidFill>
            <a:prstDash val="solid"/>
          </a:ln>
        </p:spPr>
      </p:sp>
      <p:sp>
        <p:nvSpPr>
          <p:cNvPr id="3" name="Text 1"/>
          <p:cNvSpPr/>
          <p:nvPr/>
        </p:nvSpPr>
        <p:spPr>
          <a:xfrm>
            <a:off x="603504" y="292608"/>
            <a:ext cx="9144000" cy="201168"/>
          </a:xfrm>
          <a:prstGeom prst="rect">
            <a:avLst/>
          </a:prstGeom>
          <a:noFill/>
        </p:spPr>
        <p:txBody>
          <a:bodyPr wrap="square" lIns="0" tIns="0" rIns="0" bIns="0" rtlCol="0" anchor="ctr">
            <a:normAutofit/>
          </a:bodyPr>
          <a:lstStyle/>
          <a:p>
            <a:pPr marL="0" indent="0">
              <a:buNone/>
            </a:pPr>
            <a:r>
              <a:rPr lang="en-US" sz="1000" b="1" kern="0" spc="120" dirty="0">
                <a:solidFill>
                  <a:srgbClr val="63738B"/>
                </a:solidFill>
                <a:latin typeface="Aptos" pitchFamily="34" charset="0"/>
                <a:ea typeface="Aptos" pitchFamily="34" charset="-122"/>
                <a:cs typeface="Aptos" pitchFamily="34" charset="-120"/>
              </a:rPr>
              <a:t>WEEK 01 · FULL-STACK JOURNEY</a:t>
            </a:r>
            <a:endParaRPr lang="en-US" sz="1000" dirty="0"/>
          </a:p>
        </p:txBody>
      </p:sp>
      <p:sp>
        <p:nvSpPr>
          <p:cNvPr id="4" name="Text 2"/>
          <p:cNvSpPr/>
          <p:nvPr/>
        </p:nvSpPr>
        <p:spPr>
          <a:xfrm>
            <a:off x="603504" y="676656"/>
            <a:ext cx="10972800" cy="658368"/>
          </a:xfrm>
          <a:prstGeom prst="rect">
            <a:avLst/>
          </a:prstGeom>
          <a:noFill/>
        </p:spPr>
        <p:txBody>
          <a:bodyPr wrap="square" lIns="0" tIns="0" rIns="0" bIns="0" rtlCol="0" anchor="ctr">
            <a:normAutofit/>
          </a:bodyPr>
          <a:lstStyle/>
          <a:p>
            <a:pPr marL="0" indent="0">
              <a:buNone/>
            </a:pPr>
            <a:r>
              <a:rPr lang="en-US" sz="3100" b="1" dirty="0">
                <a:solidFill>
                  <a:srgbClr val="0D2F5F"/>
                </a:solidFill>
                <a:latin typeface="Aptos" pitchFamily="34" charset="0"/>
                <a:ea typeface="Aptos" pitchFamily="34" charset="-122"/>
                <a:cs typeface="Aptos" pitchFamily="34" charset="-120"/>
              </a:rPr>
              <a:t>Advanced preview: production architecture</a:t>
            </a:r>
            <a:endParaRPr lang="en-US" sz="3100" dirty="0"/>
          </a:p>
        </p:txBody>
      </p:sp>
      <p:sp>
        <p:nvSpPr>
          <p:cNvPr id="5" name="Shape 3"/>
          <p:cNvSpPr/>
          <p:nvPr/>
        </p:nvSpPr>
        <p:spPr>
          <a:xfrm>
            <a:off x="603504" y="1408176"/>
            <a:ext cx="10981944" cy="0"/>
          </a:xfrm>
          <a:prstGeom prst="line">
            <a:avLst/>
          </a:prstGeom>
          <a:noFill/>
          <a:ln w="12700">
            <a:solidFill>
              <a:srgbClr val="DEE5EF"/>
            </a:solidFill>
            <a:prstDash val="solid"/>
            <a:headEnd type="none"/>
            <a:tailEnd type="none"/>
          </a:ln>
        </p:spPr>
      </p:sp>
      <p:sp>
        <p:nvSpPr>
          <p:cNvPr id="8" name="Text 5"/>
          <p:cNvSpPr/>
          <p:nvPr/>
        </p:nvSpPr>
        <p:spPr>
          <a:xfrm>
            <a:off x="11338560" y="6437376"/>
            <a:ext cx="237744" cy="201168"/>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21</a:t>
            </a:r>
            <a:endParaRPr lang="en-US" sz="1000" dirty="0"/>
          </a:p>
        </p:txBody>
      </p:sp>
      <p:sp>
        <p:nvSpPr>
          <p:cNvPr id="9" name="Shape 6"/>
          <p:cNvSpPr/>
          <p:nvPr/>
        </p:nvSpPr>
        <p:spPr>
          <a:xfrm>
            <a:off x="630936" y="2404872"/>
            <a:ext cx="1737360" cy="1234440"/>
          </a:xfrm>
          <a:prstGeom prst="roundRect">
            <a:avLst>
              <a:gd name="adj" fmla="val 11852"/>
            </a:avLst>
          </a:prstGeom>
          <a:solidFill>
            <a:srgbClr val="FFFFFF"/>
          </a:solidFill>
          <a:ln w="12700">
            <a:solidFill>
              <a:srgbClr val="FFFFFF">
                <a:alpha val="0"/>
              </a:srgbClr>
            </a:solidFill>
            <a:prstDash val="solid"/>
          </a:ln>
        </p:spPr>
      </p:sp>
      <p:sp>
        <p:nvSpPr>
          <p:cNvPr id="10" name="Text 7"/>
          <p:cNvSpPr/>
          <p:nvPr/>
        </p:nvSpPr>
        <p:spPr>
          <a:xfrm>
            <a:off x="749808" y="2724912"/>
            <a:ext cx="1499616" cy="585216"/>
          </a:xfrm>
          <a:prstGeom prst="rect">
            <a:avLst/>
          </a:prstGeom>
          <a:noFill/>
        </p:spPr>
        <p:txBody>
          <a:bodyPr wrap="square" lIns="0" tIns="0" rIns="0" bIns="0" rtlCol="0" anchor="ctr">
            <a:normAutofit/>
          </a:bodyPr>
          <a:lstStyle/>
          <a:p>
            <a:pPr marL="0" indent="0" algn="ctr">
              <a:buNone/>
            </a:pPr>
            <a:r>
              <a:rPr lang="en-US" sz="1900" b="1" dirty="0">
                <a:solidFill>
                  <a:srgbClr val="0D2F5F"/>
                </a:solidFill>
                <a:latin typeface="Aptos" pitchFamily="34" charset="0"/>
                <a:ea typeface="Aptos" pitchFamily="34" charset="-122"/>
                <a:cs typeface="Aptos" pitchFamily="34" charset="-120"/>
              </a:rPr>
              <a:t>Browser</a:t>
            </a:r>
            <a:endParaRPr lang="en-US" sz="1900" dirty="0"/>
          </a:p>
        </p:txBody>
      </p:sp>
      <p:sp>
        <p:nvSpPr>
          <p:cNvPr id="11" name="Shape 8"/>
          <p:cNvSpPr/>
          <p:nvPr/>
        </p:nvSpPr>
        <p:spPr>
          <a:xfrm>
            <a:off x="2395728" y="3026664"/>
            <a:ext cx="246888" cy="0"/>
          </a:xfrm>
          <a:prstGeom prst="line">
            <a:avLst/>
          </a:prstGeom>
          <a:noFill/>
          <a:ln w="25400">
            <a:solidFill>
              <a:srgbClr val="DAA62F"/>
            </a:solidFill>
            <a:prstDash val="solid"/>
            <a:headEnd type="none"/>
            <a:tailEnd type="triangle"/>
          </a:ln>
        </p:spPr>
      </p:sp>
      <p:sp>
        <p:nvSpPr>
          <p:cNvPr id="12" name="Shape 9"/>
          <p:cNvSpPr/>
          <p:nvPr/>
        </p:nvSpPr>
        <p:spPr>
          <a:xfrm>
            <a:off x="2697480" y="2404872"/>
            <a:ext cx="1828800" cy="1234440"/>
          </a:xfrm>
          <a:prstGeom prst="roundRect">
            <a:avLst>
              <a:gd name="adj" fmla="val 11852"/>
            </a:avLst>
          </a:prstGeom>
          <a:solidFill>
            <a:srgbClr val="FFFFFF"/>
          </a:solidFill>
          <a:ln w="12700">
            <a:solidFill>
              <a:srgbClr val="FFFFFF">
                <a:alpha val="0"/>
              </a:srgbClr>
            </a:solidFill>
            <a:prstDash val="solid"/>
          </a:ln>
        </p:spPr>
      </p:sp>
      <p:sp>
        <p:nvSpPr>
          <p:cNvPr id="13" name="Text 10"/>
          <p:cNvSpPr/>
          <p:nvPr/>
        </p:nvSpPr>
        <p:spPr>
          <a:xfrm>
            <a:off x="2816352" y="2724912"/>
            <a:ext cx="1591056" cy="585216"/>
          </a:xfrm>
          <a:prstGeom prst="rect">
            <a:avLst/>
          </a:prstGeom>
          <a:noFill/>
        </p:spPr>
        <p:txBody>
          <a:bodyPr wrap="square" lIns="0" tIns="0" rIns="0" bIns="0" rtlCol="0" anchor="ctr">
            <a:normAutofit/>
          </a:bodyPr>
          <a:lstStyle/>
          <a:p>
            <a:pPr marL="0" indent="0" algn="ctr">
              <a:buNone/>
            </a:pPr>
            <a:r>
              <a:rPr lang="en-US" sz="1900" b="1" dirty="0">
                <a:solidFill>
                  <a:srgbClr val="0D2F5F"/>
                </a:solidFill>
                <a:latin typeface="Aptos" pitchFamily="34" charset="0"/>
                <a:ea typeface="Aptos" pitchFamily="34" charset="-122"/>
                <a:cs typeface="Aptos" pitchFamily="34" charset="-120"/>
              </a:rPr>
              <a:t>DNS / CDN</a:t>
            </a:r>
            <a:endParaRPr lang="en-US" sz="1900" dirty="0"/>
          </a:p>
        </p:txBody>
      </p:sp>
      <p:sp>
        <p:nvSpPr>
          <p:cNvPr id="14" name="Shape 11"/>
          <p:cNvSpPr/>
          <p:nvPr/>
        </p:nvSpPr>
        <p:spPr>
          <a:xfrm>
            <a:off x="4553712" y="3026664"/>
            <a:ext cx="237744" cy="0"/>
          </a:xfrm>
          <a:prstGeom prst="line">
            <a:avLst/>
          </a:prstGeom>
          <a:noFill/>
          <a:ln w="25400">
            <a:solidFill>
              <a:srgbClr val="DAA62F"/>
            </a:solidFill>
            <a:prstDash val="solid"/>
            <a:headEnd type="none"/>
            <a:tailEnd type="triangle"/>
          </a:ln>
        </p:spPr>
      </p:sp>
      <p:sp>
        <p:nvSpPr>
          <p:cNvPr id="15" name="Shape 12"/>
          <p:cNvSpPr/>
          <p:nvPr/>
        </p:nvSpPr>
        <p:spPr>
          <a:xfrm>
            <a:off x="4846320" y="2404872"/>
            <a:ext cx="1993392" cy="1234440"/>
          </a:xfrm>
          <a:prstGeom prst="roundRect">
            <a:avLst>
              <a:gd name="adj" fmla="val 11852"/>
            </a:avLst>
          </a:prstGeom>
          <a:solidFill>
            <a:srgbClr val="FFFFFF"/>
          </a:solidFill>
          <a:ln w="12700">
            <a:solidFill>
              <a:srgbClr val="FFFFFF">
                <a:alpha val="0"/>
              </a:srgbClr>
            </a:solidFill>
            <a:prstDash val="solid"/>
          </a:ln>
        </p:spPr>
      </p:sp>
      <p:sp>
        <p:nvSpPr>
          <p:cNvPr id="16" name="Text 13"/>
          <p:cNvSpPr/>
          <p:nvPr/>
        </p:nvSpPr>
        <p:spPr>
          <a:xfrm>
            <a:off x="4965192" y="2724912"/>
            <a:ext cx="1755648" cy="585216"/>
          </a:xfrm>
          <a:prstGeom prst="rect">
            <a:avLst/>
          </a:prstGeom>
          <a:noFill/>
        </p:spPr>
        <p:txBody>
          <a:bodyPr wrap="square" lIns="0" tIns="0" rIns="0" bIns="0" rtlCol="0" anchor="ctr">
            <a:normAutofit/>
          </a:bodyPr>
          <a:lstStyle/>
          <a:p>
            <a:pPr marL="0" indent="0" algn="ctr">
              <a:buNone/>
            </a:pPr>
            <a:r>
              <a:rPr lang="en-US" sz="1700" b="1" dirty="0">
                <a:solidFill>
                  <a:srgbClr val="0D2F5F"/>
                </a:solidFill>
                <a:latin typeface="Aptos" pitchFamily="34" charset="0"/>
                <a:ea typeface="Aptos" pitchFamily="34" charset="-122"/>
                <a:cs typeface="Aptos" pitchFamily="34" charset="-120"/>
              </a:rPr>
              <a:t>Load balancer</a:t>
            </a:r>
            <a:endParaRPr lang="en-US" sz="1700" dirty="0"/>
          </a:p>
        </p:txBody>
      </p:sp>
      <p:sp>
        <p:nvSpPr>
          <p:cNvPr id="17" name="Shape 14"/>
          <p:cNvSpPr/>
          <p:nvPr/>
        </p:nvSpPr>
        <p:spPr>
          <a:xfrm>
            <a:off x="6867144" y="3026664"/>
            <a:ext cx="237744" cy="0"/>
          </a:xfrm>
          <a:prstGeom prst="line">
            <a:avLst/>
          </a:prstGeom>
          <a:noFill/>
          <a:ln w="25400">
            <a:solidFill>
              <a:srgbClr val="DAA62F"/>
            </a:solidFill>
            <a:prstDash val="solid"/>
            <a:headEnd type="none"/>
            <a:tailEnd type="triangle"/>
          </a:ln>
        </p:spPr>
      </p:sp>
      <p:sp>
        <p:nvSpPr>
          <p:cNvPr id="18" name="Shape 15"/>
          <p:cNvSpPr/>
          <p:nvPr/>
        </p:nvSpPr>
        <p:spPr>
          <a:xfrm>
            <a:off x="7159752" y="2404872"/>
            <a:ext cx="1874520" cy="1234440"/>
          </a:xfrm>
          <a:prstGeom prst="roundRect">
            <a:avLst>
              <a:gd name="adj" fmla="val 11852"/>
            </a:avLst>
          </a:prstGeom>
          <a:solidFill>
            <a:srgbClr val="0D2F5F"/>
          </a:solidFill>
          <a:ln w="12700">
            <a:solidFill>
              <a:srgbClr val="0D2F5F">
                <a:alpha val="0"/>
              </a:srgbClr>
            </a:solidFill>
            <a:prstDash val="solid"/>
          </a:ln>
        </p:spPr>
      </p:sp>
      <p:sp>
        <p:nvSpPr>
          <p:cNvPr id="19" name="Text 16"/>
          <p:cNvSpPr/>
          <p:nvPr/>
        </p:nvSpPr>
        <p:spPr>
          <a:xfrm>
            <a:off x="7278624" y="2724912"/>
            <a:ext cx="1636776" cy="585216"/>
          </a:xfrm>
          <a:prstGeom prst="rect">
            <a:avLst/>
          </a:prstGeom>
          <a:noFill/>
        </p:spPr>
        <p:txBody>
          <a:bodyPr wrap="square" lIns="0" tIns="0" rIns="0" bIns="0" rtlCol="0" anchor="ctr">
            <a:normAutofit/>
          </a:bodyPr>
          <a:lstStyle/>
          <a:p>
            <a:pPr marL="0" indent="0" algn="ctr">
              <a:buNone/>
            </a:pPr>
            <a:r>
              <a:rPr lang="en-US" sz="1900" b="1" dirty="0">
                <a:solidFill>
                  <a:srgbClr val="FFFFFF"/>
                </a:solidFill>
                <a:latin typeface="Aptos" pitchFamily="34" charset="0"/>
                <a:ea typeface="Aptos" pitchFamily="34" charset="-122"/>
                <a:cs typeface="Aptos" pitchFamily="34" charset="-120"/>
              </a:rPr>
              <a:t>API instances</a:t>
            </a:r>
            <a:endParaRPr lang="en-US" sz="1900" dirty="0"/>
          </a:p>
        </p:txBody>
      </p:sp>
      <p:sp>
        <p:nvSpPr>
          <p:cNvPr id="20" name="Shape 17"/>
          <p:cNvSpPr/>
          <p:nvPr/>
        </p:nvSpPr>
        <p:spPr>
          <a:xfrm>
            <a:off x="9061704" y="3026664"/>
            <a:ext cx="246888" cy="0"/>
          </a:xfrm>
          <a:prstGeom prst="line">
            <a:avLst/>
          </a:prstGeom>
          <a:noFill/>
          <a:ln w="25400">
            <a:solidFill>
              <a:srgbClr val="DAA62F"/>
            </a:solidFill>
            <a:prstDash val="solid"/>
            <a:headEnd type="none"/>
            <a:tailEnd type="triangle"/>
          </a:ln>
        </p:spPr>
      </p:sp>
      <p:sp>
        <p:nvSpPr>
          <p:cNvPr id="21" name="Shape 18"/>
          <p:cNvSpPr/>
          <p:nvPr/>
        </p:nvSpPr>
        <p:spPr>
          <a:xfrm>
            <a:off x="9363456" y="2404872"/>
            <a:ext cx="1993392" cy="1234440"/>
          </a:xfrm>
          <a:prstGeom prst="roundRect">
            <a:avLst>
              <a:gd name="adj" fmla="val 11852"/>
            </a:avLst>
          </a:prstGeom>
          <a:solidFill>
            <a:srgbClr val="FFFFFF"/>
          </a:solidFill>
          <a:ln w="12700">
            <a:solidFill>
              <a:srgbClr val="FFFFFF">
                <a:alpha val="0"/>
              </a:srgbClr>
            </a:solidFill>
            <a:prstDash val="solid"/>
          </a:ln>
        </p:spPr>
      </p:sp>
      <p:sp>
        <p:nvSpPr>
          <p:cNvPr id="22" name="Text 19"/>
          <p:cNvSpPr/>
          <p:nvPr/>
        </p:nvSpPr>
        <p:spPr>
          <a:xfrm>
            <a:off x="9482328" y="2724912"/>
            <a:ext cx="1755648" cy="585216"/>
          </a:xfrm>
          <a:prstGeom prst="rect">
            <a:avLst/>
          </a:prstGeom>
          <a:noFill/>
        </p:spPr>
        <p:txBody>
          <a:bodyPr wrap="square" lIns="0" tIns="0" rIns="0" bIns="0" rtlCol="0" anchor="ctr">
            <a:normAutofit/>
          </a:bodyPr>
          <a:lstStyle/>
          <a:p>
            <a:pPr marL="0" indent="0" algn="ctr">
              <a:buNone/>
            </a:pPr>
            <a:r>
              <a:rPr lang="en-US" sz="1900" b="1" dirty="0">
                <a:solidFill>
                  <a:srgbClr val="0D2F5F"/>
                </a:solidFill>
                <a:latin typeface="Aptos" pitchFamily="34" charset="0"/>
                <a:ea typeface="Aptos" pitchFamily="34" charset="-122"/>
                <a:cs typeface="Aptos" pitchFamily="34" charset="-120"/>
              </a:rPr>
              <a:t>Database</a:t>
            </a:r>
            <a:endParaRPr lang="en-US" sz="1900" dirty="0"/>
          </a:p>
        </p:txBody>
      </p:sp>
      <p:sp>
        <p:nvSpPr>
          <p:cNvPr id="23" name="Shape 20"/>
          <p:cNvSpPr/>
          <p:nvPr/>
        </p:nvSpPr>
        <p:spPr>
          <a:xfrm>
            <a:off x="786384" y="4261104"/>
            <a:ext cx="3310128" cy="1106424"/>
          </a:xfrm>
          <a:prstGeom prst="roundRect">
            <a:avLst>
              <a:gd name="adj" fmla="val 13223"/>
            </a:avLst>
          </a:prstGeom>
          <a:solidFill>
            <a:srgbClr val="FFFFFF"/>
          </a:solidFill>
          <a:ln w="12700">
            <a:solidFill>
              <a:srgbClr val="FFFFFF">
                <a:alpha val="0"/>
              </a:srgbClr>
            </a:solidFill>
            <a:prstDash val="solid"/>
          </a:ln>
        </p:spPr>
      </p:sp>
      <p:sp>
        <p:nvSpPr>
          <p:cNvPr id="24" name="Text 21"/>
          <p:cNvSpPr/>
          <p:nvPr/>
        </p:nvSpPr>
        <p:spPr>
          <a:xfrm>
            <a:off x="1005840" y="4434840"/>
            <a:ext cx="2871216" cy="393192"/>
          </a:xfrm>
          <a:prstGeom prst="rect">
            <a:avLst/>
          </a:prstGeom>
          <a:noFill/>
        </p:spPr>
        <p:txBody>
          <a:bodyPr wrap="square" lIns="0" tIns="0" rIns="0" bIns="0" rtlCol="0" anchor="ctr">
            <a:normAutofit/>
          </a:bodyPr>
          <a:lstStyle/>
          <a:p>
            <a:pPr marL="0" indent="0">
              <a:buNone/>
            </a:pPr>
            <a:r>
              <a:rPr lang="en-US" sz="1500" b="1" dirty="0">
                <a:solidFill>
                  <a:srgbClr val="0D2F5F"/>
                </a:solidFill>
                <a:latin typeface="Aptos" pitchFamily="34" charset="0"/>
                <a:ea typeface="Aptos" pitchFamily="34" charset="-122"/>
                <a:cs typeface="Aptos" pitchFamily="34" charset="-120"/>
              </a:rPr>
              <a:t>CDN</a:t>
            </a:r>
            <a:endParaRPr lang="en-US" sz="1500" dirty="0"/>
          </a:p>
        </p:txBody>
      </p:sp>
      <p:sp>
        <p:nvSpPr>
          <p:cNvPr id="25" name="Text 22"/>
          <p:cNvSpPr/>
          <p:nvPr/>
        </p:nvSpPr>
        <p:spPr>
          <a:xfrm>
            <a:off x="1005840" y="4928616"/>
            <a:ext cx="2871216" cy="274320"/>
          </a:xfrm>
          <a:prstGeom prst="rect">
            <a:avLst/>
          </a:prstGeom>
          <a:noFill/>
        </p:spPr>
        <p:txBody>
          <a:bodyPr wrap="square" lIns="0" tIns="0" rIns="0" bIns="0" rtlCol="0" anchor="t">
            <a:normAutofit/>
          </a:bodyPr>
          <a:lstStyle/>
          <a:p>
            <a:pPr marL="0" indent="0">
              <a:buNone/>
            </a:pPr>
            <a:r>
              <a:rPr lang="en-US" sz="1300" dirty="0">
                <a:solidFill>
                  <a:srgbClr val="63738B"/>
                </a:solidFill>
                <a:latin typeface="Aptos" pitchFamily="34" charset="0"/>
                <a:ea typeface="Aptos" pitchFamily="34" charset="-122"/>
                <a:cs typeface="Aptos" pitchFamily="34" charset="-120"/>
              </a:rPr>
              <a:t>Cache files near users</a:t>
            </a:r>
            <a:endParaRPr lang="en-US" sz="1300" dirty="0"/>
          </a:p>
        </p:txBody>
      </p:sp>
      <p:sp>
        <p:nvSpPr>
          <p:cNvPr id="26" name="Shape 23"/>
          <p:cNvSpPr/>
          <p:nvPr/>
        </p:nvSpPr>
        <p:spPr>
          <a:xfrm>
            <a:off x="4434840" y="4261104"/>
            <a:ext cx="3310128" cy="1106424"/>
          </a:xfrm>
          <a:prstGeom prst="roundRect">
            <a:avLst>
              <a:gd name="adj" fmla="val 13223"/>
            </a:avLst>
          </a:prstGeom>
          <a:solidFill>
            <a:srgbClr val="FFFFFF"/>
          </a:solidFill>
          <a:ln w="12700">
            <a:solidFill>
              <a:srgbClr val="FFFFFF">
                <a:alpha val="0"/>
              </a:srgbClr>
            </a:solidFill>
            <a:prstDash val="solid"/>
          </a:ln>
        </p:spPr>
      </p:sp>
      <p:sp>
        <p:nvSpPr>
          <p:cNvPr id="27" name="Text 24"/>
          <p:cNvSpPr/>
          <p:nvPr/>
        </p:nvSpPr>
        <p:spPr>
          <a:xfrm>
            <a:off x="4654296" y="4434840"/>
            <a:ext cx="2871216" cy="393192"/>
          </a:xfrm>
          <a:prstGeom prst="rect">
            <a:avLst/>
          </a:prstGeom>
          <a:noFill/>
        </p:spPr>
        <p:txBody>
          <a:bodyPr wrap="square" lIns="0" tIns="0" rIns="0" bIns="0" rtlCol="0" anchor="ctr">
            <a:normAutofit/>
          </a:bodyPr>
          <a:lstStyle/>
          <a:p>
            <a:pPr marL="0" indent="0">
              <a:buNone/>
            </a:pPr>
            <a:r>
              <a:rPr lang="en-US" sz="1500" b="1" dirty="0">
                <a:solidFill>
                  <a:srgbClr val="0D2F5F"/>
                </a:solidFill>
                <a:latin typeface="Aptos" pitchFamily="34" charset="0"/>
                <a:ea typeface="Aptos" pitchFamily="34" charset="-122"/>
                <a:cs typeface="Aptos" pitchFamily="34" charset="-120"/>
              </a:rPr>
              <a:t>Load balancer</a:t>
            </a:r>
            <a:endParaRPr lang="en-US" sz="1500" dirty="0"/>
          </a:p>
        </p:txBody>
      </p:sp>
      <p:sp>
        <p:nvSpPr>
          <p:cNvPr id="28" name="Text 25"/>
          <p:cNvSpPr/>
          <p:nvPr/>
        </p:nvSpPr>
        <p:spPr>
          <a:xfrm>
            <a:off x="4654296" y="4928616"/>
            <a:ext cx="2871216" cy="274320"/>
          </a:xfrm>
          <a:prstGeom prst="rect">
            <a:avLst/>
          </a:prstGeom>
          <a:noFill/>
        </p:spPr>
        <p:txBody>
          <a:bodyPr wrap="square" lIns="0" tIns="0" rIns="0" bIns="0" rtlCol="0" anchor="t">
            <a:normAutofit/>
          </a:bodyPr>
          <a:lstStyle/>
          <a:p>
            <a:pPr marL="0" indent="0">
              <a:buNone/>
            </a:pPr>
            <a:r>
              <a:rPr lang="en-US" sz="1300" dirty="0">
                <a:solidFill>
                  <a:srgbClr val="63738B"/>
                </a:solidFill>
                <a:latin typeface="Aptos" pitchFamily="34" charset="0"/>
                <a:ea typeface="Aptos" pitchFamily="34" charset="-122"/>
                <a:cs typeface="Aptos" pitchFamily="34" charset="-120"/>
              </a:rPr>
              <a:t>Spread traffic across servers</a:t>
            </a:r>
            <a:endParaRPr lang="en-US" sz="1300" dirty="0"/>
          </a:p>
        </p:txBody>
      </p:sp>
      <p:sp>
        <p:nvSpPr>
          <p:cNvPr id="29" name="Shape 26"/>
          <p:cNvSpPr/>
          <p:nvPr/>
        </p:nvSpPr>
        <p:spPr>
          <a:xfrm>
            <a:off x="8083296" y="4261104"/>
            <a:ext cx="3310128" cy="1106424"/>
          </a:xfrm>
          <a:prstGeom prst="roundRect">
            <a:avLst>
              <a:gd name="adj" fmla="val 13223"/>
            </a:avLst>
          </a:prstGeom>
          <a:solidFill>
            <a:srgbClr val="FFFFFF"/>
          </a:solidFill>
          <a:ln w="12700">
            <a:solidFill>
              <a:srgbClr val="FFFFFF">
                <a:alpha val="0"/>
              </a:srgbClr>
            </a:solidFill>
            <a:prstDash val="solid"/>
          </a:ln>
        </p:spPr>
      </p:sp>
      <p:sp>
        <p:nvSpPr>
          <p:cNvPr id="30" name="Text 27"/>
          <p:cNvSpPr/>
          <p:nvPr/>
        </p:nvSpPr>
        <p:spPr>
          <a:xfrm>
            <a:off x="8302752" y="4434840"/>
            <a:ext cx="2871216" cy="393192"/>
          </a:xfrm>
          <a:prstGeom prst="rect">
            <a:avLst/>
          </a:prstGeom>
          <a:noFill/>
        </p:spPr>
        <p:txBody>
          <a:bodyPr wrap="square" lIns="0" tIns="0" rIns="0" bIns="0" rtlCol="0" anchor="ctr">
            <a:normAutofit/>
          </a:bodyPr>
          <a:lstStyle/>
          <a:p>
            <a:pPr marL="0" indent="0">
              <a:buNone/>
            </a:pPr>
            <a:r>
              <a:rPr lang="en-US" sz="1500" b="1" dirty="0">
                <a:solidFill>
                  <a:srgbClr val="0D2F5F"/>
                </a:solidFill>
                <a:latin typeface="Aptos" pitchFamily="34" charset="0"/>
                <a:ea typeface="Aptos" pitchFamily="34" charset="-122"/>
                <a:cs typeface="Aptos" pitchFamily="34" charset="-120"/>
              </a:rPr>
              <a:t>Multiple APIs</a:t>
            </a:r>
            <a:endParaRPr lang="en-US" sz="1500" dirty="0"/>
          </a:p>
        </p:txBody>
      </p:sp>
      <p:sp>
        <p:nvSpPr>
          <p:cNvPr id="31" name="Text 28"/>
          <p:cNvSpPr/>
          <p:nvPr/>
        </p:nvSpPr>
        <p:spPr>
          <a:xfrm>
            <a:off x="8302752" y="4928616"/>
            <a:ext cx="2871216" cy="274320"/>
          </a:xfrm>
          <a:prstGeom prst="rect">
            <a:avLst/>
          </a:prstGeom>
          <a:noFill/>
        </p:spPr>
        <p:txBody>
          <a:bodyPr wrap="square" lIns="0" tIns="0" rIns="0" bIns="0" rtlCol="0" anchor="t">
            <a:normAutofit/>
          </a:bodyPr>
          <a:lstStyle/>
          <a:p>
            <a:pPr marL="0" indent="0">
              <a:buNone/>
            </a:pPr>
            <a:r>
              <a:rPr lang="en-US" sz="1300" dirty="0">
                <a:solidFill>
                  <a:srgbClr val="63738B"/>
                </a:solidFill>
                <a:latin typeface="Aptos" pitchFamily="34" charset="0"/>
                <a:ea typeface="Aptos" pitchFamily="34" charset="-122"/>
                <a:cs typeface="Aptos" pitchFamily="34" charset="-120"/>
              </a:rPr>
              <a:t>Handle scaling and failures</a:t>
            </a:r>
            <a:endParaRPr lang="en-US" sz="1300" dirty="0"/>
          </a:p>
        </p:txBody>
      </p:sp>
      <p:pic>
        <p:nvPicPr>
          <p:cNvPr id="32" name="Image 0" descr="/mnt/data/cwp-logo-primary-transparent.png"/>
          <p:cNvPicPr>
            <a:picLocks noChangeAspect="1"/>
          </p:cNvPicPr>
          <p:nvPr/>
        </p:nvPicPr>
        <p:blipFill>
          <a:blip r:embed="rId1"/>
          <a:stretch>
            <a:fillRect/>
          </a:stretch>
        </p:blipFill>
        <p:spPr>
          <a:xfrm>
            <a:off x="603250" y="6029325"/>
            <a:ext cx="946150" cy="628650"/>
          </a:xfrm>
          <a:prstGeom prst="rect">
            <a:avLst/>
          </a:prstGeom>
        </p:spPr>
      </p:pic>
      <p:sp>
        <p:nvSpPr>
          <p:cNvPr id="33" name="Text 4"/>
          <p:cNvSpPr/>
          <p:nvPr/>
        </p:nvSpPr>
        <p:spPr>
          <a:xfrm>
            <a:off x="9485884" y="6419850"/>
            <a:ext cx="1746504" cy="219456"/>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codewithprof.com</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DAA62F"/>
          </a:solidFill>
          <a:ln w="12700">
            <a:solidFill>
              <a:srgbClr val="DAA62F"/>
            </a:solidFill>
            <a:prstDash val="solid"/>
          </a:ln>
        </p:spPr>
      </p:sp>
      <p:sp>
        <p:nvSpPr>
          <p:cNvPr id="3" name="Text 1"/>
          <p:cNvSpPr/>
          <p:nvPr/>
        </p:nvSpPr>
        <p:spPr>
          <a:xfrm>
            <a:off x="603504" y="292608"/>
            <a:ext cx="9144000" cy="201168"/>
          </a:xfrm>
          <a:prstGeom prst="rect">
            <a:avLst/>
          </a:prstGeom>
          <a:noFill/>
        </p:spPr>
        <p:txBody>
          <a:bodyPr wrap="square" lIns="0" tIns="0" rIns="0" bIns="0" rtlCol="0" anchor="ctr">
            <a:normAutofit/>
          </a:bodyPr>
          <a:lstStyle/>
          <a:p>
            <a:pPr marL="0" indent="0">
              <a:buNone/>
            </a:pPr>
            <a:r>
              <a:rPr lang="en-US" sz="1000" b="1" kern="0" spc="120" dirty="0">
                <a:solidFill>
                  <a:srgbClr val="63738B"/>
                </a:solidFill>
                <a:latin typeface="Aptos" pitchFamily="34" charset="0"/>
                <a:ea typeface="Aptos" pitchFamily="34" charset="-122"/>
                <a:cs typeface="Aptos" pitchFamily="34" charset="-120"/>
              </a:rPr>
              <a:t>WEEK 01 · FULL-STACK JOURNEY</a:t>
            </a:r>
            <a:endParaRPr lang="en-US" sz="1000" dirty="0"/>
          </a:p>
        </p:txBody>
      </p:sp>
      <p:sp>
        <p:nvSpPr>
          <p:cNvPr id="4" name="Text 2"/>
          <p:cNvSpPr/>
          <p:nvPr/>
        </p:nvSpPr>
        <p:spPr>
          <a:xfrm>
            <a:off x="603504" y="676656"/>
            <a:ext cx="10972800" cy="658368"/>
          </a:xfrm>
          <a:prstGeom prst="rect">
            <a:avLst/>
          </a:prstGeom>
          <a:noFill/>
        </p:spPr>
        <p:txBody>
          <a:bodyPr wrap="square" lIns="0" tIns="0" rIns="0" bIns="0" rtlCol="0" anchor="ctr">
            <a:normAutofit/>
          </a:bodyPr>
          <a:lstStyle/>
          <a:p>
            <a:pPr marL="0" indent="0">
              <a:buNone/>
            </a:pPr>
            <a:r>
              <a:rPr lang="en-US" sz="3100" b="1" dirty="0">
                <a:solidFill>
                  <a:srgbClr val="0D2F5F"/>
                </a:solidFill>
                <a:latin typeface="Aptos" pitchFamily="34" charset="0"/>
                <a:ea typeface="Aptos" pitchFamily="34" charset="-122"/>
                <a:cs typeface="Aptos" pitchFamily="34" charset="-120"/>
              </a:rPr>
              <a:t>Being safe online</a:t>
            </a:r>
            <a:endParaRPr lang="en-US" sz="3100" dirty="0"/>
          </a:p>
        </p:txBody>
      </p:sp>
      <p:sp>
        <p:nvSpPr>
          <p:cNvPr id="5" name="Shape 3"/>
          <p:cNvSpPr/>
          <p:nvPr/>
        </p:nvSpPr>
        <p:spPr>
          <a:xfrm>
            <a:off x="603504" y="1408176"/>
            <a:ext cx="10981944" cy="0"/>
          </a:xfrm>
          <a:prstGeom prst="line">
            <a:avLst/>
          </a:prstGeom>
          <a:noFill/>
          <a:ln w="12700">
            <a:solidFill>
              <a:srgbClr val="DEE5EF"/>
            </a:solidFill>
            <a:prstDash val="solid"/>
            <a:headEnd type="none"/>
            <a:tailEnd type="none"/>
          </a:ln>
        </p:spPr>
      </p:sp>
      <p:sp>
        <p:nvSpPr>
          <p:cNvPr id="8" name="Text 5"/>
          <p:cNvSpPr/>
          <p:nvPr/>
        </p:nvSpPr>
        <p:spPr>
          <a:xfrm>
            <a:off x="11338560" y="6437376"/>
            <a:ext cx="237744" cy="201168"/>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22</a:t>
            </a:r>
            <a:endParaRPr lang="en-US" sz="1000" dirty="0"/>
          </a:p>
        </p:txBody>
      </p:sp>
      <p:sp>
        <p:nvSpPr>
          <p:cNvPr id="9" name="Shape 6"/>
          <p:cNvSpPr/>
          <p:nvPr/>
        </p:nvSpPr>
        <p:spPr>
          <a:xfrm>
            <a:off x="658368" y="1755648"/>
            <a:ext cx="5340096" cy="1545336"/>
          </a:xfrm>
          <a:prstGeom prst="roundRect">
            <a:avLst>
              <a:gd name="adj" fmla="val 9467"/>
            </a:avLst>
          </a:prstGeom>
          <a:solidFill>
            <a:srgbClr val="FFFFFF"/>
          </a:solidFill>
          <a:ln w="12700">
            <a:solidFill>
              <a:srgbClr val="FFFFFF">
                <a:alpha val="0"/>
              </a:srgbClr>
            </a:solidFill>
            <a:prstDash val="solid"/>
          </a:ln>
        </p:spPr>
      </p:sp>
      <p:sp>
        <p:nvSpPr>
          <p:cNvPr id="10" name="Shape 7"/>
          <p:cNvSpPr/>
          <p:nvPr/>
        </p:nvSpPr>
        <p:spPr>
          <a:xfrm>
            <a:off x="658368" y="1755648"/>
            <a:ext cx="59436" cy="1545336"/>
          </a:xfrm>
          <a:prstGeom prst="rect">
            <a:avLst/>
          </a:prstGeom>
          <a:solidFill>
            <a:srgbClr val="DAA62F"/>
          </a:solidFill>
          <a:ln w="12700">
            <a:solidFill>
              <a:srgbClr val="DAA62F"/>
            </a:solidFill>
            <a:prstDash val="solid"/>
          </a:ln>
        </p:spPr>
      </p:sp>
      <p:sp>
        <p:nvSpPr>
          <p:cNvPr id="11" name="Text 8"/>
          <p:cNvSpPr/>
          <p:nvPr/>
        </p:nvSpPr>
        <p:spPr>
          <a:xfrm>
            <a:off x="877824" y="1929384"/>
            <a:ext cx="4901184" cy="393192"/>
          </a:xfrm>
          <a:prstGeom prst="rect">
            <a:avLst/>
          </a:prstGeom>
          <a:noFill/>
        </p:spPr>
        <p:txBody>
          <a:bodyPr wrap="square" lIns="0" tIns="0" rIns="0" bIns="0" rtlCol="0" anchor="ctr">
            <a:normAutofit/>
          </a:bodyPr>
          <a:lstStyle/>
          <a:p>
            <a:pPr marL="0" indent="0">
              <a:buNone/>
            </a:pPr>
            <a:r>
              <a:rPr lang="en-US" sz="1700" b="1" dirty="0">
                <a:solidFill>
                  <a:srgbClr val="0D2F5F"/>
                </a:solidFill>
                <a:latin typeface="Aptos" pitchFamily="34" charset="0"/>
                <a:ea typeface="Aptos" pitchFamily="34" charset="-122"/>
                <a:cs typeface="Aptos" pitchFamily="34" charset="-120"/>
              </a:rPr>
              <a:t>Protect accounts</a:t>
            </a:r>
            <a:endParaRPr lang="en-US" sz="1700" dirty="0"/>
          </a:p>
        </p:txBody>
      </p:sp>
      <p:sp>
        <p:nvSpPr>
          <p:cNvPr id="12" name="Text 9"/>
          <p:cNvSpPr/>
          <p:nvPr/>
        </p:nvSpPr>
        <p:spPr>
          <a:xfrm>
            <a:off x="877824" y="2423160"/>
            <a:ext cx="4901184" cy="713232"/>
          </a:xfrm>
          <a:prstGeom prst="rect">
            <a:avLst/>
          </a:prstGeom>
          <a:noFill/>
        </p:spPr>
        <p:txBody>
          <a:bodyPr wrap="square" lIns="0" tIns="0" rIns="0" bIns="0" rtlCol="0" anchor="t">
            <a:normAutofit/>
          </a:bodyPr>
          <a:lstStyle/>
          <a:p>
            <a:pPr marL="0" indent="0">
              <a:buNone/>
            </a:pPr>
            <a:r>
              <a:rPr lang="en-US" sz="1600" dirty="0">
                <a:solidFill>
                  <a:srgbClr val="63738B"/>
                </a:solidFill>
                <a:latin typeface="Aptos" pitchFamily="34" charset="0"/>
                <a:ea typeface="Aptos" pitchFamily="34" charset="-122"/>
                <a:cs typeface="Aptos" pitchFamily="34" charset="-120"/>
              </a:rPr>
              <a:t>Use long, unique passphrases and multi-factor authentication when available.</a:t>
            </a:r>
            <a:endParaRPr lang="en-US" sz="1600" dirty="0"/>
          </a:p>
        </p:txBody>
      </p:sp>
      <p:sp>
        <p:nvSpPr>
          <p:cNvPr id="13" name="Shape 10"/>
          <p:cNvSpPr/>
          <p:nvPr/>
        </p:nvSpPr>
        <p:spPr>
          <a:xfrm>
            <a:off x="6181344" y="1755648"/>
            <a:ext cx="5340096" cy="1545336"/>
          </a:xfrm>
          <a:prstGeom prst="roundRect">
            <a:avLst>
              <a:gd name="adj" fmla="val 9467"/>
            </a:avLst>
          </a:prstGeom>
          <a:solidFill>
            <a:srgbClr val="FFFFFF"/>
          </a:solidFill>
          <a:ln w="12700">
            <a:solidFill>
              <a:srgbClr val="FFFFFF">
                <a:alpha val="0"/>
              </a:srgbClr>
            </a:solidFill>
            <a:prstDash val="solid"/>
          </a:ln>
        </p:spPr>
      </p:sp>
      <p:sp>
        <p:nvSpPr>
          <p:cNvPr id="14" name="Shape 11"/>
          <p:cNvSpPr/>
          <p:nvPr/>
        </p:nvSpPr>
        <p:spPr>
          <a:xfrm>
            <a:off x="6181344" y="1755648"/>
            <a:ext cx="59436" cy="1545336"/>
          </a:xfrm>
          <a:prstGeom prst="rect">
            <a:avLst/>
          </a:prstGeom>
          <a:solidFill>
            <a:srgbClr val="DAA62F"/>
          </a:solidFill>
          <a:ln w="12700">
            <a:solidFill>
              <a:srgbClr val="DAA62F"/>
            </a:solidFill>
            <a:prstDash val="solid"/>
          </a:ln>
        </p:spPr>
      </p:sp>
      <p:sp>
        <p:nvSpPr>
          <p:cNvPr id="15" name="Text 12"/>
          <p:cNvSpPr/>
          <p:nvPr/>
        </p:nvSpPr>
        <p:spPr>
          <a:xfrm>
            <a:off x="6400800" y="1929384"/>
            <a:ext cx="4901184" cy="393192"/>
          </a:xfrm>
          <a:prstGeom prst="rect">
            <a:avLst/>
          </a:prstGeom>
          <a:noFill/>
        </p:spPr>
        <p:txBody>
          <a:bodyPr wrap="square" lIns="0" tIns="0" rIns="0" bIns="0" rtlCol="0" anchor="ctr">
            <a:normAutofit/>
          </a:bodyPr>
          <a:lstStyle/>
          <a:p>
            <a:pPr marL="0" indent="0">
              <a:buNone/>
            </a:pPr>
            <a:r>
              <a:rPr lang="en-US" sz="1700" b="1" dirty="0">
                <a:solidFill>
                  <a:srgbClr val="0D2F5F"/>
                </a:solidFill>
                <a:latin typeface="Aptos" pitchFamily="34" charset="0"/>
                <a:ea typeface="Aptos" pitchFamily="34" charset="-122"/>
                <a:cs typeface="Aptos" pitchFamily="34" charset="-120"/>
              </a:rPr>
              <a:t>Protect identity</a:t>
            </a:r>
            <a:endParaRPr lang="en-US" sz="1700" dirty="0"/>
          </a:p>
        </p:txBody>
      </p:sp>
      <p:sp>
        <p:nvSpPr>
          <p:cNvPr id="16" name="Text 13"/>
          <p:cNvSpPr/>
          <p:nvPr/>
        </p:nvSpPr>
        <p:spPr>
          <a:xfrm>
            <a:off x="6400800" y="2423160"/>
            <a:ext cx="4901184" cy="713232"/>
          </a:xfrm>
          <a:prstGeom prst="rect">
            <a:avLst/>
          </a:prstGeom>
          <a:noFill/>
        </p:spPr>
        <p:txBody>
          <a:bodyPr wrap="square" lIns="0" tIns="0" rIns="0" bIns="0" rtlCol="0" anchor="t">
            <a:normAutofit/>
          </a:bodyPr>
          <a:lstStyle/>
          <a:p>
            <a:pPr marL="0" indent="0">
              <a:buNone/>
            </a:pPr>
            <a:r>
              <a:rPr lang="en-US" sz="1600" dirty="0">
                <a:solidFill>
                  <a:srgbClr val="63738B"/>
                </a:solidFill>
                <a:latin typeface="Aptos" pitchFamily="34" charset="0"/>
                <a:ea typeface="Aptos" pitchFamily="34" charset="-122"/>
                <a:cs typeface="Aptos" pitchFamily="34" charset="-120"/>
              </a:rPr>
              <a:t>Use first names and made-up data for cohort activities; don’t publish private details.</a:t>
            </a:r>
            <a:endParaRPr lang="en-US" sz="1600" dirty="0"/>
          </a:p>
        </p:txBody>
      </p:sp>
      <p:sp>
        <p:nvSpPr>
          <p:cNvPr id="17" name="Shape 14"/>
          <p:cNvSpPr/>
          <p:nvPr/>
        </p:nvSpPr>
        <p:spPr>
          <a:xfrm>
            <a:off x="658368" y="3557016"/>
            <a:ext cx="5340096" cy="1545336"/>
          </a:xfrm>
          <a:prstGeom prst="roundRect">
            <a:avLst>
              <a:gd name="adj" fmla="val 9467"/>
            </a:avLst>
          </a:prstGeom>
          <a:solidFill>
            <a:srgbClr val="FFFFFF"/>
          </a:solidFill>
          <a:ln w="12700">
            <a:solidFill>
              <a:srgbClr val="FFFFFF">
                <a:alpha val="0"/>
              </a:srgbClr>
            </a:solidFill>
            <a:prstDash val="solid"/>
          </a:ln>
        </p:spPr>
      </p:sp>
      <p:sp>
        <p:nvSpPr>
          <p:cNvPr id="18" name="Shape 15"/>
          <p:cNvSpPr/>
          <p:nvPr/>
        </p:nvSpPr>
        <p:spPr>
          <a:xfrm>
            <a:off x="658368" y="3557016"/>
            <a:ext cx="59436" cy="1545336"/>
          </a:xfrm>
          <a:prstGeom prst="rect">
            <a:avLst/>
          </a:prstGeom>
          <a:solidFill>
            <a:srgbClr val="DAA62F"/>
          </a:solidFill>
          <a:ln w="12700">
            <a:solidFill>
              <a:srgbClr val="DAA62F"/>
            </a:solidFill>
            <a:prstDash val="solid"/>
          </a:ln>
        </p:spPr>
      </p:sp>
      <p:sp>
        <p:nvSpPr>
          <p:cNvPr id="19" name="Text 16"/>
          <p:cNvSpPr/>
          <p:nvPr/>
        </p:nvSpPr>
        <p:spPr>
          <a:xfrm>
            <a:off x="877824" y="3730752"/>
            <a:ext cx="4901184" cy="393192"/>
          </a:xfrm>
          <a:prstGeom prst="rect">
            <a:avLst/>
          </a:prstGeom>
          <a:noFill/>
        </p:spPr>
        <p:txBody>
          <a:bodyPr wrap="square" lIns="0" tIns="0" rIns="0" bIns="0" rtlCol="0" anchor="ctr">
            <a:normAutofit/>
          </a:bodyPr>
          <a:lstStyle/>
          <a:p>
            <a:pPr marL="0" indent="0">
              <a:buNone/>
            </a:pPr>
            <a:r>
              <a:rPr lang="en-US" sz="1700" b="1" dirty="0">
                <a:solidFill>
                  <a:srgbClr val="0D2F5F"/>
                </a:solidFill>
                <a:latin typeface="Aptos" pitchFamily="34" charset="0"/>
                <a:ea typeface="Aptos" pitchFamily="34" charset="-122"/>
                <a:cs typeface="Aptos" pitchFamily="34" charset="-120"/>
              </a:rPr>
              <a:t>Check before clicking</a:t>
            </a:r>
            <a:endParaRPr lang="en-US" sz="1700" dirty="0"/>
          </a:p>
        </p:txBody>
      </p:sp>
      <p:sp>
        <p:nvSpPr>
          <p:cNvPr id="20" name="Text 17"/>
          <p:cNvSpPr/>
          <p:nvPr/>
        </p:nvSpPr>
        <p:spPr>
          <a:xfrm>
            <a:off x="877824" y="4224528"/>
            <a:ext cx="4901184" cy="713232"/>
          </a:xfrm>
          <a:prstGeom prst="rect">
            <a:avLst/>
          </a:prstGeom>
          <a:noFill/>
        </p:spPr>
        <p:txBody>
          <a:bodyPr wrap="square" lIns="0" tIns="0" rIns="0" bIns="0" rtlCol="0" anchor="t">
            <a:normAutofit/>
          </a:bodyPr>
          <a:lstStyle/>
          <a:p>
            <a:pPr marL="0" indent="0">
              <a:buNone/>
            </a:pPr>
            <a:r>
              <a:rPr lang="en-US" sz="1600" dirty="0">
                <a:solidFill>
                  <a:srgbClr val="63738B"/>
                </a:solidFill>
                <a:latin typeface="Aptos" pitchFamily="34" charset="0"/>
                <a:ea typeface="Aptos" pitchFamily="34" charset="-122"/>
                <a:cs typeface="Aptos" pitchFamily="34" charset="-120"/>
              </a:rPr>
              <a:t>Watch for suspicious domains, urgent messages and phishing attempts.</a:t>
            </a:r>
            <a:endParaRPr lang="en-US" sz="1600" dirty="0"/>
          </a:p>
        </p:txBody>
      </p:sp>
      <p:sp>
        <p:nvSpPr>
          <p:cNvPr id="21" name="Shape 18"/>
          <p:cNvSpPr/>
          <p:nvPr/>
        </p:nvSpPr>
        <p:spPr>
          <a:xfrm>
            <a:off x="6181344" y="3557016"/>
            <a:ext cx="5340096" cy="1545336"/>
          </a:xfrm>
          <a:prstGeom prst="roundRect">
            <a:avLst>
              <a:gd name="adj" fmla="val 9467"/>
            </a:avLst>
          </a:prstGeom>
          <a:solidFill>
            <a:srgbClr val="FFFFFF"/>
          </a:solidFill>
          <a:ln w="12700">
            <a:solidFill>
              <a:srgbClr val="FFFFFF">
                <a:alpha val="0"/>
              </a:srgbClr>
            </a:solidFill>
            <a:prstDash val="solid"/>
          </a:ln>
        </p:spPr>
      </p:sp>
      <p:sp>
        <p:nvSpPr>
          <p:cNvPr id="22" name="Shape 19"/>
          <p:cNvSpPr/>
          <p:nvPr/>
        </p:nvSpPr>
        <p:spPr>
          <a:xfrm>
            <a:off x="6181344" y="3557016"/>
            <a:ext cx="59436" cy="1545336"/>
          </a:xfrm>
          <a:prstGeom prst="rect">
            <a:avLst/>
          </a:prstGeom>
          <a:solidFill>
            <a:srgbClr val="DAA62F"/>
          </a:solidFill>
          <a:ln w="12700">
            <a:solidFill>
              <a:srgbClr val="DAA62F"/>
            </a:solidFill>
            <a:prstDash val="solid"/>
          </a:ln>
        </p:spPr>
      </p:sp>
      <p:sp>
        <p:nvSpPr>
          <p:cNvPr id="23" name="Text 20"/>
          <p:cNvSpPr/>
          <p:nvPr/>
        </p:nvSpPr>
        <p:spPr>
          <a:xfrm>
            <a:off x="6400800" y="3730752"/>
            <a:ext cx="4901184" cy="393192"/>
          </a:xfrm>
          <a:prstGeom prst="rect">
            <a:avLst/>
          </a:prstGeom>
          <a:noFill/>
        </p:spPr>
        <p:txBody>
          <a:bodyPr wrap="square" lIns="0" tIns="0" rIns="0" bIns="0" rtlCol="0" anchor="ctr">
            <a:normAutofit/>
          </a:bodyPr>
          <a:lstStyle/>
          <a:p>
            <a:pPr marL="0" indent="0">
              <a:buNone/>
            </a:pPr>
            <a:r>
              <a:rPr lang="en-US" sz="1700" b="1" dirty="0">
                <a:solidFill>
                  <a:srgbClr val="0D2F5F"/>
                </a:solidFill>
                <a:latin typeface="Aptos" pitchFamily="34" charset="0"/>
                <a:ea typeface="Aptos" pitchFamily="34" charset="-122"/>
                <a:cs typeface="Aptos" pitchFamily="34" charset="-120"/>
              </a:rPr>
              <a:t>Ask and get permission</a:t>
            </a:r>
            <a:endParaRPr lang="en-US" sz="1700" dirty="0"/>
          </a:p>
        </p:txBody>
      </p:sp>
      <p:sp>
        <p:nvSpPr>
          <p:cNvPr id="24" name="Text 21"/>
          <p:cNvSpPr/>
          <p:nvPr/>
        </p:nvSpPr>
        <p:spPr>
          <a:xfrm>
            <a:off x="6400800" y="4224528"/>
            <a:ext cx="4901184" cy="713232"/>
          </a:xfrm>
          <a:prstGeom prst="rect">
            <a:avLst/>
          </a:prstGeom>
          <a:noFill/>
        </p:spPr>
        <p:txBody>
          <a:bodyPr wrap="square" lIns="0" tIns="0" rIns="0" bIns="0" rtlCol="0" anchor="t">
            <a:normAutofit/>
          </a:bodyPr>
          <a:lstStyle/>
          <a:p>
            <a:pPr marL="0" indent="0">
              <a:buNone/>
            </a:pPr>
            <a:r>
              <a:rPr lang="en-US" sz="1600" dirty="0">
                <a:solidFill>
                  <a:srgbClr val="63738B"/>
                </a:solidFill>
                <a:latin typeface="Aptos" pitchFamily="34" charset="0"/>
                <a:ea typeface="Aptos" pitchFamily="34" charset="-122"/>
                <a:cs typeface="Aptos" pitchFamily="34" charset="-120"/>
              </a:rPr>
              <a:t>Tell a trusted adult or instructor about concerns; only test systems you have permission to test.</a:t>
            </a:r>
            <a:endParaRPr lang="en-US" sz="1600" dirty="0"/>
          </a:p>
        </p:txBody>
      </p:sp>
      <p:pic>
        <p:nvPicPr>
          <p:cNvPr id="25" name="Image 0" descr="/mnt/data/cwp-logo-primary-transparent.png"/>
          <p:cNvPicPr>
            <a:picLocks noChangeAspect="1"/>
          </p:cNvPicPr>
          <p:nvPr/>
        </p:nvPicPr>
        <p:blipFill>
          <a:blip r:embed="rId1"/>
          <a:stretch>
            <a:fillRect/>
          </a:stretch>
        </p:blipFill>
        <p:spPr>
          <a:xfrm>
            <a:off x="603250" y="6029325"/>
            <a:ext cx="946150" cy="628650"/>
          </a:xfrm>
          <a:prstGeom prst="rect">
            <a:avLst/>
          </a:prstGeom>
        </p:spPr>
      </p:pic>
      <p:sp>
        <p:nvSpPr>
          <p:cNvPr id="26" name="Text 4"/>
          <p:cNvSpPr/>
          <p:nvPr/>
        </p:nvSpPr>
        <p:spPr>
          <a:xfrm>
            <a:off x="9485884" y="6419850"/>
            <a:ext cx="1746504" cy="219456"/>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codewithprof.com</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DAA62F"/>
          </a:solidFill>
          <a:ln w="12700">
            <a:solidFill>
              <a:srgbClr val="DAA62F"/>
            </a:solidFill>
            <a:prstDash val="solid"/>
          </a:ln>
        </p:spPr>
      </p:sp>
      <p:sp>
        <p:nvSpPr>
          <p:cNvPr id="3" name="Text 1"/>
          <p:cNvSpPr/>
          <p:nvPr/>
        </p:nvSpPr>
        <p:spPr>
          <a:xfrm>
            <a:off x="603504" y="292608"/>
            <a:ext cx="9144000" cy="201168"/>
          </a:xfrm>
          <a:prstGeom prst="rect">
            <a:avLst/>
          </a:prstGeom>
          <a:noFill/>
        </p:spPr>
        <p:txBody>
          <a:bodyPr wrap="square" lIns="0" tIns="0" rIns="0" bIns="0" rtlCol="0" anchor="ctr">
            <a:normAutofit/>
          </a:bodyPr>
          <a:lstStyle/>
          <a:p>
            <a:pPr marL="0" indent="0">
              <a:buNone/>
            </a:pPr>
            <a:r>
              <a:rPr lang="en-US" sz="1000" b="1" kern="0" spc="120" dirty="0">
                <a:solidFill>
                  <a:srgbClr val="63738B"/>
                </a:solidFill>
                <a:latin typeface="Aptos" pitchFamily="34" charset="0"/>
                <a:ea typeface="Aptos" pitchFamily="34" charset="-122"/>
                <a:cs typeface="Aptos" pitchFamily="34" charset="-120"/>
              </a:rPr>
              <a:t>WEEK 01 · FULL-STACK JOURNEY</a:t>
            </a:r>
            <a:endParaRPr lang="en-US" sz="1000" dirty="0"/>
          </a:p>
        </p:txBody>
      </p:sp>
      <p:sp>
        <p:nvSpPr>
          <p:cNvPr id="4" name="Text 2"/>
          <p:cNvSpPr/>
          <p:nvPr/>
        </p:nvSpPr>
        <p:spPr>
          <a:xfrm>
            <a:off x="603504" y="676656"/>
            <a:ext cx="10972800" cy="658368"/>
          </a:xfrm>
          <a:prstGeom prst="rect">
            <a:avLst/>
          </a:prstGeom>
          <a:noFill/>
        </p:spPr>
        <p:txBody>
          <a:bodyPr wrap="square" lIns="0" tIns="0" rIns="0" bIns="0" rtlCol="0" anchor="ctr">
            <a:normAutofit/>
          </a:bodyPr>
          <a:lstStyle/>
          <a:p>
            <a:pPr marL="0" indent="0">
              <a:buNone/>
            </a:pPr>
            <a:r>
              <a:rPr lang="en-US" sz="3100" b="1" dirty="0">
                <a:solidFill>
                  <a:srgbClr val="0D2F5F"/>
                </a:solidFill>
                <a:latin typeface="Aptos" pitchFamily="34" charset="0"/>
                <a:ea typeface="Aptos" pitchFamily="34" charset="-122"/>
                <a:cs typeface="Aptos" pitchFamily="34" charset="-120"/>
              </a:rPr>
              <a:t>Using AI responsibly</a:t>
            </a:r>
            <a:endParaRPr lang="en-US" sz="3100" dirty="0"/>
          </a:p>
        </p:txBody>
      </p:sp>
      <p:sp>
        <p:nvSpPr>
          <p:cNvPr id="5" name="Shape 3"/>
          <p:cNvSpPr/>
          <p:nvPr/>
        </p:nvSpPr>
        <p:spPr>
          <a:xfrm>
            <a:off x="603504" y="1408176"/>
            <a:ext cx="10981944" cy="0"/>
          </a:xfrm>
          <a:prstGeom prst="line">
            <a:avLst/>
          </a:prstGeom>
          <a:noFill/>
          <a:ln w="12700">
            <a:solidFill>
              <a:srgbClr val="DEE5EF"/>
            </a:solidFill>
            <a:prstDash val="solid"/>
            <a:headEnd type="none"/>
            <a:tailEnd type="none"/>
          </a:ln>
        </p:spPr>
      </p:sp>
      <p:sp>
        <p:nvSpPr>
          <p:cNvPr id="8" name="Text 5"/>
          <p:cNvSpPr/>
          <p:nvPr/>
        </p:nvSpPr>
        <p:spPr>
          <a:xfrm>
            <a:off x="11338560" y="6437376"/>
            <a:ext cx="237744" cy="201168"/>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23</a:t>
            </a:r>
            <a:endParaRPr lang="en-US" sz="1000" dirty="0"/>
          </a:p>
        </p:txBody>
      </p:sp>
      <p:sp>
        <p:nvSpPr>
          <p:cNvPr id="9" name="Shape 6"/>
          <p:cNvSpPr/>
          <p:nvPr/>
        </p:nvSpPr>
        <p:spPr>
          <a:xfrm>
            <a:off x="804672" y="1755648"/>
            <a:ext cx="10451592" cy="768096"/>
          </a:xfrm>
          <a:prstGeom prst="roundRect">
            <a:avLst>
              <a:gd name="adj" fmla="val 19048"/>
            </a:avLst>
          </a:prstGeom>
          <a:solidFill>
            <a:srgbClr val="EAF0F7"/>
          </a:solidFill>
          <a:ln w="12700">
            <a:solidFill>
              <a:srgbClr val="EAF0F7">
                <a:alpha val="0"/>
              </a:srgbClr>
            </a:solidFill>
            <a:prstDash val="solid"/>
          </a:ln>
        </p:spPr>
      </p:sp>
      <p:sp>
        <p:nvSpPr>
          <p:cNvPr id="10" name="Shape 7"/>
          <p:cNvSpPr/>
          <p:nvPr/>
        </p:nvSpPr>
        <p:spPr>
          <a:xfrm>
            <a:off x="1024128" y="1929384"/>
            <a:ext cx="1463040" cy="338328"/>
          </a:xfrm>
          <a:prstGeom prst="roundRect">
            <a:avLst>
              <a:gd name="adj" fmla="val 48649"/>
            </a:avLst>
          </a:prstGeom>
          <a:solidFill>
            <a:srgbClr val="DAA62F"/>
          </a:solidFill>
          <a:ln w="12700">
            <a:solidFill>
              <a:srgbClr val="DAA62F">
                <a:alpha val="0"/>
              </a:srgbClr>
            </a:solidFill>
            <a:prstDash val="solid"/>
          </a:ln>
        </p:spPr>
      </p:sp>
      <p:sp>
        <p:nvSpPr>
          <p:cNvPr id="11" name="Text 8"/>
          <p:cNvSpPr/>
          <p:nvPr/>
        </p:nvSpPr>
        <p:spPr>
          <a:xfrm>
            <a:off x="1133856" y="1961388"/>
            <a:ext cx="1243584" cy="246888"/>
          </a:xfrm>
          <a:prstGeom prst="rect">
            <a:avLst/>
          </a:prstGeom>
          <a:noFill/>
        </p:spPr>
        <p:txBody>
          <a:bodyPr wrap="square" lIns="0" tIns="0" rIns="0" bIns="0" rtlCol="0" anchor="ctr">
            <a:normAutofit/>
          </a:bodyPr>
          <a:lstStyle/>
          <a:p>
            <a:pPr marL="0" indent="0" algn="ctr">
              <a:buNone/>
            </a:pPr>
            <a:r>
              <a:rPr lang="en-US" sz="1100" b="1" dirty="0">
                <a:solidFill>
                  <a:srgbClr val="092448"/>
                </a:solidFill>
                <a:latin typeface="Aptos" pitchFamily="34" charset="0"/>
                <a:ea typeface="Aptos" pitchFamily="34" charset="-122"/>
                <a:cs typeface="Aptos" pitchFamily="34" charset="-120"/>
              </a:rPr>
              <a:t>VERIFY</a:t>
            </a:r>
            <a:endParaRPr lang="en-US" sz="1100" dirty="0"/>
          </a:p>
        </p:txBody>
      </p:sp>
      <p:sp>
        <p:nvSpPr>
          <p:cNvPr id="12" name="Text 9"/>
          <p:cNvSpPr/>
          <p:nvPr/>
        </p:nvSpPr>
        <p:spPr>
          <a:xfrm>
            <a:off x="2788920" y="1929384"/>
            <a:ext cx="8019288" cy="384048"/>
          </a:xfrm>
          <a:prstGeom prst="rect">
            <a:avLst/>
          </a:prstGeom>
          <a:noFill/>
        </p:spPr>
        <p:txBody>
          <a:bodyPr wrap="square" lIns="0" tIns="0" rIns="0" bIns="0" rtlCol="0" anchor="ctr">
            <a:normAutofit/>
          </a:bodyPr>
          <a:lstStyle/>
          <a:p>
            <a:pPr marL="0" indent="0">
              <a:buNone/>
            </a:pPr>
            <a:r>
              <a:rPr lang="en-US" sz="1900" dirty="0">
                <a:solidFill>
                  <a:srgbClr val="0D2F5F"/>
                </a:solidFill>
                <a:latin typeface="Aptos" pitchFamily="34" charset="0"/>
                <a:ea typeface="Aptos" pitchFamily="34" charset="-122"/>
                <a:cs typeface="Aptos" pitchFamily="34" charset="-120"/>
              </a:rPr>
              <a:t>AI answers can be wrong or invented.</a:t>
            </a:r>
            <a:endParaRPr lang="en-US" sz="1900" dirty="0"/>
          </a:p>
        </p:txBody>
      </p:sp>
      <p:sp>
        <p:nvSpPr>
          <p:cNvPr id="13" name="Shape 10"/>
          <p:cNvSpPr/>
          <p:nvPr/>
        </p:nvSpPr>
        <p:spPr>
          <a:xfrm>
            <a:off x="804672" y="2715768"/>
            <a:ext cx="10451592" cy="768096"/>
          </a:xfrm>
          <a:prstGeom prst="roundRect">
            <a:avLst>
              <a:gd name="adj" fmla="val 19048"/>
            </a:avLst>
          </a:prstGeom>
          <a:solidFill>
            <a:srgbClr val="FFFFFF"/>
          </a:solidFill>
          <a:ln w="12700">
            <a:solidFill>
              <a:srgbClr val="FFFFFF">
                <a:alpha val="0"/>
              </a:srgbClr>
            </a:solidFill>
            <a:prstDash val="solid"/>
          </a:ln>
        </p:spPr>
      </p:sp>
      <p:sp>
        <p:nvSpPr>
          <p:cNvPr id="14" name="Shape 11"/>
          <p:cNvSpPr/>
          <p:nvPr/>
        </p:nvSpPr>
        <p:spPr>
          <a:xfrm>
            <a:off x="1024128" y="2889504"/>
            <a:ext cx="1463040" cy="338328"/>
          </a:xfrm>
          <a:prstGeom prst="roundRect">
            <a:avLst>
              <a:gd name="adj" fmla="val 48649"/>
            </a:avLst>
          </a:prstGeom>
          <a:solidFill>
            <a:srgbClr val="DAA62F"/>
          </a:solidFill>
          <a:ln w="12700">
            <a:solidFill>
              <a:srgbClr val="DAA62F">
                <a:alpha val="0"/>
              </a:srgbClr>
            </a:solidFill>
            <a:prstDash val="solid"/>
          </a:ln>
        </p:spPr>
      </p:sp>
      <p:sp>
        <p:nvSpPr>
          <p:cNvPr id="15" name="Text 12"/>
          <p:cNvSpPr/>
          <p:nvPr/>
        </p:nvSpPr>
        <p:spPr>
          <a:xfrm>
            <a:off x="1133856" y="2921508"/>
            <a:ext cx="1243584" cy="246888"/>
          </a:xfrm>
          <a:prstGeom prst="rect">
            <a:avLst/>
          </a:prstGeom>
          <a:noFill/>
        </p:spPr>
        <p:txBody>
          <a:bodyPr wrap="square" lIns="0" tIns="0" rIns="0" bIns="0" rtlCol="0" anchor="ctr">
            <a:normAutofit/>
          </a:bodyPr>
          <a:lstStyle/>
          <a:p>
            <a:pPr marL="0" indent="0" algn="ctr">
              <a:buNone/>
            </a:pPr>
            <a:r>
              <a:rPr lang="en-US" sz="1100" b="1" dirty="0">
                <a:solidFill>
                  <a:srgbClr val="092448"/>
                </a:solidFill>
                <a:latin typeface="Aptos" pitchFamily="34" charset="0"/>
                <a:ea typeface="Aptos" pitchFamily="34" charset="-122"/>
                <a:cs typeface="Aptos" pitchFamily="34" charset="-120"/>
              </a:rPr>
              <a:t>PROTECT</a:t>
            </a:r>
            <a:endParaRPr lang="en-US" sz="1100" dirty="0"/>
          </a:p>
        </p:txBody>
      </p:sp>
      <p:sp>
        <p:nvSpPr>
          <p:cNvPr id="16" name="Text 13"/>
          <p:cNvSpPr/>
          <p:nvPr/>
        </p:nvSpPr>
        <p:spPr>
          <a:xfrm>
            <a:off x="2788920" y="2889504"/>
            <a:ext cx="8019288" cy="384048"/>
          </a:xfrm>
          <a:prstGeom prst="rect">
            <a:avLst/>
          </a:prstGeom>
          <a:noFill/>
        </p:spPr>
        <p:txBody>
          <a:bodyPr wrap="square" lIns="0" tIns="0" rIns="0" bIns="0" rtlCol="0" anchor="ctr">
            <a:normAutofit/>
          </a:bodyPr>
          <a:lstStyle/>
          <a:p>
            <a:pPr marL="0" indent="0">
              <a:buNone/>
            </a:pPr>
            <a:r>
              <a:rPr lang="en-US" sz="1900" dirty="0">
                <a:solidFill>
                  <a:srgbClr val="0D2F5F"/>
                </a:solidFill>
                <a:latin typeface="Aptos" pitchFamily="34" charset="0"/>
                <a:ea typeface="Aptos" pitchFamily="34" charset="-122"/>
                <a:cs typeface="Aptos" pitchFamily="34" charset="-120"/>
              </a:rPr>
              <a:t>Never paste private or sensitive information.</a:t>
            </a:r>
            <a:endParaRPr lang="en-US" sz="1900" dirty="0"/>
          </a:p>
        </p:txBody>
      </p:sp>
      <p:sp>
        <p:nvSpPr>
          <p:cNvPr id="17" name="Shape 14"/>
          <p:cNvSpPr/>
          <p:nvPr/>
        </p:nvSpPr>
        <p:spPr>
          <a:xfrm>
            <a:off x="804672" y="3675888"/>
            <a:ext cx="10451592" cy="768096"/>
          </a:xfrm>
          <a:prstGeom prst="roundRect">
            <a:avLst>
              <a:gd name="adj" fmla="val 19048"/>
            </a:avLst>
          </a:prstGeom>
          <a:solidFill>
            <a:srgbClr val="EAF0F7"/>
          </a:solidFill>
          <a:ln w="12700">
            <a:solidFill>
              <a:srgbClr val="EAF0F7">
                <a:alpha val="0"/>
              </a:srgbClr>
            </a:solidFill>
            <a:prstDash val="solid"/>
          </a:ln>
        </p:spPr>
      </p:sp>
      <p:sp>
        <p:nvSpPr>
          <p:cNvPr id="18" name="Shape 15"/>
          <p:cNvSpPr/>
          <p:nvPr/>
        </p:nvSpPr>
        <p:spPr>
          <a:xfrm>
            <a:off x="1024128" y="3849624"/>
            <a:ext cx="1463040" cy="338328"/>
          </a:xfrm>
          <a:prstGeom prst="roundRect">
            <a:avLst>
              <a:gd name="adj" fmla="val 48649"/>
            </a:avLst>
          </a:prstGeom>
          <a:solidFill>
            <a:srgbClr val="DAA62F"/>
          </a:solidFill>
          <a:ln w="12700">
            <a:solidFill>
              <a:srgbClr val="DAA62F">
                <a:alpha val="0"/>
              </a:srgbClr>
            </a:solidFill>
            <a:prstDash val="solid"/>
          </a:ln>
        </p:spPr>
      </p:sp>
      <p:sp>
        <p:nvSpPr>
          <p:cNvPr id="19" name="Text 16"/>
          <p:cNvSpPr/>
          <p:nvPr/>
        </p:nvSpPr>
        <p:spPr>
          <a:xfrm>
            <a:off x="1133856" y="3881628"/>
            <a:ext cx="1243584" cy="246888"/>
          </a:xfrm>
          <a:prstGeom prst="rect">
            <a:avLst/>
          </a:prstGeom>
          <a:noFill/>
        </p:spPr>
        <p:txBody>
          <a:bodyPr wrap="square" lIns="0" tIns="0" rIns="0" bIns="0" rtlCol="0" anchor="ctr">
            <a:normAutofit/>
          </a:bodyPr>
          <a:lstStyle/>
          <a:p>
            <a:pPr marL="0" indent="0" algn="ctr">
              <a:buNone/>
            </a:pPr>
            <a:r>
              <a:rPr lang="en-US" sz="1100" b="1" dirty="0">
                <a:solidFill>
                  <a:srgbClr val="092448"/>
                </a:solidFill>
                <a:latin typeface="Aptos" pitchFamily="34" charset="0"/>
                <a:ea typeface="Aptos" pitchFamily="34" charset="-122"/>
                <a:cs typeface="Aptos" pitchFamily="34" charset="-120"/>
              </a:rPr>
              <a:t>DECLARE</a:t>
            </a:r>
            <a:endParaRPr lang="en-US" sz="1100" dirty="0"/>
          </a:p>
        </p:txBody>
      </p:sp>
      <p:sp>
        <p:nvSpPr>
          <p:cNvPr id="20" name="Text 17"/>
          <p:cNvSpPr/>
          <p:nvPr/>
        </p:nvSpPr>
        <p:spPr>
          <a:xfrm>
            <a:off x="2788920" y="3849624"/>
            <a:ext cx="8019288" cy="384048"/>
          </a:xfrm>
          <a:prstGeom prst="rect">
            <a:avLst/>
          </a:prstGeom>
          <a:noFill/>
        </p:spPr>
        <p:txBody>
          <a:bodyPr wrap="square" lIns="0" tIns="0" rIns="0" bIns="0" rtlCol="0" anchor="ctr">
            <a:normAutofit/>
          </a:bodyPr>
          <a:lstStyle/>
          <a:p>
            <a:pPr marL="0" indent="0">
              <a:buNone/>
            </a:pPr>
            <a:r>
              <a:rPr lang="en-US" sz="1900" dirty="0">
                <a:solidFill>
                  <a:srgbClr val="0D2F5F"/>
                </a:solidFill>
                <a:latin typeface="Aptos" pitchFamily="34" charset="0"/>
                <a:ea typeface="Aptos" pitchFamily="34" charset="-122"/>
                <a:cs typeface="Aptos" pitchFamily="34" charset="-120"/>
              </a:rPr>
              <a:t>Explain when AI helped with an assignment.</a:t>
            </a:r>
            <a:endParaRPr lang="en-US" sz="1900" dirty="0"/>
          </a:p>
        </p:txBody>
      </p:sp>
      <p:sp>
        <p:nvSpPr>
          <p:cNvPr id="21" name="Shape 18"/>
          <p:cNvSpPr/>
          <p:nvPr/>
        </p:nvSpPr>
        <p:spPr>
          <a:xfrm>
            <a:off x="804672" y="4636008"/>
            <a:ext cx="10451592" cy="768096"/>
          </a:xfrm>
          <a:prstGeom prst="roundRect">
            <a:avLst>
              <a:gd name="adj" fmla="val 19048"/>
            </a:avLst>
          </a:prstGeom>
          <a:solidFill>
            <a:srgbClr val="FFFFFF"/>
          </a:solidFill>
          <a:ln w="12700">
            <a:solidFill>
              <a:srgbClr val="FFFFFF">
                <a:alpha val="0"/>
              </a:srgbClr>
            </a:solidFill>
            <a:prstDash val="solid"/>
          </a:ln>
        </p:spPr>
      </p:sp>
      <p:sp>
        <p:nvSpPr>
          <p:cNvPr id="22" name="Shape 19"/>
          <p:cNvSpPr/>
          <p:nvPr/>
        </p:nvSpPr>
        <p:spPr>
          <a:xfrm>
            <a:off x="1024128" y="4809744"/>
            <a:ext cx="1463040" cy="338328"/>
          </a:xfrm>
          <a:prstGeom prst="roundRect">
            <a:avLst>
              <a:gd name="adj" fmla="val 48649"/>
            </a:avLst>
          </a:prstGeom>
          <a:solidFill>
            <a:srgbClr val="DAA62F"/>
          </a:solidFill>
          <a:ln w="12700">
            <a:solidFill>
              <a:srgbClr val="DAA62F">
                <a:alpha val="0"/>
              </a:srgbClr>
            </a:solidFill>
            <a:prstDash val="solid"/>
          </a:ln>
        </p:spPr>
      </p:sp>
      <p:sp>
        <p:nvSpPr>
          <p:cNvPr id="23" name="Text 20"/>
          <p:cNvSpPr/>
          <p:nvPr/>
        </p:nvSpPr>
        <p:spPr>
          <a:xfrm>
            <a:off x="1133856" y="4841748"/>
            <a:ext cx="1243584" cy="246888"/>
          </a:xfrm>
          <a:prstGeom prst="rect">
            <a:avLst/>
          </a:prstGeom>
          <a:noFill/>
        </p:spPr>
        <p:txBody>
          <a:bodyPr wrap="square" lIns="0" tIns="0" rIns="0" bIns="0" rtlCol="0" anchor="ctr">
            <a:normAutofit/>
          </a:bodyPr>
          <a:lstStyle/>
          <a:p>
            <a:pPr marL="0" indent="0" algn="ctr">
              <a:buNone/>
            </a:pPr>
            <a:r>
              <a:rPr lang="en-US" sz="1100" b="1" dirty="0">
                <a:solidFill>
                  <a:srgbClr val="092448"/>
                </a:solidFill>
                <a:latin typeface="Aptos" pitchFamily="34" charset="0"/>
                <a:ea typeface="Aptos" pitchFamily="34" charset="-122"/>
                <a:cs typeface="Aptos" pitchFamily="34" charset="-120"/>
              </a:rPr>
              <a:t>UNDERSTAND</a:t>
            </a:r>
            <a:endParaRPr lang="en-US" sz="1100" dirty="0"/>
          </a:p>
        </p:txBody>
      </p:sp>
      <p:sp>
        <p:nvSpPr>
          <p:cNvPr id="24" name="Text 21"/>
          <p:cNvSpPr/>
          <p:nvPr/>
        </p:nvSpPr>
        <p:spPr>
          <a:xfrm>
            <a:off x="2788920" y="4809744"/>
            <a:ext cx="8019288" cy="384048"/>
          </a:xfrm>
          <a:prstGeom prst="rect">
            <a:avLst/>
          </a:prstGeom>
          <a:noFill/>
        </p:spPr>
        <p:txBody>
          <a:bodyPr wrap="square" lIns="0" tIns="0" rIns="0" bIns="0" rtlCol="0" anchor="ctr">
            <a:normAutofit/>
          </a:bodyPr>
          <a:lstStyle/>
          <a:p>
            <a:pPr marL="0" indent="0">
              <a:buNone/>
            </a:pPr>
            <a:r>
              <a:rPr lang="en-US" sz="1900" dirty="0">
                <a:solidFill>
                  <a:srgbClr val="0D2F5F"/>
                </a:solidFill>
                <a:latin typeface="Aptos" pitchFamily="34" charset="0"/>
                <a:ea typeface="Aptos" pitchFamily="34" charset="-122"/>
                <a:cs typeface="Aptos" pitchFamily="34" charset="-120"/>
              </a:rPr>
              <a:t>Be able to explain your own submitted work.</a:t>
            </a:r>
            <a:endParaRPr lang="en-US" sz="1900" dirty="0"/>
          </a:p>
        </p:txBody>
      </p:sp>
      <p:sp>
        <p:nvSpPr>
          <p:cNvPr id="25" name="Text 22"/>
          <p:cNvSpPr/>
          <p:nvPr/>
        </p:nvSpPr>
        <p:spPr>
          <a:xfrm>
            <a:off x="914400" y="5724144"/>
            <a:ext cx="10241280" cy="347472"/>
          </a:xfrm>
          <a:prstGeom prst="rect">
            <a:avLst/>
          </a:prstGeom>
          <a:noFill/>
        </p:spPr>
        <p:txBody>
          <a:bodyPr wrap="square" lIns="0" tIns="0" rIns="0" bIns="0" rtlCol="0" anchor="ctr">
            <a:normAutofit/>
          </a:bodyPr>
          <a:lstStyle/>
          <a:p>
            <a:pPr marL="0" indent="0" algn="ctr">
              <a:buNone/>
            </a:pPr>
            <a:r>
              <a:rPr lang="en-US" sz="1600" b="1" dirty="0">
                <a:solidFill>
                  <a:srgbClr val="C15454"/>
                </a:solidFill>
                <a:latin typeface="Aptos" pitchFamily="34" charset="0"/>
                <a:ea typeface="Aptos" pitchFamily="34" charset="-122"/>
                <a:cs typeface="Aptos" pitchFamily="34" charset="-120"/>
              </a:rPr>
              <a:t>Under-18 participants: use AI only through instructor-approved access.</a:t>
            </a:r>
            <a:endParaRPr lang="en-US" sz="1600" dirty="0"/>
          </a:p>
        </p:txBody>
      </p:sp>
      <p:pic>
        <p:nvPicPr>
          <p:cNvPr id="26" name="Image 0" descr="/mnt/data/cwp-logo-primary-transparent.png"/>
          <p:cNvPicPr>
            <a:picLocks noChangeAspect="1"/>
          </p:cNvPicPr>
          <p:nvPr/>
        </p:nvPicPr>
        <p:blipFill>
          <a:blip r:embed="rId1"/>
          <a:stretch>
            <a:fillRect/>
          </a:stretch>
        </p:blipFill>
        <p:spPr>
          <a:xfrm>
            <a:off x="603250" y="6029325"/>
            <a:ext cx="946150" cy="628650"/>
          </a:xfrm>
          <a:prstGeom prst="rect">
            <a:avLst/>
          </a:prstGeom>
        </p:spPr>
      </p:pic>
      <p:sp>
        <p:nvSpPr>
          <p:cNvPr id="27" name="Text 4"/>
          <p:cNvSpPr/>
          <p:nvPr/>
        </p:nvSpPr>
        <p:spPr>
          <a:xfrm>
            <a:off x="9485884" y="6419850"/>
            <a:ext cx="1746504" cy="219456"/>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codewithprof.com</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DAA62F"/>
          </a:solidFill>
          <a:ln w="12700">
            <a:solidFill>
              <a:srgbClr val="DAA62F"/>
            </a:solidFill>
            <a:prstDash val="solid"/>
          </a:ln>
        </p:spPr>
      </p:sp>
      <p:sp>
        <p:nvSpPr>
          <p:cNvPr id="3" name="Text 1"/>
          <p:cNvSpPr/>
          <p:nvPr/>
        </p:nvSpPr>
        <p:spPr>
          <a:xfrm>
            <a:off x="603504" y="292608"/>
            <a:ext cx="9144000" cy="201168"/>
          </a:xfrm>
          <a:prstGeom prst="rect">
            <a:avLst/>
          </a:prstGeom>
          <a:noFill/>
        </p:spPr>
        <p:txBody>
          <a:bodyPr wrap="square" lIns="0" tIns="0" rIns="0" bIns="0" rtlCol="0" anchor="ctr">
            <a:normAutofit/>
          </a:bodyPr>
          <a:lstStyle/>
          <a:p>
            <a:pPr marL="0" indent="0">
              <a:buNone/>
            </a:pPr>
            <a:r>
              <a:rPr lang="en-US" sz="1000" b="1" kern="0" spc="120" dirty="0">
                <a:solidFill>
                  <a:srgbClr val="63738B"/>
                </a:solidFill>
                <a:latin typeface="Aptos" pitchFamily="34" charset="0"/>
                <a:ea typeface="Aptos" pitchFamily="34" charset="-122"/>
                <a:cs typeface="Aptos" pitchFamily="34" charset="-120"/>
              </a:rPr>
              <a:t>WEEK 01 · FULL-STACK JOURNEY</a:t>
            </a:r>
            <a:endParaRPr lang="en-US" sz="1000" dirty="0"/>
          </a:p>
        </p:txBody>
      </p:sp>
      <p:sp>
        <p:nvSpPr>
          <p:cNvPr id="4" name="Text 2"/>
          <p:cNvSpPr/>
          <p:nvPr/>
        </p:nvSpPr>
        <p:spPr>
          <a:xfrm>
            <a:off x="603504" y="676656"/>
            <a:ext cx="10972800" cy="658368"/>
          </a:xfrm>
          <a:prstGeom prst="rect">
            <a:avLst/>
          </a:prstGeom>
          <a:noFill/>
        </p:spPr>
        <p:txBody>
          <a:bodyPr wrap="square" lIns="0" tIns="0" rIns="0" bIns="0" rtlCol="0" anchor="ctr">
            <a:normAutofit/>
          </a:bodyPr>
          <a:lstStyle/>
          <a:p>
            <a:pPr marL="0" indent="0">
              <a:buNone/>
            </a:pPr>
            <a:r>
              <a:rPr lang="en-US" sz="3100" b="1" dirty="0">
                <a:solidFill>
                  <a:srgbClr val="0D2F5F"/>
                </a:solidFill>
                <a:latin typeface="Aptos" pitchFamily="34" charset="0"/>
                <a:ea typeface="Aptos" pitchFamily="34" charset="-122"/>
                <a:cs typeface="Aptos" pitchFamily="34" charset="-120"/>
              </a:rPr>
              <a:t>Live demo: explore a URL and a request</a:t>
            </a:r>
            <a:endParaRPr lang="en-US" sz="3100" dirty="0"/>
          </a:p>
        </p:txBody>
      </p:sp>
      <p:sp>
        <p:nvSpPr>
          <p:cNvPr id="5" name="Shape 3"/>
          <p:cNvSpPr/>
          <p:nvPr/>
        </p:nvSpPr>
        <p:spPr>
          <a:xfrm>
            <a:off x="603504" y="1408176"/>
            <a:ext cx="10981944" cy="0"/>
          </a:xfrm>
          <a:prstGeom prst="line">
            <a:avLst/>
          </a:prstGeom>
          <a:noFill/>
          <a:ln w="12700">
            <a:solidFill>
              <a:srgbClr val="DEE5EF"/>
            </a:solidFill>
            <a:prstDash val="solid"/>
            <a:headEnd type="none"/>
            <a:tailEnd type="none"/>
          </a:ln>
        </p:spPr>
      </p:sp>
      <p:sp>
        <p:nvSpPr>
          <p:cNvPr id="8" name="Text 5"/>
          <p:cNvSpPr/>
          <p:nvPr/>
        </p:nvSpPr>
        <p:spPr>
          <a:xfrm>
            <a:off x="11338560" y="6437376"/>
            <a:ext cx="237744" cy="201168"/>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24</a:t>
            </a:r>
            <a:endParaRPr lang="en-US" sz="1000" dirty="0"/>
          </a:p>
        </p:txBody>
      </p:sp>
      <p:sp>
        <p:nvSpPr>
          <p:cNvPr id="9" name="Shape 6"/>
          <p:cNvSpPr/>
          <p:nvPr/>
        </p:nvSpPr>
        <p:spPr>
          <a:xfrm>
            <a:off x="649224" y="1792224"/>
            <a:ext cx="3447288" cy="1060704"/>
          </a:xfrm>
          <a:prstGeom prst="roundRect">
            <a:avLst>
              <a:gd name="adj" fmla="val 12069"/>
            </a:avLst>
          </a:prstGeom>
          <a:solidFill>
            <a:srgbClr val="FFFFFF"/>
          </a:solidFill>
          <a:ln w="12700">
            <a:solidFill>
              <a:srgbClr val="FFFFFF">
                <a:alpha val="0"/>
              </a:srgbClr>
            </a:solidFill>
            <a:prstDash val="solid"/>
          </a:ln>
        </p:spPr>
      </p:sp>
      <p:sp>
        <p:nvSpPr>
          <p:cNvPr id="10" name="Shape 7"/>
          <p:cNvSpPr/>
          <p:nvPr/>
        </p:nvSpPr>
        <p:spPr>
          <a:xfrm>
            <a:off x="786384" y="1975104"/>
            <a:ext cx="356616" cy="356616"/>
          </a:xfrm>
          <a:prstGeom prst="ellipse">
            <a:avLst/>
          </a:prstGeom>
          <a:solidFill>
            <a:srgbClr val="DAA62F"/>
          </a:solidFill>
          <a:ln w="12700">
            <a:solidFill>
              <a:srgbClr val="DAA62F"/>
            </a:solidFill>
            <a:prstDash val="solid"/>
          </a:ln>
        </p:spPr>
      </p:sp>
      <p:sp>
        <p:nvSpPr>
          <p:cNvPr id="11" name="Text 8"/>
          <p:cNvSpPr/>
          <p:nvPr/>
        </p:nvSpPr>
        <p:spPr>
          <a:xfrm>
            <a:off x="786384" y="2016252"/>
            <a:ext cx="356616" cy="237744"/>
          </a:xfrm>
          <a:prstGeom prst="rect">
            <a:avLst/>
          </a:prstGeom>
          <a:noFill/>
        </p:spPr>
        <p:txBody>
          <a:bodyPr wrap="square" lIns="0" tIns="0" rIns="0" bIns="0" rtlCol="0" anchor="ctr">
            <a:normAutofit/>
          </a:bodyPr>
          <a:lstStyle/>
          <a:p>
            <a:pPr marL="0" indent="0" algn="ctr">
              <a:buNone/>
            </a:pPr>
            <a:r>
              <a:rPr lang="en-US" sz="1400" b="1" dirty="0">
                <a:solidFill>
                  <a:srgbClr val="092448"/>
                </a:solidFill>
                <a:latin typeface="Aptos" pitchFamily="34" charset="0"/>
                <a:ea typeface="Aptos" pitchFamily="34" charset="-122"/>
                <a:cs typeface="Aptos" pitchFamily="34" charset="-120"/>
              </a:rPr>
              <a:t>1</a:t>
            </a:r>
            <a:endParaRPr lang="en-US" sz="1400" dirty="0"/>
          </a:p>
        </p:txBody>
      </p:sp>
      <p:sp>
        <p:nvSpPr>
          <p:cNvPr id="12" name="Text 9"/>
          <p:cNvSpPr/>
          <p:nvPr/>
        </p:nvSpPr>
        <p:spPr>
          <a:xfrm>
            <a:off x="1271016" y="1965960"/>
            <a:ext cx="2688336" cy="301752"/>
          </a:xfrm>
          <a:prstGeom prst="rect">
            <a:avLst/>
          </a:prstGeom>
          <a:noFill/>
        </p:spPr>
        <p:txBody>
          <a:bodyPr wrap="square" lIns="0" tIns="0" rIns="0" bIns="0" rtlCol="0" anchor="ctr">
            <a:normAutofit/>
          </a:bodyPr>
          <a:lstStyle/>
          <a:p>
            <a:pPr marL="0" indent="0">
              <a:buNone/>
            </a:pPr>
            <a:r>
              <a:rPr lang="en-US" sz="1700" b="1" dirty="0">
                <a:solidFill>
                  <a:srgbClr val="0D2F5F"/>
                </a:solidFill>
                <a:latin typeface="Aptos" pitchFamily="34" charset="0"/>
                <a:ea typeface="Aptos" pitchFamily="34" charset="-122"/>
                <a:cs typeface="Aptos" pitchFamily="34" charset="-120"/>
              </a:rPr>
              <a:t>Open browser</a:t>
            </a:r>
            <a:endParaRPr lang="en-US" sz="1700" dirty="0"/>
          </a:p>
        </p:txBody>
      </p:sp>
      <p:sp>
        <p:nvSpPr>
          <p:cNvPr id="13" name="Text 10"/>
          <p:cNvSpPr/>
          <p:nvPr/>
        </p:nvSpPr>
        <p:spPr>
          <a:xfrm>
            <a:off x="813816" y="2423160"/>
            <a:ext cx="3118104" cy="265176"/>
          </a:xfrm>
          <a:prstGeom prst="rect">
            <a:avLst/>
          </a:prstGeom>
          <a:noFill/>
        </p:spPr>
        <p:txBody>
          <a:bodyPr wrap="square" lIns="0" tIns="0" rIns="0" bIns="0" rtlCol="0" anchor="ctr">
            <a:normAutofit/>
          </a:bodyPr>
          <a:lstStyle/>
          <a:p>
            <a:pPr marL="0" indent="0">
              <a:buNone/>
            </a:pPr>
            <a:r>
              <a:rPr lang="en-US" sz="1150" dirty="0">
                <a:solidFill>
                  <a:srgbClr val="63738B"/>
                </a:solidFill>
                <a:latin typeface="Aptos" pitchFamily="34" charset="0"/>
                <a:ea typeface="Aptos" pitchFamily="34" charset="-122"/>
                <a:cs typeface="Aptos" pitchFamily="34" charset="-120"/>
              </a:rPr>
              <a:t>Use the Week 01 URL Explorer</a:t>
            </a:r>
            <a:endParaRPr lang="en-US" sz="1150" dirty="0"/>
          </a:p>
        </p:txBody>
      </p:sp>
      <p:sp>
        <p:nvSpPr>
          <p:cNvPr id="14" name="Shape 11"/>
          <p:cNvSpPr/>
          <p:nvPr/>
        </p:nvSpPr>
        <p:spPr>
          <a:xfrm>
            <a:off x="4379976" y="1792224"/>
            <a:ext cx="3447288" cy="1060704"/>
          </a:xfrm>
          <a:prstGeom prst="roundRect">
            <a:avLst>
              <a:gd name="adj" fmla="val 12069"/>
            </a:avLst>
          </a:prstGeom>
          <a:solidFill>
            <a:srgbClr val="FFFFFF"/>
          </a:solidFill>
          <a:ln w="12700">
            <a:solidFill>
              <a:srgbClr val="FFFFFF">
                <a:alpha val="0"/>
              </a:srgbClr>
            </a:solidFill>
            <a:prstDash val="solid"/>
          </a:ln>
        </p:spPr>
      </p:sp>
      <p:sp>
        <p:nvSpPr>
          <p:cNvPr id="15" name="Shape 12"/>
          <p:cNvSpPr/>
          <p:nvPr/>
        </p:nvSpPr>
        <p:spPr>
          <a:xfrm>
            <a:off x="4517136" y="1975104"/>
            <a:ext cx="356616" cy="356616"/>
          </a:xfrm>
          <a:prstGeom prst="ellipse">
            <a:avLst/>
          </a:prstGeom>
          <a:solidFill>
            <a:srgbClr val="DAA62F"/>
          </a:solidFill>
          <a:ln w="12700">
            <a:solidFill>
              <a:srgbClr val="DAA62F"/>
            </a:solidFill>
            <a:prstDash val="solid"/>
          </a:ln>
        </p:spPr>
      </p:sp>
      <p:sp>
        <p:nvSpPr>
          <p:cNvPr id="16" name="Text 13"/>
          <p:cNvSpPr/>
          <p:nvPr/>
        </p:nvSpPr>
        <p:spPr>
          <a:xfrm>
            <a:off x="4517136" y="2016252"/>
            <a:ext cx="356616" cy="237744"/>
          </a:xfrm>
          <a:prstGeom prst="rect">
            <a:avLst/>
          </a:prstGeom>
          <a:noFill/>
        </p:spPr>
        <p:txBody>
          <a:bodyPr wrap="square" lIns="0" tIns="0" rIns="0" bIns="0" rtlCol="0" anchor="ctr">
            <a:normAutofit/>
          </a:bodyPr>
          <a:lstStyle/>
          <a:p>
            <a:pPr marL="0" indent="0" algn="ctr">
              <a:buNone/>
            </a:pPr>
            <a:r>
              <a:rPr lang="en-US" sz="1400" b="1" dirty="0">
                <a:solidFill>
                  <a:srgbClr val="092448"/>
                </a:solidFill>
                <a:latin typeface="Aptos" pitchFamily="34" charset="0"/>
                <a:ea typeface="Aptos" pitchFamily="34" charset="-122"/>
                <a:cs typeface="Aptos" pitchFamily="34" charset="-120"/>
              </a:rPr>
              <a:t>2</a:t>
            </a:r>
            <a:endParaRPr lang="en-US" sz="1400" dirty="0"/>
          </a:p>
        </p:txBody>
      </p:sp>
      <p:sp>
        <p:nvSpPr>
          <p:cNvPr id="17" name="Text 14"/>
          <p:cNvSpPr/>
          <p:nvPr/>
        </p:nvSpPr>
        <p:spPr>
          <a:xfrm>
            <a:off x="5001768" y="1965960"/>
            <a:ext cx="2688336" cy="301752"/>
          </a:xfrm>
          <a:prstGeom prst="rect">
            <a:avLst/>
          </a:prstGeom>
          <a:noFill/>
        </p:spPr>
        <p:txBody>
          <a:bodyPr wrap="square" lIns="0" tIns="0" rIns="0" bIns="0" rtlCol="0" anchor="ctr">
            <a:normAutofit/>
          </a:bodyPr>
          <a:lstStyle/>
          <a:p>
            <a:pPr marL="0" indent="0">
              <a:buNone/>
            </a:pPr>
            <a:r>
              <a:rPr lang="en-US" sz="1700" b="1" dirty="0">
                <a:solidFill>
                  <a:srgbClr val="0D2F5F"/>
                </a:solidFill>
                <a:latin typeface="Aptos" pitchFamily="34" charset="0"/>
                <a:ea typeface="Aptos" pitchFamily="34" charset="-122"/>
                <a:cs typeface="Aptos" pitchFamily="34" charset="-120"/>
              </a:rPr>
              <a:t>Inspect the URL</a:t>
            </a:r>
            <a:endParaRPr lang="en-US" sz="1700" dirty="0"/>
          </a:p>
        </p:txBody>
      </p:sp>
      <p:sp>
        <p:nvSpPr>
          <p:cNvPr id="18" name="Text 15"/>
          <p:cNvSpPr/>
          <p:nvPr/>
        </p:nvSpPr>
        <p:spPr>
          <a:xfrm>
            <a:off x="4544568" y="2423160"/>
            <a:ext cx="3118104" cy="265176"/>
          </a:xfrm>
          <a:prstGeom prst="rect">
            <a:avLst/>
          </a:prstGeom>
          <a:noFill/>
        </p:spPr>
        <p:txBody>
          <a:bodyPr wrap="square" lIns="0" tIns="0" rIns="0" bIns="0" rtlCol="0" anchor="ctr">
            <a:normAutofit/>
          </a:bodyPr>
          <a:lstStyle/>
          <a:p>
            <a:pPr marL="0" indent="0">
              <a:buNone/>
            </a:pPr>
            <a:r>
              <a:rPr lang="en-US" sz="1150" dirty="0">
                <a:solidFill>
                  <a:srgbClr val="63738B"/>
                </a:solidFill>
                <a:latin typeface="Aptos" pitchFamily="34" charset="0"/>
                <a:ea typeface="Aptos" pitchFamily="34" charset="-122"/>
                <a:cs typeface="Aptos" pitchFamily="34" charset="-120"/>
              </a:rPr>
              <a:t>Find protocol and domain</a:t>
            </a:r>
            <a:endParaRPr lang="en-US" sz="1150" dirty="0"/>
          </a:p>
        </p:txBody>
      </p:sp>
      <p:sp>
        <p:nvSpPr>
          <p:cNvPr id="19" name="Shape 16"/>
          <p:cNvSpPr/>
          <p:nvPr/>
        </p:nvSpPr>
        <p:spPr>
          <a:xfrm>
            <a:off x="8110728" y="1792224"/>
            <a:ext cx="3447288" cy="1060704"/>
          </a:xfrm>
          <a:prstGeom prst="roundRect">
            <a:avLst>
              <a:gd name="adj" fmla="val 12069"/>
            </a:avLst>
          </a:prstGeom>
          <a:solidFill>
            <a:srgbClr val="FFFFFF"/>
          </a:solidFill>
          <a:ln w="12700">
            <a:solidFill>
              <a:srgbClr val="FFFFFF">
                <a:alpha val="0"/>
              </a:srgbClr>
            </a:solidFill>
            <a:prstDash val="solid"/>
          </a:ln>
        </p:spPr>
      </p:sp>
      <p:sp>
        <p:nvSpPr>
          <p:cNvPr id="20" name="Shape 17"/>
          <p:cNvSpPr/>
          <p:nvPr/>
        </p:nvSpPr>
        <p:spPr>
          <a:xfrm>
            <a:off x="8247888" y="1975104"/>
            <a:ext cx="356616" cy="356616"/>
          </a:xfrm>
          <a:prstGeom prst="ellipse">
            <a:avLst/>
          </a:prstGeom>
          <a:solidFill>
            <a:srgbClr val="DAA62F"/>
          </a:solidFill>
          <a:ln w="12700">
            <a:solidFill>
              <a:srgbClr val="DAA62F"/>
            </a:solidFill>
            <a:prstDash val="solid"/>
          </a:ln>
        </p:spPr>
      </p:sp>
      <p:sp>
        <p:nvSpPr>
          <p:cNvPr id="21" name="Text 18"/>
          <p:cNvSpPr/>
          <p:nvPr/>
        </p:nvSpPr>
        <p:spPr>
          <a:xfrm>
            <a:off x="8247888" y="2016252"/>
            <a:ext cx="356616" cy="237744"/>
          </a:xfrm>
          <a:prstGeom prst="rect">
            <a:avLst/>
          </a:prstGeom>
          <a:noFill/>
        </p:spPr>
        <p:txBody>
          <a:bodyPr wrap="square" lIns="0" tIns="0" rIns="0" bIns="0" rtlCol="0" anchor="ctr">
            <a:normAutofit/>
          </a:bodyPr>
          <a:lstStyle/>
          <a:p>
            <a:pPr marL="0" indent="0" algn="ctr">
              <a:buNone/>
            </a:pPr>
            <a:r>
              <a:rPr lang="en-US" sz="1400" b="1" dirty="0">
                <a:solidFill>
                  <a:srgbClr val="092448"/>
                </a:solidFill>
                <a:latin typeface="Aptos" pitchFamily="34" charset="0"/>
                <a:ea typeface="Aptos" pitchFamily="34" charset="-122"/>
                <a:cs typeface="Aptos" pitchFamily="34" charset="-120"/>
              </a:rPr>
              <a:t>3</a:t>
            </a:r>
            <a:endParaRPr lang="en-US" sz="1400" dirty="0"/>
          </a:p>
        </p:txBody>
      </p:sp>
      <p:sp>
        <p:nvSpPr>
          <p:cNvPr id="22" name="Text 19"/>
          <p:cNvSpPr/>
          <p:nvPr/>
        </p:nvSpPr>
        <p:spPr>
          <a:xfrm>
            <a:off x="8732520" y="1965960"/>
            <a:ext cx="2688336" cy="301752"/>
          </a:xfrm>
          <a:prstGeom prst="rect">
            <a:avLst/>
          </a:prstGeom>
          <a:noFill/>
        </p:spPr>
        <p:txBody>
          <a:bodyPr wrap="square" lIns="0" tIns="0" rIns="0" bIns="0" rtlCol="0" anchor="ctr">
            <a:normAutofit/>
          </a:bodyPr>
          <a:lstStyle/>
          <a:p>
            <a:pPr marL="0" indent="0">
              <a:buNone/>
            </a:pPr>
            <a:r>
              <a:rPr lang="en-US" sz="1700" b="1" dirty="0">
                <a:solidFill>
                  <a:srgbClr val="0D2F5F"/>
                </a:solidFill>
                <a:latin typeface="Aptos" pitchFamily="34" charset="0"/>
                <a:ea typeface="Aptos" pitchFamily="34" charset="-122"/>
                <a:cs typeface="Aptos" pitchFamily="34" charset="-120"/>
              </a:rPr>
              <a:t>Open example.com</a:t>
            </a:r>
            <a:endParaRPr lang="en-US" sz="1700" dirty="0"/>
          </a:p>
        </p:txBody>
      </p:sp>
      <p:sp>
        <p:nvSpPr>
          <p:cNvPr id="23" name="Text 20"/>
          <p:cNvSpPr/>
          <p:nvPr/>
        </p:nvSpPr>
        <p:spPr>
          <a:xfrm>
            <a:off x="8275320" y="2423160"/>
            <a:ext cx="3118104" cy="265176"/>
          </a:xfrm>
          <a:prstGeom prst="rect">
            <a:avLst/>
          </a:prstGeom>
          <a:noFill/>
        </p:spPr>
        <p:txBody>
          <a:bodyPr wrap="square" lIns="0" tIns="0" rIns="0" bIns="0" rtlCol="0" anchor="ctr">
            <a:normAutofit/>
          </a:bodyPr>
          <a:lstStyle/>
          <a:p>
            <a:pPr marL="0" indent="0">
              <a:buNone/>
            </a:pPr>
            <a:r>
              <a:rPr lang="en-US" sz="1150" dirty="0">
                <a:solidFill>
                  <a:srgbClr val="63738B"/>
                </a:solidFill>
                <a:latin typeface="Aptos" pitchFamily="34" charset="0"/>
                <a:ea typeface="Aptos" pitchFamily="34" charset="-122"/>
                <a:cs typeface="Aptos" pitchFamily="34" charset="-120"/>
              </a:rPr>
              <a:t>Use a permitted public site</a:t>
            </a:r>
            <a:endParaRPr lang="en-US" sz="1150" dirty="0"/>
          </a:p>
        </p:txBody>
      </p:sp>
      <p:sp>
        <p:nvSpPr>
          <p:cNvPr id="24" name="Shape 21"/>
          <p:cNvSpPr/>
          <p:nvPr/>
        </p:nvSpPr>
        <p:spPr>
          <a:xfrm>
            <a:off x="649224" y="3264408"/>
            <a:ext cx="3447288" cy="1060704"/>
          </a:xfrm>
          <a:prstGeom prst="roundRect">
            <a:avLst>
              <a:gd name="adj" fmla="val 12069"/>
            </a:avLst>
          </a:prstGeom>
          <a:solidFill>
            <a:srgbClr val="FFFFFF"/>
          </a:solidFill>
          <a:ln w="12700">
            <a:solidFill>
              <a:srgbClr val="FFFFFF">
                <a:alpha val="0"/>
              </a:srgbClr>
            </a:solidFill>
            <a:prstDash val="solid"/>
          </a:ln>
        </p:spPr>
      </p:sp>
      <p:sp>
        <p:nvSpPr>
          <p:cNvPr id="25" name="Shape 22"/>
          <p:cNvSpPr/>
          <p:nvPr/>
        </p:nvSpPr>
        <p:spPr>
          <a:xfrm>
            <a:off x="786384" y="3447288"/>
            <a:ext cx="356616" cy="356616"/>
          </a:xfrm>
          <a:prstGeom prst="ellipse">
            <a:avLst/>
          </a:prstGeom>
          <a:solidFill>
            <a:srgbClr val="DAA62F"/>
          </a:solidFill>
          <a:ln w="12700">
            <a:solidFill>
              <a:srgbClr val="DAA62F"/>
            </a:solidFill>
            <a:prstDash val="solid"/>
          </a:ln>
        </p:spPr>
      </p:sp>
      <p:sp>
        <p:nvSpPr>
          <p:cNvPr id="26" name="Text 23"/>
          <p:cNvSpPr/>
          <p:nvPr/>
        </p:nvSpPr>
        <p:spPr>
          <a:xfrm>
            <a:off x="786384" y="3488436"/>
            <a:ext cx="356616" cy="237744"/>
          </a:xfrm>
          <a:prstGeom prst="rect">
            <a:avLst/>
          </a:prstGeom>
          <a:noFill/>
        </p:spPr>
        <p:txBody>
          <a:bodyPr wrap="square" lIns="0" tIns="0" rIns="0" bIns="0" rtlCol="0" anchor="ctr">
            <a:normAutofit/>
          </a:bodyPr>
          <a:lstStyle/>
          <a:p>
            <a:pPr marL="0" indent="0" algn="ctr">
              <a:buNone/>
            </a:pPr>
            <a:r>
              <a:rPr lang="en-US" sz="1400" b="1" dirty="0">
                <a:solidFill>
                  <a:srgbClr val="092448"/>
                </a:solidFill>
                <a:latin typeface="Aptos" pitchFamily="34" charset="0"/>
                <a:ea typeface="Aptos" pitchFamily="34" charset="-122"/>
                <a:cs typeface="Aptos" pitchFamily="34" charset="-120"/>
              </a:rPr>
              <a:t>4</a:t>
            </a:r>
            <a:endParaRPr lang="en-US" sz="1400" dirty="0"/>
          </a:p>
        </p:txBody>
      </p:sp>
      <p:sp>
        <p:nvSpPr>
          <p:cNvPr id="27" name="Text 24"/>
          <p:cNvSpPr/>
          <p:nvPr/>
        </p:nvSpPr>
        <p:spPr>
          <a:xfrm>
            <a:off x="1271016" y="3438144"/>
            <a:ext cx="2688336" cy="301752"/>
          </a:xfrm>
          <a:prstGeom prst="rect">
            <a:avLst/>
          </a:prstGeom>
          <a:noFill/>
        </p:spPr>
        <p:txBody>
          <a:bodyPr wrap="square" lIns="0" tIns="0" rIns="0" bIns="0" rtlCol="0" anchor="ctr">
            <a:normAutofit/>
          </a:bodyPr>
          <a:lstStyle/>
          <a:p>
            <a:pPr marL="0" indent="0">
              <a:buNone/>
            </a:pPr>
            <a:r>
              <a:rPr lang="en-US" sz="1700" b="1" dirty="0">
                <a:solidFill>
                  <a:srgbClr val="0D2F5F"/>
                </a:solidFill>
                <a:latin typeface="Aptos" pitchFamily="34" charset="0"/>
                <a:ea typeface="Aptos" pitchFamily="34" charset="-122"/>
                <a:cs typeface="Aptos" pitchFamily="34" charset="-120"/>
              </a:rPr>
              <a:t>Open DevTools</a:t>
            </a:r>
            <a:endParaRPr lang="en-US" sz="1700" dirty="0"/>
          </a:p>
        </p:txBody>
      </p:sp>
      <p:sp>
        <p:nvSpPr>
          <p:cNvPr id="28" name="Text 25"/>
          <p:cNvSpPr/>
          <p:nvPr/>
        </p:nvSpPr>
        <p:spPr>
          <a:xfrm>
            <a:off x="813816" y="3895344"/>
            <a:ext cx="3118104" cy="265176"/>
          </a:xfrm>
          <a:prstGeom prst="rect">
            <a:avLst/>
          </a:prstGeom>
          <a:noFill/>
        </p:spPr>
        <p:txBody>
          <a:bodyPr wrap="square" lIns="0" tIns="0" rIns="0" bIns="0" rtlCol="0" anchor="ctr">
            <a:normAutofit/>
          </a:bodyPr>
          <a:lstStyle/>
          <a:p>
            <a:pPr marL="0" indent="0">
              <a:buNone/>
            </a:pPr>
            <a:r>
              <a:rPr lang="en-US" sz="1150" dirty="0">
                <a:solidFill>
                  <a:srgbClr val="63738B"/>
                </a:solidFill>
                <a:latin typeface="Aptos" pitchFamily="34" charset="0"/>
                <a:ea typeface="Aptos" pitchFamily="34" charset="-122"/>
                <a:cs typeface="Aptos" pitchFamily="34" charset="-120"/>
              </a:rPr>
              <a:t>Refresh and view requests</a:t>
            </a:r>
            <a:endParaRPr lang="en-US" sz="1150" dirty="0"/>
          </a:p>
        </p:txBody>
      </p:sp>
      <p:sp>
        <p:nvSpPr>
          <p:cNvPr id="29" name="Shape 26"/>
          <p:cNvSpPr/>
          <p:nvPr/>
        </p:nvSpPr>
        <p:spPr>
          <a:xfrm>
            <a:off x="4379976" y="3264408"/>
            <a:ext cx="3447288" cy="1060704"/>
          </a:xfrm>
          <a:prstGeom prst="roundRect">
            <a:avLst>
              <a:gd name="adj" fmla="val 12069"/>
            </a:avLst>
          </a:prstGeom>
          <a:solidFill>
            <a:srgbClr val="FFFFFF"/>
          </a:solidFill>
          <a:ln w="12700">
            <a:solidFill>
              <a:srgbClr val="FFFFFF">
                <a:alpha val="0"/>
              </a:srgbClr>
            </a:solidFill>
            <a:prstDash val="solid"/>
          </a:ln>
        </p:spPr>
      </p:sp>
      <p:sp>
        <p:nvSpPr>
          <p:cNvPr id="30" name="Shape 27"/>
          <p:cNvSpPr/>
          <p:nvPr/>
        </p:nvSpPr>
        <p:spPr>
          <a:xfrm>
            <a:off x="4517136" y="3447288"/>
            <a:ext cx="356616" cy="356616"/>
          </a:xfrm>
          <a:prstGeom prst="ellipse">
            <a:avLst/>
          </a:prstGeom>
          <a:solidFill>
            <a:srgbClr val="DAA62F"/>
          </a:solidFill>
          <a:ln w="12700">
            <a:solidFill>
              <a:srgbClr val="DAA62F"/>
            </a:solidFill>
            <a:prstDash val="solid"/>
          </a:ln>
        </p:spPr>
      </p:sp>
      <p:sp>
        <p:nvSpPr>
          <p:cNvPr id="31" name="Text 28"/>
          <p:cNvSpPr/>
          <p:nvPr/>
        </p:nvSpPr>
        <p:spPr>
          <a:xfrm>
            <a:off x="4517136" y="3488436"/>
            <a:ext cx="356616" cy="237744"/>
          </a:xfrm>
          <a:prstGeom prst="rect">
            <a:avLst/>
          </a:prstGeom>
          <a:noFill/>
        </p:spPr>
        <p:txBody>
          <a:bodyPr wrap="square" lIns="0" tIns="0" rIns="0" bIns="0" rtlCol="0" anchor="ctr">
            <a:normAutofit/>
          </a:bodyPr>
          <a:lstStyle/>
          <a:p>
            <a:pPr marL="0" indent="0" algn="ctr">
              <a:buNone/>
            </a:pPr>
            <a:r>
              <a:rPr lang="en-US" sz="1400" b="1" dirty="0">
                <a:solidFill>
                  <a:srgbClr val="092448"/>
                </a:solidFill>
                <a:latin typeface="Aptos" pitchFamily="34" charset="0"/>
                <a:ea typeface="Aptos" pitchFamily="34" charset="-122"/>
                <a:cs typeface="Aptos" pitchFamily="34" charset="-120"/>
              </a:rPr>
              <a:t>5</a:t>
            </a:r>
            <a:endParaRPr lang="en-US" sz="1400" dirty="0"/>
          </a:p>
        </p:txBody>
      </p:sp>
      <p:sp>
        <p:nvSpPr>
          <p:cNvPr id="32" name="Text 29"/>
          <p:cNvSpPr/>
          <p:nvPr/>
        </p:nvSpPr>
        <p:spPr>
          <a:xfrm>
            <a:off x="5001768" y="3438144"/>
            <a:ext cx="2688336" cy="301752"/>
          </a:xfrm>
          <a:prstGeom prst="rect">
            <a:avLst/>
          </a:prstGeom>
          <a:noFill/>
        </p:spPr>
        <p:txBody>
          <a:bodyPr wrap="square" lIns="0" tIns="0" rIns="0" bIns="0" rtlCol="0" anchor="ctr">
            <a:normAutofit/>
          </a:bodyPr>
          <a:lstStyle/>
          <a:p>
            <a:pPr marL="0" indent="0">
              <a:buNone/>
            </a:pPr>
            <a:r>
              <a:rPr lang="en-US" sz="1700" b="1" dirty="0">
                <a:solidFill>
                  <a:srgbClr val="0D2F5F"/>
                </a:solidFill>
                <a:latin typeface="Aptos" pitchFamily="34" charset="0"/>
                <a:ea typeface="Aptos" pitchFamily="34" charset="-122"/>
                <a:cs typeface="Aptos" pitchFamily="34" charset="-120"/>
              </a:rPr>
              <a:t>Select one request</a:t>
            </a:r>
            <a:endParaRPr lang="en-US" sz="1700" dirty="0"/>
          </a:p>
        </p:txBody>
      </p:sp>
      <p:sp>
        <p:nvSpPr>
          <p:cNvPr id="33" name="Text 30"/>
          <p:cNvSpPr/>
          <p:nvPr/>
        </p:nvSpPr>
        <p:spPr>
          <a:xfrm>
            <a:off x="4544568" y="3895344"/>
            <a:ext cx="3118104" cy="265176"/>
          </a:xfrm>
          <a:prstGeom prst="rect">
            <a:avLst/>
          </a:prstGeom>
          <a:noFill/>
        </p:spPr>
        <p:txBody>
          <a:bodyPr wrap="square" lIns="0" tIns="0" rIns="0" bIns="0" rtlCol="0" anchor="ctr">
            <a:normAutofit/>
          </a:bodyPr>
          <a:lstStyle/>
          <a:p>
            <a:pPr marL="0" indent="0">
              <a:buNone/>
            </a:pPr>
            <a:r>
              <a:rPr lang="en-US" sz="1150" dirty="0">
                <a:solidFill>
                  <a:srgbClr val="63738B"/>
                </a:solidFill>
                <a:latin typeface="Aptos" pitchFamily="34" charset="0"/>
                <a:ea typeface="Aptos" pitchFamily="34" charset="-122"/>
                <a:cs typeface="Aptos" pitchFamily="34" charset="-120"/>
              </a:rPr>
              <a:t>Read method and status</a:t>
            </a:r>
            <a:endParaRPr lang="en-US" sz="1150" dirty="0"/>
          </a:p>
        </p:txBody>
      </p:sp>
      <p:sp>
        <p:nvSpPr>
          <p:cNvPr id="34" name="Shape 31"/>
          <p:cNvSpPr/>
          <p:nvPr/>
        </p:nvSpPr>
        <p:spPr>
          <a:xfrm>
            <a:off x="8110728" y="3264408"/>
            <a:ext cx="3447288" cy="1060704"/>
          </a:xfrm>
          <a:prstGeom prst="roundRect">
            <a:avLst>
              <a:gd name="adj" fmla="val 12069"/>
            </a:avLst>
          </a:prstGeom>
          <a:solidFill>
            <a:srgbClr val="FFFFFF"/>
          </a:solidFill>
          <a:ln w="12700">
            <a:solidFill>
              <a:srgbClr val="FFFFFF">
                <a:alpha val="0"/>
              </a:srgbClr>
            </a:solidFill>
            <a:prstDash val="solid"/>
          </a:ln>
        </p:spPr>
      </p:sp>
      <p:sp>
        <p:nvSpPr>
          <p:cNvPr id="35" name="Shape 32"/>
          <p:cNvSpPr/>
          <p:nvPr/>
        </p:nvSpPr>
        <p:spPr>
          <a:xfrm>
            <a:off x="8247888" y="3447288"/>
            <a:ext cx="356616" cy="356616"/>
          </a:xfrm>
          <a:prstGeom prst="ellipse">
            <a:avLst/>
          </a:prstGeom>
          <a:solidFill>
            <a:srgbClr val="DAA62F"/>
          </a:solidFill>
          <a:ln w="12700">
            <a:solidFill>
              <a:srgbClr val="DAA62F"/>
            </a:solidFill>
            <a:prstDash val="solid"/>
          </a:ln>
        </p:spPr>
      </p:sp>
      <p:sp>
        <p:nvSpPr>
          <p:cNvPr id="36" name="Text 33"/>
          <p:cNvSpPr/>
          <p:nvPr/>
        </p:nvSpPr>
        <p:spPr>
          <a:xfrm>
            <a:off x="8247888" y="3488436"/>
            <a:ext cx="356616" cy="237744"/>
          </a:xfrm>
          <a:prstGeom prst="rect">
            <a:avLst/>
          </a:prstGeom>
          <a:noFill/>
        </p:spPr>
        <p:txBody>
          <a:bodyPr wrap="square" lIns="0" tIns="0" rIns="0" bIns="0" rtlCol="0" anchor="ctr">
            <a:normAutofit/>
          </a:bodyPr>
          <a:lstStyle/>
          <a:p>
            <a:pPr marL="0" indent="0" algn="ctr">
              <a:buNone/>
            </a:pPr>
            <a:r>
              <a:rPr lang="en-US" sz="1400" b="1" dirty="0">
                <a:solidFill>
                  <a:srgbClr val="092448"/>
                </a:solidFill>
                <a:latin typeface="Aptos" pitchFamily="34" charset="0"/>
                <a:ea typeface="Aptos" pitchFamily="34" charset="-122"/>
                <a:cs typeface="Aptos" pitchFamily="34" charset="-120"/>
              </a:rPr>
              <a:t>6</a:t>
            </a:r>
            <a:endParaRPr lang="en-US" sz="1400" dirty="0"/>
          </a:p>
        </p:txBody>
      </p:sp>
      <p:sp>
        <p:nvSpPr>
          <p:cNvPr id="37" name="Text 34"/>
          <p:cNvSpPr/>
          <p:nvPr/>
        </p:nvSpPr>
        <p:spPr>
          <a:xfrm>
            <a:off x="8732520" y="3438144"/>
            <a:ext cx="2688336" cy="301752"/>
          </a:xfrm>
          <a:prstGeom prst="rect">
            <a:avLst/>
          </a:prstGeom>
          <a:noFill/>
        </p:spPr>
        <p:txBody>
          <a:bodyPr wrap="square" lIns="0" tIns="0" rIns="0" bIns="0" rtlCol="0" anchor="ctr">
            <a:normAutofit/>
          </a:bodyPr>
          <a:lstStyle/>
          <a:p>
            <a:pPr marL="0" indent="0">
              <a:buNone/>
            </a:pPr>
            <a:r>
              <a:rPr lang="en-US" sz="1700" b="1" dirty="0">
                <a:solidFill>
                  <a:srgbClr val="0D2F5F"/>
                </a:solidFill>
                <a:latin typeface="Aptos" pitchFamily="34" charset="0"/>
                <a:ea typeface="Aptos" pitchFamily="34" charset="-122"/>
                <a:cs typeface="Aptos" pitchFamily="34" charset="-120"/>
              </a:rPr>
              <a:t>Explain the flow</a:t>
            </a:r>
            <a:endParaRPr lang="en-US" sz="1700" dirty="0"/>
          </a:p>
        </p:txBody>
      </p:sp>
      <p:sp>
        <p:nvSpPr>
          <p:cNvPr id="38" name="Text 35"/>
          <p:cNvSpPr/>
          <p:nvPr/>
        </p:nvSpPr>
        <p:spPr>
          <a:xfrm>
            <a:off x="8275320" y="3895344"/>
            <a:ext cx="3118104" cy="265176"/>
          </a:xfrm>
          <a:prstGeom prst="rect">
            <a:avLst/>
          </a:prstGeom>
          <a:noFill/>
        </p:spPr>
        <p:txBody>
          <a:bodyPr wrap="square" lIns="0" tIns="0" rIns="0" bIns="0" rtlCol="0" anchor="ctr">
            <a:normAutofit/>
          </a:bodyPr>
          <a:lstStyle/>
          <a:p>
            <a:pPr marL="0" indent="0">
              <a:buNone/>
            </a:pPr>
            <a:r>
              <a:rPr lang="en-US" sz="1150" dirty="0">
                <a:solidFill>
                  <a:srgbClr val="63738B"/>
                </a:solidFill>
                <a:latin typeface="Aptos" pitchFamily="34" charset="0"/>
                <a:ea typeface="Aptos" pitchFamily="34" charset="-122"/>
                <a:cs typeface="Aptos" pitchFamily="34" charset="-120"/>
              </a:rPr>
              <a:t>Client → server → response</a:t>
            </a:r>
            <a:endParaRPr lang="en-US" sz="1150" dirty="0"/>
          </a:p>
        </p:txBody>
      </p:sp>
      <p:sp>
        <p:nvSpPr>
          <p:cNvPr id="39" name="Text 36"/>
          <p:cNvSpPr/>
          <p:nvPr/>
        </p:nvSpPr>
        <p:spPr>
          <a:xfrm>
            <a:off x="731520" y="5056632"/>
            <a:ext cx="10744200" cy="548640"/>
          </a:xfrm>
          <a:prstGeom prst="rect">
            <a:avLst/>
          </a:prstGeom>
          <a:noFill/>
        </p:spPr>
        <p:txBody>
          <a:bodyPr wrap="square" lIns="0" tIns="0" rIns="0" bIns="0" rtlCol="0" anchor="ctr">
            <a:normAutofit/>
          </a:bodyPr>
          <a:lstStyle/>
          <a:p>
            <a:pPr marL="0" indent="0" algn="ctr">
              <a:buNone/>
            </a:pPr>
            <a:r>
              <a:rPr lang="en-US" sz="1800" b="1" dirty="0">
                <a:solidFill>
                  <a:srgbClr val="0D2F5F"/>
                </a:solidFill>
                <a:latin typeface="Aptos" pitchFamily="34" charset="0"/>
                <a:ea typeface="Aptos" pitchFamily="34" charset="-122"/>
                <a:cs typeface="Aptos" pitchFamily="34" charset="-120"/>
              </a:rPr>
              <a:t>Optional terminal checks:  nslookup example.com   |   curl -I https://example.com</a:t>
            </a:r>
            <a:endParaRPr lang="en-US" sz="1800" dirty="0"/>
          </a:p>
        </p:txBody>
      </p:sp>
      <p:pic>
        <p:nvPicPr>
          <p:cNvPr id="40" name="Image 0" descr="/mnt/data/cwp-logo-primary-transparent.png"/>
          <p:cNvPicPr>
            <a:picLocks noChangeAspect="1"/>
          </p:cNvPicPr>
          <p:nvPr/>
        </p:nvPicPr>
        <p:blipFill>
          <a:blip r:embed="rId1"/>
          <a:stretch>
            <a:fillRect/>
          </a:stretch>
        </p:blipFill>
        <p:spPr>
          <a:xfrm>
            <a:off x="603250" y="6029325"/>
            <a:ext cx="946150" cy="628650"/>
          </a:xfrm>
          <a:prstGeom prst="rect">
            <a:avLst/>
          </a:prstGeom>
        </p:spPr>
      </p:pic>
      <p:sp>
        <p:nvSpPr>
          <p:cNvPr id="41" name="Text 4"/>
          <p:cNvSpPr/>
          <p:nvPr/>
        </p:nvSpPr>
        <p:spPr>
          <a:xfrm>
            <a:off x="9485884" y="6419850"/>
            <a:ext cx="1746504" cy="219456"/>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codewithprof.com</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DAA62F"/>
          </a:solidFill>
          <a:ln w="12700">
            <a:solidFill>
              <a:srgbClr val="DAA62F"/>
            </a:solidFill>
            <a:prstDash val="solid"/>
          </a:ln>
        </p:spPr>
      </p:sp>
      <p:sp>
        <p:nvSpPr>
          <p:cNvPr id="3" name="Text 1"/>
          <p:cNvSpPr/>
          <p:nvPr/>
        </p:nvSpPr>
        <p:spPr>
          <a:xfrm>
            <a:off x="603504" y="292608"/>
            <a:ext cx="9144000" cy="201168"/>
          </a:xfrm>
          <a:prstGeom prst="rect">
            <a:avLst/>
          </a:prstGeom>
          <a:noFill/>
        </p:spPr>
        <p:txBody>
          <a:bodyPr wrap="square" lIns="0" tIns="0" rIns="0" bIns="0" rtlCol="0" anchor="ctr">
            <a:normAutofit/>
          </a:bodyPr>
          <a:lstStyle/>
          <a:p>
            <a:pPr marL="0" indent="0">
              <a:buNone/>
            </a:pPr>
            <a:r>
              <a:rPr lang="en-US" sz="1000" b="1" kern="0" spc="120" dirty="0">
                <a:solidFill>
                  <a:srgbClr val="63738B"/>
                </a:solidFill>
                <a:latin typeface="Aptos" pitchFamily="34" charset="0"/>
                <a:ea typeface="Aptos" pitchFamily="34" charset="-122"/>
                <a:cs typeface="Aptos" pitchFamily="34" charset="-120"/>
              </a:rPr>
              <a:t>WEEK 01 · FULL-STACK JOURNEY</a:t>
            </a:r>
            <a:endParaRPr lang="en-US" sz="1000" dirty="0"/>
          </a:p>
        </p:txBody>
      </p:sp>
      <p:sp>
        <p:nvSpPr>
          <p:cNvPr id="4" name="Text 2"/>
          <p:cNvSpPr/>
          <p:nvPr/>
        </p:nvSpPr>
        <p:spPr>
          <a:xfrm>
            <a:off x="603504" y="676656"/>
            <a:ext cx="10972800" cy="658368"/>
          </a:xfrm>
          <a:prstGeom prst="rect">
            <a:avLst/>
          </a:prstGeom>
          <a:noFill/>
        </p:spPr>
        <p:txBody>
          <a:bodyPr wrap="square" lIns="0" tIns="0" rIns="0" bIns="0" rtlCol="0" anchor="ctr">
            <a:normAutofit/>
          </a:bodyPr>
          <a:lstStyle/>
          <a:p>
            <a:pPr marL="0" indent="0">
              <a:buNone/>
            </a:pPr>
            <a:r>
              <a:rPr lang="en-US" sz="3100" b="1" dirty="0">
                <a:solidFill>
                  <a:srgbClr val="0D2F5F"/>
                </a:solidFill>
                <a:latin typeface="Aptos" pitchFamily="34" charset="0"/>
                <a:ea typeface="Aptos" pitchFamily="34" charset="-122"/>
                <a:cs typeface="Aptos" pitchFamily="34" charset="-120"/>
              </a:rPr>
              <a:t>Exercise A: the request-response detective</a:t>
            </a:r>
            <a:endParaRPr lang="en-US" sz="3100" dirty="0"/>
          </a:p>
        </p:txBody>
      </p:sp>
      <p:sp>
        <p:nvSpPr>
          <p:cNvPr id="5" name="Shape 3"/>
          <p:cNvSpPr/>
          <p:nvPr/>
        </p:nvSpPr>
        <p:spPr>
          <a:xfrm>
            <a:off x="603504" y="1408176"/>
            <a:ext cx="10981944" cy="0"/>
          </a:xfrm>
          <a:prstGeom prst="line">
            <a:avLst/>
          </a:prstGeom>
          <a:noFill/>
          <a:ln w="12700">
            <a:solidFill>
              <a:srgbClr val="DEE5EF"/>
            </a:solidFill>
            <a:prstDash val="solid"/>
            <a:headEnd type="none"/>
            <a:tailEnd type="none"/>
          </a:ln>
        </p:spPr>
      </p:sp>
      <p:sp>
        <p:nvSpPr>
          <p:cNvPr id="8" name="Text 5"/>
          <p:cNvSpPr/>
          <p:nvPr/>
        </p:nvSpPr>
        <p:spPr>
          <a:xfrm>
            <a:off x="11338560" y="6437376"/>
            <a:ext cx="237744" cy="201168"/>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25</a:t>
            </a:r>
            <a:endParaRPr lang="en-US" sz="1000" dirty="0"/>
          </a:p>
        </p:txBody>
      </p:sp>
      <p:sp>
        <p:nvSpPr>
          <p:cNvPr id="9" name="Shape 6"/>
          <p:cNvSpPr/>
          <p:nvPr/>
        </p:nvSpPr>
        <p:spPr>
          <a:xfrm>
            <a:off x="694944" y="1773936"/>
            <a:ext cx="10789920" cy="996696"/>
          </a:xfrm>
          <a:prstGeom prst="roundRect">
            <a:avLst>
              <a:gd name="adj" fmla="val 14679"/>
            </a:avLst>
          </a:prstGeom>
          <a:solidFill>
            <a:srgbClr val="0D2F5F"/>
          </a:solidFill>
          <a:ln w="12700">
            <a:solidFill>
              <a:srgbClr val="0D2F5F">
                <a:alpha val="0"/>
              </a:srgbClr>
            </a:solidFill>
            <a:prstDash val="solid"/>
          </a:ln>
        </p:spPr>
      </p:sp>
      <p:sp>
        <p:nvSpPr>
          <p:cNvPr id="10" name="Text 7"/>
          <p:cNvSpPr/>
          <p:nvPr/>
        </p:nvSpPr>
        <p:spPr>
          <a:xfrm>
            <a:off x="960120" y="2002536"/>
            <a:ext cx="10259568" cy="502920"/>
          </a:xfrm>
          <a:prstGeom prst="rect">
            <a:avLst/>
          </a:prstGeom>
          <a:noFill/>
        </p:spPr>
        <p:txBody>
          <a:bodyPr wrap="square" lIns="0" tIns="0" rIns="0" bIns="0" rtlCol="0" anchor="ctr">
            <a:normAutofit/>
          </a:bodyPr>
          <a:lstStyle/>
          <a:p>
            <a:pPr marL="0" indent="0" algn="ctr">
              <a:buNone/>
            </a:pPr>
            <a:r>
              <a:rPr lang="en-US" sz="2200" b="1" dirty="0">
                <a:solidFill>
                  <a:srgbClr val="FFFFFF"/>
                </a:solidFill>
                <a:latin typeface="Aptos" pitchFamily="34" charset="0"/>
                <a:ea typeface="Aptos" pitchFamily="34" charset="-122"/>
                <a:cs typeface="Aptos" pitchFamily="34" charset="-120"/>
              </a:rPr>
              <a:t>Scenario: A learner clicks “Submit homework” in StudyHub.</a:t>
            </a:r>
            <a:endParaRPr lang="en-US" sz="2200" dirty="0"/>
          </a:p>
        </p:txBody>
      </p:sp>
      <p:sp>
        <p:nvSpPr>
          <p:cNvPr id="11" name="Shape 8"/>
          <p:cNvSpPr/>
          <p:nvPr/>
        </p:nvSpPr>
        <p:spPr>
          <a:xfrm>
            <a:off x="704088" y="3136392"/>
            <a:ext cx="5157216" cy="1819656"/>
          </a:xfrm>
          <a:prstGeom prst="roundRect">
            <a:avLst>
              <a:gd name="adj" fmla="val 8040"/>
            </a:avLst>
          </a:prstGeom>
          <a:solidFill>
            <a:srgbClr val="FFFFFF"/>
          </a:solidFill>
          <a:ln w="12700">
            <a:solidFill>
              <a:srgbClr val="FFFFFF">
                <a:alpha val="0"/>
              </a:srgbClr>
            </a:solidFill>
            <a:prstDash val="solid"/>
          </a:ln>
        </p:spPr>
      </p:sp>
      <p:sp>
        <p:nvSpPr>
          <p:cNvPr id="12" name="Shape 9"/>
          <p:cNvSpPr/>
          <p:nvPr/>
        </p:nvSpPr>
        <p:spPr>
          <a:xfrm>
            <a:off x="704088" y="3136392"/>
            <a:ext cx="59436" cy="1819656"/>
          </a:xfrm>
          <a:prstGeom prst="rect">
            <a:avLst/>
          </a:prstGeom>
          <a:solidFill>
            <a:srgbClr val="DAA62F"/>
          </a:solidFill>
          <a:ln w="12700">
            <a:solidFill>
              <a:srgbClr val="DAA62F"/>
            </a:solidFill>
            <a:prstDash val="solid"/>
          </a:ln>
        </p:spPr>
      </p:sp>
      <p:sp>
        <p:nvSpPr>
          <p:cNvPr id="13" name="Text 10"/>
          <p:cNvSpPr/>
          <p:nvPr/>
        </p:nvSpPr>
        <p:spPr>
          <a:xfrm>
            <a:off x="923544" y="3310128"/>
            <a:ext cx="4718304" cy="393192"/>
          </a:xfrm>
          <a:prstGeom prst="rect">
            <a:avLst/>
          </a:prstGeom>
          <a:noFill/>
        </p:spPr>
        <p:txBody>
          <a:bodyPr wrap="square" lIns="0" tIns="0" rIns="0" bIns="0" rtlCol="0" anchor="ctr">
            <a:normAutofit/>
          </a:bodyPr>
          <a:lstStyle/>
          <a:p>
            <a:pPr marL="0" indent="0">
              <a:buNone/>
            </a:pPr>
            <a:r>
              <a:rPr lang="en-US" sz="2100" b="1" dirty="0">
                <a:solidFill>
                  <a:srgbClr val="0D2F5F"/>
                </a:solidFill>
                <a:latin typeface="Aptos" pitchFamily="34" charset="0"/>
                <a:ea typeface="Aptos" pitchFamily="34" charset="-122"/>
                <a:cs typeface="Aptos" pitchFamily="34" charset="-120"/>
              </a:rPr>
              <a:t>DRAW</a:t>
            </a:r>
            <a:endParaRPr lang="en-US" sz="2100" dirty="0"/>
          </a:p>
        </p:txBody>
      </p:sp>
      <p:sp>
        <p:nvSpPr>
          <p:cNvPr id="14" name="Text 11"/>
          <p:cNvSpPr/>
          <p:nvPr/>
        </p:nvSpPr>
        <p:spPr>
          <a:xfrm>
            <a:off x="923544" y="3803904"/>
            <a:ext cx="4718304" cy="987552"/>
          </a:xfrm>
          <a:prstGeom prst="rect">
            <a:avLst/>
          </a:prstGeom>
          <a:noFill/>
        </p:spPr>
        <p:txBody>
          <a:bodyPr wrap="square" lIns="0" tIns="0" rIns="0" bIns="0" rtlCol="0" anchor="t">
            <a:normAutofit/>
          </a:bodyPr>
          <a:lstStyle/>
          <a:p>
            <a:pPr marL="0" indent="0">
              <a:buNone/>
            </a:pPr>
            <a:r>
              <a:rPr lang="en-US" sz="1700" dirty="0">
                <a:solidFill>
                  <a:srgbClr val="63738B"/>
                </a:solidFill>
                <a:latin typeface="Aptos" pitchFamily="34" charset="0"/>
                <a:ea typeface="Aptos" pitchFamily="34" charset="-122"/>
                <a:cs typeface="Aptos" pitchFamily="34" charset="-120"/>
              </a:rPr>
              <a:t>Sketch a client, server and database. Add arrows and label the request and response.</a:t>
            </a:r>
            <a:endParaRPr lang="en-US" sz="1700" dirty="0"/>
          </a:p>
        </p:txBody>
      </p:sp>
      <p:sp>
        <p:nvSpPr>
          <p:cNvPr id="15" name="Shape 12"/>
          <p:cNvSpPr/>
          <p:nvPr/>
        </p:nvSpPr>
        <p:spPr>
          <a:xfrm>
            <a:off x="6227064" y="3136392"/>
            <a:ext cx="5157216" cy="1819656"/>
          </a:xfrm>
          <a:prstGeom prst="roundRect">
            <a:avLst>
              <a:gd name="adj" fmla="val 8040"/>
            </a:avLst>
          </a:prstGeom>
          <a:solidFill>
            <a:srgbClr val="FFFFFF"/>
          </a:solidFill>
          <a:ln w="12700">
            <a:solidFill>
              <a:srgbClr val="FFFFFF">
                <a:alpha val="0"/>
              </a:srgbClr>
            </a:solidFill>
            <a:prstDash val="solid"/>
          </a:ln>
        </p:spPr>
      </p:sp>
      <p:sp>
        <p:nvSpPr>
          <p:cNvPr id="16" name="Shape 13"/>
          <p:cNvSpPr/>
          <p:nvPr/>
        </p:nvSpPr>
        <p:spPr>
          <a:xfrm>
            <a:off x="6227064" y="3136392"/>
            <a:ext cx="59436" cy="1819656"/>
          </a:xfrm>
          <a:prstGeom prst="rect">
            <a:avLst/>
          </a:prstGeom>
          <a:solidFill>
            <a:srgbClr val="DAA62F"/>
          </a:solidFill>
          <a:ln w="12700">
            <a:solidFill>
              <a:srgbClr val="DAA62F"/>
            </a:solidFill>
            <a:prstDash val="solid"/>
          </a:ln>
        </p:spPr>
      </p:sp>
      <p:sp>
        <p:nvSpPr>
          <p:cNvPr id="17" name="Text 14"/>
          <p:cNvSpPr/>
          <p:nvPr/>
        </p:nvSpPr>
        <p:spPr>
          <a:xfrm>
            <a:off x="6446520" y="3310128"/>
            <a:ext cx="4718304" cy="393192"/>
          </a:xfrm>
          <a:prstGeom prst="rect">
            <a:avLst/>
          </a:prstGeom>
          <a:noFill/>
        </p:spPr>
        <p:txBody>
          <a:bodyPr wrap="square" lIns="0" tIns="0" rIns="0" bIns="0" rtlCol="0" anchor="ctr">
            <a:normAutofit/>
          </a:bodyPr>
          <a:lstStyle/>
          <a:p>
            <a:pPr marL="0" indent="0">
              <a:buNone/>
            </a:pPr>
            <a:r>
              <a:rPr lang="en-US" sz="2100" b="1" dirty="0">
                <a:solidFill>
                  <a:srgbClr val="0D2F5F"/>
                </a:solidFill>
                <a:latin typeface="Aptos" pitchFamily="34" charset="0"/>
                <a:ea typeface="Aptos" pitchFamily="34" charset="-122"/>
                <a:cs typeface="Aptos" pitchFamily="34" charset="-120"/>
              </a:rPr>
              <a:t>EXPLAIN</a:t>
            </a:r>
            <a:endParaRPr lang="en-US" sz="2100" dirty="0"/>
          </a:p>
        </p:txBody>
      </p:sp>
      <p:sp>
        <p:nvSpPr>
          <p:cNvPr id="18" name="Text 15"/>
          <p:cNvSpPr/>
          <p:nvPr/>
        </p:nvSpPr>
        <p:spPr>
          <a:xfrm>
            <a:off x="6446520" y="3803904"/>
            <a:ext cx="4718304" cy="987552"/>
          </a:xfrm>
          <a:prstGeom prst="rect">
            <a:avLst/>
          </a:prstGeom>
          <a:noFill/>
        </p:spPr>
        <p:txBody>
          <a:bodyPr wrap="square" lIns="0" tIns="0" rIns="0" bIns="0" rtlCol="0" anchor="t">
            <a:normAutofit/>
          </a:bodyPr>
          <a:lstStyle/>
          <a:p>
            <a:pPr marL="0" indent="0">
              <a:buNone/>
            </a:pPr>
            <a:r>
              <a:rPr lang="en-US" sz="1700" dirty="0">
                <a:solidFill>
                  <a:srgbClr val="63738B"/>
                </a:solidFill>
                <a:latin typeface="Aptos" pitchFamily="34" charset="0"/>
                <a:ea typeface="Aptos" pitchFamily="34" charset="-122"/>
                <a:cs typeface="Aptos" pitchFamily="34" charset="-120"/>
              </a:rPr>
              <a:t>What is saved? Which part checks the request? What response does the learner see?</a:t>
            </a:r>
            <a:endParaRPr lang="en-US" sz="1700" dirty="0"/>
          </a:p>
        </p:txBody>
      </p:sp>
      <p:pic>
        <p:nvPicPr>
          <p:cNvPr id="19" name="Image 0" descr="/mnt/data/cwp-logo-primary-transparent.png"/>
          <p:cNvPicPr>
            <a:picLocks noChangeAspect="1"/>
          </p:cNvPicPr>
          <p:nvPr/>
        </p:nvPicPr>
        <p:blipFill>
          <a:blip r:embed="rId1"/>
          <a:stretch>
            <a:fillRect/>
          </a:stretch>
        </p:blipFill>
        <p:spPr>
          <a:xfrm>
            <a:off x="603250" y="6029325"/>
            <a:ext cx="946150" cy="628650"/>
          </a:xfrm>
          <a:prstGeom prst="rect">
            <a:avLst/>
          </a:prstGeom>
        </p:spPr>
      </p:pic>
      <p:sp>
        <p:nvSpPr>
          <p:cNvPr id="20" name="Text 4"/>
          <p:cNvSpPr/>
          <p:nvPr/>
        </p:nvSpPr>
        <p:spPr>
          <a:xfrm>
            <a:off x="9485884" y="6419850"/>
            <a:ext cx="1746504" cy="219456"/>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codewithprof.com</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DAA62F"/>
          </a:solidFill>
          <a:ln w="12700">
            <a:solidFill>
              <a:srgbClr val="DAA62F"/>
            </a:solidFill>
            <a:prstDash val="solid"/>
          </a:ln>
        </p:spPr>
      </p:sp>
      <p:sp>
        <p:nvSpPr>
          <p:cNvPr id="3" name="Text 1"/>
          <p:cNvSpPr/>
          <p:nvPr/>
        </p:nvSpPr>
        <p:spPr>
          <a:xfrm>
            <a:off x="603504" y="292608"/>
            <a:ext cx="9144000" cy="201168"/>
          </a:xfrm>
          <a:prstGeom prst="rect">
            <a:avLst/>
          </a:prstGeom>
          <a:noFill/>
        </p:spPr>
        <p:txBody>
          <a:bodyPr wrap="square" lIns="0" tIns="0" rIns="0" bIns="0" rtlCol="0" anchor="ctr">
            <a:normAutofit/>
          </a:bodyPr>
          <a:lstStyle/>
          <a:p>
            <a:pPr marL="0" indent="0">
              <a:buNone/>
            </a:pPr>
            <a:r>
              <a:rPr lang="en-US" sz="1000" b="1" kern="0" spc="120" dirty="0">
                <a:solidFill>
                  <a:srgbClr val="63738B"/>
                </a:solidFill>
                <a:latin typeface="Aptos" pitchFamily="34" charset="0"/>
                <a:ea typeface="Aptos" pitchFamily="34" charset="-122"/>
                <a:cs typeface="Aptos" pitchFamily="34" charset="-120"/>
              </a:rPr>
              <a:t>WEEK 01 · FULL-STACK JOURNEY</a:t>
            </a:r>
            <a:endParaRPr lang="en-US" sz="1000" dirty="0"/>
          </a:p>
        </p:txBody>
      </p:sp>
      <p:sp>
        <p:nvSpPr>
          <p:cNvPr id="4" name="Text 2"/>
          <p:cNvSpPr/>
          <p:nvPr/>
        </p:nvSpPr>
        <p:spPr>
          <a:xfrm>
            <a:off x="603504" y="676656"/>
            <a:ext cx="10972800" cy="658368"/>
          </a:xfrm>
          <a:prstGeom prst="rect">
            <a:avLst/>
          </a:prstGeom>
          <a:noFill/>
        </p:spPr>
        <p:txBody>
          <a:bodyPr wrap="square" lIns="0" tIns="0" rIns="0" bIns="0" rtlCol="0" anchor="ctr">
            <a:normAutofit/>
          </a:bodyPr>
          <a:lstStyle/>
          <a:p>
            <a:pPr marL="0" indent="0">
              <a:buNone/>
            </a:pPr>
            <a:r>
              <a:rPr lang="en-US" sz="3100" b="1" dirty="0">
                <a:solidFill>
                  <a:srgbClr val="0D2F5F"/>
                </a:solidFill>
                <a:latin typeface="Aptos" pitchFamily="34" charset="0"/>
                <a:ea typeface="Aptos" pitchFamily="34" charset="-122"/>
                <a:cs typeface="Aptos" pitchFamily="34" charset="-120"/>
              </a:rPr>
              <a:t>Exercise B: choose your challenge</a:t>
            </a:r>
            <a:endParaRPr lang="en-US" sz="3100" dirty="0"/>
          </a:p>
        </p:txBody>
      </p:sp>
      <p:sp>
        <p:nvSpPr>
          <p:cNvPr id="5" name="Shape 3"/>
          <p:cNvSpPr/>
          <p:nvPr/>
        </p:nvSpPr>
        <p:spPr>
          <a:xfrm>
            <a:off x="603504" y="1408176"/>
            <a:ext cx="10981944" cy="0"/>
          </a:xfrm>
          <a:prstGeom prst="line">
            <a:avLst/>
          </a:prstGeom>
          <a:noFill/>
          <a:ln w="12700">
            <a:solidFill>
              <a:srgbClr val="DEE5EF"/>
            </a:solidFill>
            <a:prstDash val="solid"/>
            <a:headEnd type="none"/>
            <a:tailEnd type="none"/>
          </a:ln>
        </p:spPr>
      </p:sp>
      <p:sp>
        <p:nvSpPr>
          <p:cNvPr id="8" name="Text 5"/>
          <p:cNvSpPr/>
          <p:nvPr/>
        </p:nvSpPr>
        <p:spPr>
          <a:xfrm>
            <a:off x="11338560" y="6437376"/>
            <a:ext cx="237744" cy="201168"/>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26</a:t>
            </a:r>
            <a:endParaRPr lang="en-US" sz="1000" dirty="0"/>
          </a:p>
        </p:txBody>
      </p:sp>
      <p:sp>
        <p:nvSpPr>
          <p:cNvPr id="9" name="Shape 6"/>
          <p:cNvSpPr/>
          <p:nvPr/>
        </p:nvSpPr>
        <p:spPr>
          <a:xfrm>
            <a:off x="658368" y="1783080"/>
            <a:ext cx="3520440" cy="3328416"/>
          </a:xfrm>
          <a:prstGeom prst="roundRect">
            <a:avLst>
              <a:gd name="adj" fmla="val 4396"/>
            </a:avLst>
          </a:prstGeom>
          <a:solidFill>
            <a:srgbClr val="FFFFFF"/>
          </a:solidFill>
          <a:ln w="12700">
            <a:solidFill>
              <a:srgbClr val="FFFFFF">
                <a:alpha val="0"/>
              </a:srgbClr>
            </a:solidFill>
            <a:prstDash val="solid"/>
          </a:ln>
        </p:spPr>
      </p:sp>
      <p:sp>
        <p:nvSpPr>
          <p:cNvPr id="10" name="Shape 7"/>
          <p:cNvSpPr/>
          <p:nvPr/>
        </p:nvSpPr>
        <p:spPr>
          <a:xfrm>
            <a:off x="658368" y="1783080"/>
            <a:ext cx="59436" cy="3328416"/>
          </a:xfrm>
          <a:prstGeom prst="rect">
            <a:avLst/>
          </a:prstGeom>
          <a:solidFill>
            <a:srgbClr val="DAA62F"/>
          </a:solidFill>
          <a:ln w="12700">
            <a:solidFill>
              <a:srgbClr val="DAA62F"/>
            </a:solidFill>
            <a:prstDash val="solid"/>
          </a:ln>
        </p:spPr>
      </p:sp>
      <p:sp>
        <p:nvSpPr>
          <p:cNvPr id="11" name="Text 8"/>
          <p:cNvSpPr/>
          <p:nvPr/>
        </p:nvSpPr>
        <p:spPr>
          <a:xfrm>
            <a:off x="877824" y="1956816"/>
            <a:ext cx="3081528" cy="393192"/>
          </a:xfrm>
          <a:prstGeom prst="rect">
            <a:avLst/>
          </a:prstGeom>
          <a:noFill/>
        </p:spPr>
        <p:txBody>
          <a:bodyPr wrap="square" lIns="0" tIns="0" rIns="0" bIns="0" rtlCol="0" anchor="ctr">
            <a:normAutofit/>
          </a:bodyPr>
          <a:lstStyle/>
          <a:p>
            <a:pPr marL="0" indent="0">
              <a:buNone/>
            </a:pPr>
            <a:r>
              <a:rPr lang="en-US" sz="2100" b="1" dirty="0">
                <a:solidFill>
                  <a:srgbClr val="0D2F5F"/>
                </a:solidFill>
                <a:latin typeface="Aptos" pitchFamily="34" charset="0"/>
                <a:ea typeface="Aptos" pitchFamily="34" charset="-122"/>
                <a:cs typeface="Aptos" pitchFamily="34" charset="-120"/>
              </a:rPr>
              <a:t>EXPLORERS</a:t>
            </a:r>
            <a:endParaRPr lang="en-US" sz="2100" dirty="0"/>
          </a:p>
        </p:txBody>
      </p:sp>
      <p:sp>
        <p:nvSpPr>
          <p:cNvPr id="12" name="Text 9"/>
          <p:cNvSpPr/>
          <p:nvPr/>
        </p:nvSpPr>
        <p:spPr>
          <a:xfrm>
            <a:off x="877824" y="2450592"/>
            <a:ext cx="3081528" cy="2496312"/>
          </a:xfrm>
          <a:prstGeom prst="rect">
            <a:avLst/>
          </a:prstGeom>
          <a:noFill/>
        </p:spPr>
        <p:txBody>
          <a:bodyPr wrap="square" lIns="0" tIns="0" rIns="0" bIns="0" rtlCol="0" anchor="t">
            <a:normAutofit/>
          </a:bodyPr>
          <a:lstStyle/>
          <a:p>
            <a:pPr marL="0" indent="0">
              <a:buNone/>
            </a:pPr>
            <a:r>
              <a:rPr lang="en-US" sz="1800" dirty="0">
                <a:solidFill>
                  <a:srgbClr val="63738B"/>
                </a:solidFill>
                <a:latin typeface="Aptos" pitchFamily="34" charset="0"/>
                <a:ea typeface="Aptos" pitchFamily="34" charset="-122"/>
                <a:cs typeface="Aptos" pitchFamily="34" charset="-120"/>
              </a:rPr>
              <a:t>1. Draw how a web page arrives.</a:t>
            </a:r>
            <a:endParaRPr lang="en-US" sz="1800" dirty="0"/>
          </a:p>
          <a:p>
            <a:pPr marL="0" indent="0">
              <a:buNone/>
            </a:pPr>
            <a:endParaRPr lang="en-US" sz="1800" dirty="0"/>
          </a:p>
          <a:p>
            <a:pPr marL="0" indent="0">
              <a:buNone/>
            </a:pPr>
            <a:r>
              <a:rPr lang="en-US" sz="1800" dirty="0">
                <a:solidFill>
                  <a:srgbClr val="63738B"/>
                </a:solidFill>
                <a:latin typeface="Aptos" pitchFamily="34" charset="0"/>
                <a:ea typeface="Aptos" pitchFamily="34" charset="-122"/>
                <a:cs typeface="Aptos" pitchFamily="34" charset="-120"/>
              </a:rPr>
              <a:t>2. Name three technology roles.</a:t>
            </a:r>
            <a:endParaRPr lang="en-US" sz="1800" dirty="0"/>
          </a:p>
          <a:p>
            <a:pPr marL="0" indent="0">
              <a:buNone/>
            </a:pPr>
            <a:endParaRPr lang="en-US" sz="1800" dirty="0"/>
          </a:p>
          <a:p>
            <a:pPr marL="0" indent="0">
              <a:buNone/>
            </a:pPr>
            <a:r>
              <a:rPr lang="en-US" sz="1800" dirty="0">
                <a:solidFill>
                  <a:srgbClr val="63738B"/>
                </a:solidFill>
                <a:latin typeface="Aptos" pitchFamily="34" charset="0"/>
                <a:ea typeface="Aptos" pitchFamily="34" charset="-122"/>
                <a:cs typeface="Aptos" pitchFamily="34" charset="-120"/>
              </a:rPr>
              <a:t>3. Spot two online safety risks.</a:t>
            </a:r>
            <a:endParaRPr lang="en-US" sz="1800" dirty="0"/>
          </a:p>
        </p:txBody>
      </p:sp>
      <p:sp>
        <p:nvSpPr>
          <p:cNvPr id="13" name="Shape 10"/>
          <p:cNvSpPr/>
          <p:nvPr/>
        </p:nvSpPr>
        <p:spPr>
          <a:xfrm>
            <a:off x="4334256" y="1783080"/>
            <a:ext cx="3520440" cy="3328416"/>
          </a:xfrm>
          <a:prstGeom prst="roundRect">
            <a:avLst>
              <a:gd name="adj" fmla="val 4396"/>
            </a:avLst>
          </a:prstGeom>
          <a:solidFill>
            <a:srgbClr val="FFFFFF"/>
          </a:solidFill>
          <a:ln w="12700">
            <a:solidFill>
              <a:srgbClr val="FFFFFF">
                <a:alpha val="0"/>
              </a:srgbClr>
            </a:solidFill>
            <a:prstDash val="solid"/>
          </a:ln>
        </p:spPr>
      </p:sp>
      <p:sp>
        <p:nvSpPr>
          <p:cNvPr id="14" name="Shape 11"/>
          <p:cNvSpPr/>
          <p:nvPr/>
        </p:nvSpPr>
        <p:spPr>
          <a:xfrm>
            <a:off x="4334256" y="1783080"/>
            <a:ext cx="59436" cy="3328416"/>
          </a:xfrm>
          <a:prstGeom prst="rect">
            <a:avLst/>
          </a:prstGeom>
          <a:solidFill>
            <a:srgbClr val="DAA62F"/>
          </a:solidFill>
          <a:ln w="12700">
            <a:solidFill>
              <a:srgbClr val="DAA62F"/>
            </a:solidFill>
            <a:prstDash val="solid"/>
          </a:ln>
        </p:spPr>
      </p:sp>
      <p:sp>
        <p:nvSpPr>
          <p:cNvPr id="15" name="Text 12"/>
          <p:cNvSpPr/>
          <p:nvPr/>
        </p:nvSpPr>
        <p:spPr>
          <a:xfrm>
            <a:off x="4553712" y="1956816"/>
            <a:ext cx="3081528" cy="393192"/>
          </a:xfrm>
          <a:prstGeom prst="rect">
            <a:avLst/>
          </a:prstGeom>
          <a:noFill/>
        </p:spPr>
        <p:txBody>
          <a:bodyPr wrap="square" lIns="0" tIns="0" rIns="0" bIns="0" rtlCol="0" anchor="ctr">
            <a:normAutofit/>
          </a:bodyPr>
          <a:lstStyle/>
          <a:p>
            <a:pPr marL="0" indent="0">
              <a:buNone/>
            </a:pPr>
            <a:r>
              <a:rPr lang="en-US" sz="2100" b="1" dirty="0">
                <a:solidFill>
                  <a:srgbClr val="0D2F5F"/>
                </a:solidFill>
                <a:latin typeface="Aptos" pitchFamily="34" charset="0"/>
                <a:ea typeface="Aptos" pitchFamily="34" charset="-122"/>
                <a:cs typeface="Aptos" pitchFamily="34" charset="-120"/>
              </a:rPr>
              <a:t>BUILDERS</a:t>
            </a:r>
            <a:endParaRPr lang="en-US" sz="2100" dirty="0"/>
          </a:p>
        </p:txBody>
      </p:sp>
      <p:sp>
        <p:nvSpPr>
          <p:cNvPr id="16" name="Text 13"/>
          <p:cNvSpPr/>
          <p:nvPr/>
        </p:nvSpPr>
        <p:spPr>
          <a:xfrm>
            <a:off x="4553712" y="2450592"/>
            <a:ext cx="3081528" cy="2496312"/>
          </a:xfrm>
          <a:prstGeom prst="rect">
            <a:avLst/>
          </a:prstGeom>
          <a:noFill/>
        </p:spPr>
        <p:txBody>
          <a:bodyPr wrap="square" lIns="0" tIns="0" rIns="0" bIns="0" rtlCol="0" anchor="t">
            <a:normAutofit/>
          </a:bodyPr>
          <a:lstStyle/>
          <a:p>
            <a:pPr marL="0" indent="0">
              <a:buNone/>
            </a:pPr>
            <a:r>
              <a:rPr lang="en-US" sz="1800" dirty="0">
                <a:solidFill>
                  <a:srgbClr val="63738B"/>
                </a:solidFill>
                <a:latin typeface="Aptos" pitchFamily="34" charset="0"/>
                <a:ea typeface="Aptos" pitchFamily="34" charset="-122"/>
                <a:cs typeface="Aptos" pitchFamily="34" charset="-120"/>
              </a:rPr>
              <a:t>1. Run nslookup example.com.</a:t>
            </a:r>
            <a:endParaRPr lang="en-US" sz="1800" dirty="0"/>
          </a:p>
          <a:p>
            <a:pPr marL="0" indent="0">
              <a:buNone/>
            </a:pPr>
            <a:endParaRPr lang="en-US" sz="1800" dirty="0"/>
          </a:p>
          <a:p>
            <a:pPr marL="0" indent="0">
              <a:buNone/>
            </a:pPr>
            <a:r>
              <a:rPr lang="en-US" sz="1800" dirty="0">
                <a:solidFill>
                  <a:srgbClr val="63738B"/>
                </a:solidFill>
                <a:latin typeface="Aptos" pitchFamily="34" charset="0"/>
                <a:ea typeface="Aptos" pitchFamily="34" charset="-122"/>
                <a:cs typeface="Aptos" pitchFamily="34" charset="-120"/>
              </a:rPr>
              <a:t>2. Inspect a web request in DevTools.</a:t>
            </a:r>
            <a:endParaRPr lang="en-US" sz="1800" dirty="0"/>
          </a:p>
          <a:p>
            <a:pPr marL="0" indent="0">
              <a:buNone/>
            </a:pPr>
            <a:endParaRPr lang="en-US" sz="1800" dirty="0"/>
          </a:p>
          <a:p>
            <a:pPr marL="0" indent="0">
              <a:buNone/>
            </a:pPr>
            <a:r>
              <a:rPr lang="en-US" sz="1800" dirty="0">
                <a:solidFill>
                  <a:srgbClr val="63738B"/>
                </a:solidFill>
                <a:latin typeface="Aptos" pitchFamily="34" charset="0"/>
                <a:ea typeface="Aptos" pitchFamily="34" charset="-122"/>
                <a:cs typeface="Aptos" pitchFamily="34" charset="-120"/>
              </a:rPr>
              <a:t>3. Match methods to actions.</a:t>
            </a:r>
            <a:endParaRPr lang="en-US" sz="1800" dirty="0"/>
          </a:p>
        </p:txBody>
      </p:sp>
      <p:sp>
        <p:nvSpPr>
          <p:cNvPr id="17" name="Shape 14"/>
          <p:cNvSpPr/>
          <p:nvPr/>
        </p:nvSpPr>
        <p:spPr>
          <a:xfrm>
            <a:off x="8010144" y="1783080"/>
            <a:ext cx="3520440" cy="3328416"/>
          </a:xfrm>
          <a:prstGeom prst="roundRect">
            <a:avLst>
              <a:gd name="adj" fmla="val 4396"/>
            </a:avLst>
          </a:prstGeom>
          <a:solidFill>
            <a:srgbClr val="FFFFFF"/>
          </a:solidFill>
          <a:ln w="12700">
            <a:solidFill>
              <a:srgbClr val="FFFFFF">
                <a:alpha val="0"/>
              </a:srgbClr>
            </a:solidFill>
            <a:prstDash val="solid"/>
          </a:ln>
        </p:spPr>
      </p:sp>
      <p:sp>
        <p:nvSpPr>
          <p:cNvPr id="18" name="Shape 15"/>
          <p:cNvSpPr/>
          <p:nvPr/>
        </p:nvSpPr>
        <p:spPr>
          <a:xfrm>
            <a:off x="8010144" y="1783080"/>
            <a:ext cx="59436" cy="3328416"/>
          </a:xfrm>
          <a:prstGeom prst="rect">
            <a:avLst/>
          </a:prstGeom>
          <a:solidFill>
            <a:srgbClr val="DAA62F"/>
          </a:solidFill>
          <a:ln w="12700">
            <a:solidFill>
              <a:srgbClr val="DAA62F"/>
            </a:solidFill>
            <a:prstDash val="solid"/>
          </a:ln>
        </p:spPr>
      </p:sp>
      <p:sp>
        <p:nvSpPr>
          <p:cNvPr id="19" name="Text 16"/>
          <p:cNvSpPr/>
          <p:nvPr/>
        </p:nvSpPr>
        <p:spPr>
          <a:xfrm>
            <a:off x="8229600" y="1956816"/>
            <a:ext cx="3081528" cy="393192"/>
          </a:xfrm>
          <a:prstGeom prst="rect">
            <a:avLst/>
          </a:prstGeom>
          <a:noFill/>
        </p:spPr>
        <p:txBody>
          <a:bodyPr wrap="square" lIns="0" tIns="0" rIns="0" bIns="0" rtlCol="0" anchor="ctr">
            <a:normAutofit/>
          </a:bodyPr>
          <a:lstStyle/>
          <a:p>
            <a:pPr marL="0" indent="0">
              <a:buNone/>
            </a:pPr>
            <a:r>
              <a:rPr lang="en-US" sz="2100" b="1" dirty="0">
                <a:solidFill>
                  <a:srgbClr val="0D2F5F"/>
                </a:solidFill>
                <a:latin typeface="Aptos" pitchFamily="34" charset="0"/>
                <a:ea typeface="Aptos" pitchFamily="34" charset="-122"/>
                <a:cs typeface="Aptos" pitchFamily="34" charset="-120"/>
              </a:rPr>
              <a:t>CAREER LAUNCH</a:t>
            </a:r>
            <a:endParaRPr lang="en-US" sz="2100" dirty="0"/>
          </a:p>
        </p:txBody>
      </p:sp>
      <p:sp>
        <p:nvSpPr>
          <p:cNvPr id="20" name="Text 17"/>
          <p:cNvSpPr/>
          <p:nvPr/>
        </p:nvSpPr>
        <p:spPr>
          <a:xfrm>
            <a:off x="8229600" y="2450592"/>
            <a:ext cx="3081528" cy="2496312"/>
          </a:xfrm>
          <a:prstGeom prst="rect">
            <a:avLst/>
          </a:prstGeom>
          <a:noFill/>
        </p:spPr>
        <p:txBody>
          <a:bodyPr wrap="square" lIns="0" tIns="0" rIns="0" bIns="0" rtlCol="0" anchor="t">
            <a:normAutofit/>
          </a:bodyPr>
          <a:lstStyle/>
          <a:p>
            <a:pPr marL="0" indent="0">
              <a:buNone/>
            </a:pPr>
            <a:r>
              <a:rPr lang="en-US" sz="1800" dirty="0">
                <a:solidFill>
                  <a:srgbClr val="63738B"/>
                </a:solidFill>
                <a:latin typeface="Aptos" pitchFamily="34" charset="0"/>
                <a:ea typeface="Aptos" pitchFamily="34" charset="-122"/>
                <a:cs typeface="Aptos" pitchFamily="34" charset="-120"/>
              </a:rPr>
              <a:t>1. Inspect curl response headers.</a:t>
            </a:r>
            <a:endParaRPr lang="en-US" sz="1800" dirty="0"/>
          </a:p>
          <a:p>
            <a:pPr marL="0" indent="0">
              <a:buNone/>
            </a:pPr>
            <a:endParaRPr lang="en-US" sz="1800" dirty="0"/>
          </a:p>
          <a:p>
            <a:pPr marL="0" indent="0">
              <a:buNone/>
            </a:pPr>
            <a:r>
              <a:rPr lang="en-US" sz="1800" dirty="0">
                <a:solidFill>
                  <a:srgbClr val="63738B"/>
                </a:solidFill>
                <a:latin typeface="Aptos" pitchFamily="34" charset="0"/>
                <a:ea typeface="Aptos" pitchFamily="34" charset="-122"/>
                <a:cs typeface="Aptos" pitchFamily="34" charset="-120"/>
              </a:rPr>
              <a:t>2. Map CDN, load balancer, APIs and DB.</a:t>
            </a:r>
            <a:endParaRPr lang="en-US" sz="1800" dirty="0"/>
          </a:p>
          <a:p>
            <a:pPr marL="0" indent="0">
              <a:buNone/>
            </a:pPr>
            <a:endParaRPr lang="en-US" sz="1800" dirty="0"/>
          </a:p>
          <a:p>
            <a:pPr marL="0" indent="0">
              <a:buNone/>
            </a:pPr>
            <a:r>
              <a:rPr lang="en-US" sz="1800" dirty="0">
                <a:solidFill>
                  <a:srgbClr val="63738B"/>
                </a:solidFill>
                <a:latin typeface="Aptos" pitchFamily="34" charset="0"/>
                <a:ea typeface="Aptos" pitchFamily="34" charset="-122"/>
                <a:cs typeface="Aptos" pitchFamily="34" charset="-120"/>
              </a:rPr>
              <a:t>3. Describe one failure mode.</a:t>
            </a:r>
            <a:endParaRPr lang="en-US" sz="1800" dirty="0"/>
          </a:p>
        </p:txBody>
      </p:sp>
      <p:pic>
        <p:nvPicPr>
          <p:cNvPr id="21" name="Image 0" descr="/mnt/data/cwp-logo-primary-transparent.png"/>
          <p:cNvPicPr>
            <a:picLocks noChangeAspect="1"/>
          </p:cNvPicPr>
          <p:nvPr/>
        </p:nvPicPr>
        <p:blipFill>
          <a:blip r:embed="rId1"/>
          <a:stretch>
            <a:fillRect/>
          </a:stretch>
        </p:blipFill>
        <p:spPr>
          <a:xfrm>
            <a:off x="603250" y="6029325"/>
            <a:ext cx="946150" cy="628650"/>
          </a:xfrm>
          <a:prstGeom prst="rect">
            <a:avLst/>
          </a:prstGeom>
        </p:spPr>
      </p:pic>
      <p:sp>
        <p:nvSpPr>
          <p:cNvPr id="22" name="Text 4"/>
          <p:cNvSpPr/>
          <p:nvPr/>
        </p:nvSpPr>
        <p:spPr>
          <a:xfrm>
            <a:off x="9485884" y="6419850"/>
            <a:ext cx="1746504" cy="219456"/>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codewithprof.com</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DAA62F"/>
          </a:solidFill>
          <a:ln w="12700">
            <a:solidFill>
              <a:srgbClr val="DAA62F"/>
            </a:solidFill>
            <a:prstDash val="solid"/>
          </a:ln>
        </p:spPr>
      </p:sp>
      <p:sp>
        <p:nvSpPr>
          <p:cNvPr id="3" name="Text 1"/>
          <p:cNvSpPr/>
          <p:nvPr/>
        </p:nvSpPr>
        <p:spPr>
          <a:xfrm>
            <a:off x="603504" y="292608"/>
            <a:ext cx="9144000" cy="201168"/>
          </a:xfrm>
          <a:prstGeom prst="rect">
            <a:avLst/>
          </a:prstGeom>
          <a:noFill/>
        </p:spPr>
        <p:txBody>
          <a:bodyPr wrap="square" lIns="0" tIns="0" rIns="0" bIns="0" rtlCol="0" anchor="ctr">
            <a:normAutofit/>
          </a:bodyPr>
          <a:lstStyle/>
          <a:p>
            <a:pPr marL="0" indent="0">
              <a:buNone/>
            </a:pPr>
            <a:r>
              <a:rPr lang="en-US" sz="1000" b="1" kern="0" spc="120" dirty="0">
                <a:solidFill>
                  <a:srgbClr val="63738B"/>
                </a:solidFill>
                <a:latin typeface="Aptos" pitchFamily="34" charset="0"/>
                <a:ea typeface="Aptos" pitchFamily="34" charset="-122"/>
                <a:cs typeface="Aptos" pitchFamily="34" charset="-120"/>
              </a:rPr>
              <a:t>WEEK 01 · FULL-STACK JOURNEY</a:t>
            </a:r>
            <a:endParaRPr lang="en-US" sz="1000" dirty="0"/>
          </a:p>
        </p:txBody>
      </p:sp>
      <p:sp>
        <p:nvSpPr>
          <p:cNvPr id="4" name="Text 2"/>
          <p:cNvSpPr/>
          <p:nvPr/>
        </p:nvSpPr>
        <p:spPr>
          <a:xfrm>
            <a:off x="603504" y="676656"/>
            <a:ext cx="10972800" cy="658368"/>
          </a:xfrm>
          <a:prstGeom prst="rect">
            <a:avLst/>
          </a:prstGeom>
          <a:noFill/>
        </p:spPr>
        <p:txBody>
          <a:bodyPr wrap="square" lIns="0" tIns="0" rIns="0" bIns="0" rtlCol="0" anchor="ctr">
            <a:normAutofit/>
          </a:bodyPr>
          <a:lstStyle/>
          <a:p>
            <a:pPr marL="0" indent="0">
              <a:buNone/>
            </a:pPr>
            <a:r>
              <a:rPr lang="en-US" sz="3100" b="1" dirty="0">
                <a:solidFill>
                  <a:srgbClr val="0D2F5F"/>
                </a:solidFill>
                <a:latin typeface="Aptos" pitchFamily="34" charset="0"/>
                <a:ea typeface="Aptos" pitchFamily="34" charset="-122"/>
                <a:cs typeface="Aptos" pitchFamily="34" charset="-120"/>
              </a:rPr>
              <a:t>Knowledge check: can you explain it?</a:t>
            </a:r>
            <a:endParaRPr lang="en-US" sz="3100" dirty="0"/>
          </a:p>
        </p:txBody>
      </p:sp>
      <p:sp>
        <p:nvSpPr>
          <p:cNvPr id="5" name="Shape 3"/>
          <p:cNvSpPr/>
          <p:nvPr/>
        </p:nvSpPr>
        <p:spPr>
          <a:xfrm>
            <a:off x="603504" y="1408176"/>
            <a:ext cx="10981944" cy="0"/>
          </a:xfrm>
          <a:prstGeom prst="line">
            <a:avLst/>
          </a:prstGeom>
          <a:noFill/>
          <a:ln w="12700">
            <a:solidFill>
              <a:srgbClr val="DEE5EF"/>
            </a:solidFill>
            <a:prstDash val="solid"/>
            <a:headEnd type="none"/>
            <a:tailEnd type="none"/>
          </a:ln>
        </p:spPr>
      </p:sp>
      <p:sp>
        <p:nvSpPr>
          <p:cNvPr id="8" name="Text 5"/>
          <p:cNvSpPr/>
          <p:nvPr/>
        </p:nvSpPr>
        <p:spPr>
          <a:xfrm>
            <a:off x="11338560" y="6437376"/>
            <a:ext cx="237744" cy="201168"/>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27</a:t>
            </a:r>
            <a:endParaRPr lang="en-US" sz="1000" dirty="0"/>
          </a:p>
        </p:txBody>
      </p:sp>
      <p:sp>
        <p:nvSpPr>
          <p:cNvPr id="9" name="Shape 6"/>
          <p:cNvSpPr/>
          <p:nvPr/>
        </p:nvSpPr>
        <p:spPr>
          <a:xfrm>
            <a:off x="758952" y="1691640"/>
            <a:ext cx="10680192" cy="658368"/>
          </a:xfrm>
          <a:prstGeom prst="roundRect">
            <a:avLst>
              <a:gd name="adj" fmla="val 22222"/>
            </a:avLst>
          </a:prstGeom>
          <a:solidFill>
            <a:srgbClr val="EAF0F7"/>
          </a:solidFill>
          <a:ln w="12700">
            <a:solidFill>
              <a:srgbClr val="EAF0F7">
                <a:alpha val="0"/>
              </a:srgbClr>
            </a:solidFill>
            <a:prstDash val="solid"/>
          </a:ln>
        </p:spPr>
      </p:sp>
      <p:sp>
        <p:nvSpPr>
          <p:cNvPr id="10" name="Text 7"/>
          <p:cNvSpPr/>
          <p:nvPr/>
        </p:nvSpPr>
        <p:spPr>
          <a:xfrm>
            <a:off x="960120" y="1837944"/>
            <a:ext cx="10241280" cy="356616"/>
          </a:xfrm>
          <a:prstGeom prst="rect">
            <a:avLst/>
          </a:prstGeom>
          <a:noFill/>
        </p:spPr>
        <p:txBody>
          <a:bodyPr wrap="square" lIns="0" tIns="0" rIns="0" bIns="0" rtlCol="0" anchor="ctr">
            <a:normAutofit/>
          </a:bodyPr>
          <a:lstStyle/>
          <a:p>
            <a:pPr marL="0" indent="0">
              <a:buNone/>
            </a:pPr>
            <a:r>
              <a:rPr lang="en-US" sz="1800" dirty="0">
                <a:solidFill>
                  <a:srgbClr val="0D2F5F"/>
                </a:solidFill>
                <a:latin typeface="Aptos" pitchFamily="34" charset="0"/>
                <a:ea typeface="Aptos" pitchFamily="34" charset="-122"/>
                <a:cs typeface="Aptos" pitchFamily="34" charset="-120"/>
              </a:rPr>
              <a:t>1. What is the difference between the internet and the web?</a:t>
            </a:r>
            <a:endParaRPr lang="en-US" sz="1800" dirty="0"/>
          </a:p>
        </p:txBody>
      </p:sp>
      <p:sp>
        <p:nvSpPr>
          <p:cNvPr id="11" name="Shape 8"/>
          <p:cNvSpPr/>
          <p:nvPr/>
        </p:nvSpPr>
        <p:spPr>
          <a:xfrm>
            <a:off x="758952" y="2514600"/>
            <a:ext cx="10680192" cy="658368"/>
          </a:xfrm>
          <a:prstGeom prst="roundRect">
            <a:avLst>
              <a:gd name="adj" fmla="val 22222"/>
            </a:avLst>
          </a:prstGeom>
          <a:solidFill>
            <a:srgbClr val="FFFFFF"/>
          </a:solidFill>
          <a:ln w="12700">
            <a:solidFill>
              <a:srgbClr val="FFFFFF">
                <a:alpha val="0"/>
              </a:srgbClr>
            </a:solidFill>
            <a:prstDash val="solid"/>
          </a:ln>
        </p:spPr>
      </p:sp>
      <p:sp>
        <p:nvSpPr>
          <p:cNvPr id="12" name="Text 9"/>
          <p:cNvSpPr/>
          <p:nvPr/>
        </p:nvSpPr>
        <p:spPr>
          <a:xfrm>
            <a:off x="960120" y="2660904"/>
            <a:ext cx="10241280" cy="356616"/>
          </a:xfrm>
          <a:prstGeom prst="rect">
            <a:avLst/>
          </a:prstGeom>
          <a:noFill/>
        </p:spPr>
        <p:txBody>
          <a:bodyPr wrap="square" lIns="0" tIns="0" rIns="0" bIns="0" rtlCol="0" anchor="ctr">
            <a:normAutofit/>
          </a:bodyPr>
          <a:lstStyle/>
          <a:p>
            <a:pPr marL="0" indent="0">
              <a:buNone/>
            </a:pPr>
            <a:r>
              <a:rPr lang="en-US" sz="1800" dirty="0">
                <a:solidFill>
                  <a:srgbClr val="0D2F5F"/>
                </a:solidFill>
                <a:latin typeface="Aptos" pitchFamily="34" charset="0"/>
                <a:ea typeface="Aptos" pitchFamily="34" charset="-122"/>
                <a:cs typeface="Aptos" pitchFamily="34" charset="-120"/>
              </a:rPr>
              <a:t>2. What does a DNS lookup provide?</a:t>
            </a:r>
            <a:endParaRPr lang="en-US" sz="1800" dirty="0"/>
          </a:p>
        </p:txBody>
      </p:sp>
      <p:sp>
        <p:nvSpPr>
          <p:cNvPr id="13" name="Shape 10"/>
          <p:cNvSpPr/>
          <p:nvPr/>
        </p:nvSpPr>
        <p:spPr>
          <a:xfrm>
            <a:off x="758952" y="3337560"/>
            <a:ext cx="10680192" cy="658368"/>
          </a:xfrm>
          <a:prstGeom prst="roundRect">
            <a:avLst>
              <a:gd name="adj" fmla="val 22222"/>
            </a:avLst>
          </a:prstGeom>
          <a:solidFill>
            <a:srgbClr val="EAF0F7"/>
          </a:solidFill>
          <a:ln w="12700">
            <a:solidFill>
              <a:srgbClr val="EAF0F7">
                <a:alpha val="0"/>
              </a:srgbClr>
            </a:solidFill>
            <a:prstDash val="solid"/>
          </a:ln>
        </p:spPr>
      </p:sp>
      <p:sp>
        <p:nvSpPr>
          <p:cNvPr id="14" name="Text 11"/>
          <p:cNvSpPr/>
          <p:nvPr/>
        </p:nvSpPr>
        <p:spPr>
          <a:xfrm>
            <a:off x="960120" y="3483864"/>
            <a:ext cx="10241280" cy="356616"/>
          </a:xfrm>
          <a:prstGeom prst="rect">
            <a:avLst/>
          </a:prstGeom>
          <a:noFill/>
        </p:spPr>
        <p:txBody>
          <a:bodyPr wrap="square" lIns="0" tIns="0" rIns="0" bIns="0" rtlCol="0" anchor="ctr">
            <a:normAutofit/>
          </a:bodyPr>
          <a:lstStyle/>
          <a:p>
            <a:pPr marL="0" indent="0">
              <a:buNone/>
            </a:pPr>
            <a:r>
              <a:rPr lang="en-US" sz="1800" b="1" dirty="0">
                <a:solidFill>
                  <a:srgbClr val="0D2F5F"/>
                </a:solidFill>
                <a:latin typeface="Aptos" pitchFamily="34" charset="0"/>
                <a:ea typeface="Aptos" pitchFamily="34" charset="-122"/>
                <a:cs typeface="Aptos" pitchFamily="34" charset="-120"/>
              </a:rPr>
              <a:t>3. Who sends an HTTP request: the browser or the server?</a:t>
            </a:r>
            <a:endParaRPr lang="en-US" sz="1800" dirty="0"/>
          </a:p>
        </p:txBody>
      </p:sp>
      <p:sp>
        <p:nvSpPr>
          <p:cNvPr id="15" name="Shape 12"/>
          <p:cNvSpPr/>
          <p:nvPr/>
        </p:nvSpPr>
        <p:spPr>
          <a:xfrm>
            <a:off x="758952" y="4160520"/>
            <a:ext cx="10680192" cy="658368"/>
          </a:xfrm>
          <a:prstGeom prst="roundRect">
            <a:avLst>
              <a:gd name="adj" fmla="val 22222"/>
            </a:avLst>
          </a:prstGeom>
          <a:solidFill>
            <a:srgbClr val="FFFFFF"/>
          </a:solidFill>
          <a:ln w="12700">
            <a:solidFill>
              <a:srgbClr val="FFFFFF">
                <a:alpha val="0"/>
              </a:srgbClr>
            </a:solidFill>
            <a:prstDash val="solid"/>
          </a:ln>
        </p:spPr>
      </p:sp>
      <p:sp>
        <p:nvSpPr>
          <p:cNvPr id="16" name="Text 13"/>
          <p:cNvSpPr/>
          <p:nvPr/>
        </p:nvSpPr>
        <p:spPr>
          <a:xfrm>
            <a:off x="960120" y="4306824"/>
            <a:ext cx="10241280" cy="356616"/>
          </a:xfrm>
          <a:prstGeom prst="rect">
            <a:avLst/>
          </a:prstGeom>
          <a:noFill/>
        </p:spPr>
        <p:txBody>
          <a:bodyPr wrap="square" lIns="0" tIns="0" rIns="0" bIns="0" rtlCol="0" anchor="ctr">
            <a:normAutofit/>
          </a:bodyPr>
          <a:lstStyle/>
          <a:p>
            <a:pPr marL="0" indent="0">
              <a:buNone/>
            </a:pPr>
            <a:r>
              <a:rPr lang="en-US" sz="1800" dirty="0">
                <a:solidFill>
                  <a:srgbClr val="0D2F5F"/>
                </a:solidFill>
                <a:latin typeface="Aptos" pitchFamily="34" charset="0"/>
                <a:ea typeface="Aptos" pitchFamily="34" charset="-122"/>
                <a:cs typeface="Aptos" pitchFamily="34" charset="-120"/>
              </a:rPr>
              <a:t>4. What is the difference between HTTP and HTTPS?</a:t>
            </a:r>
            <a:endParaRPr lang="en-US" sz="1800" dirty="0"/>
          </a:p>
        </p:txBody>
      </p:sp>
      <p:sp>
        <p:nvSpPr>
          <p:cNvPr id="17" name="Shape 14"/>
          <p:cNvSpPr/>
          <p:nvPr/>
        </p:nvSpPr>
        <p:spPr>
          <a:xfrm>
            <a:off x="758952" y="4983480"/>
            <a:ext cx="10680192" cy="658368"/>
          </a:xfrm>
          <a:prstGeom prst="roundRect">
            <a:avLst>
              <a:gd name="adj" fmla="val 22222"/>
            </a:avLst>
          </a:prstGeom>
          <a:solidFill>
            <a:srgbClr val="EAF0F7"/>
          </a:solidFill>
          <a:ln w="12700">
            <a:solidFill>
              <a:srgbClr val="EAF0F7">
                <a:alpha val="0"/>
              </a:srgbClr>
            </a:solidFill>
            <a:prstDash val="solid"/>
          </a:ln>
        </p:spPr>
      </p:sp>
      <p:sp>
        <p:nvSpPr>
          <p:cNvPr id="18" name="Text 15"/>
          <p:cNvSpPr/>
          <p:nvPr/>
        </p:nvSpPr>
        <p:spPr>
          <a:xfrm>
            <a:off x="960120" y="5129784"/>
            <a:ext cx="10241280" cy="356616"/>
          </a:xfrm>
          <a:prstGeom prst="rect">
            <a:avLst/>
          </a:prstGeom>
          <a:noFill/>
        </p:spPr>
        <p:txBody>
          <a:bodyPr wrap="square" lIns="0" tIns="0" rIns="0" bIns="0" rtlCol="0" anchor="ctr">
            <a:normAutofit/>
          </a:bodyPr>
          <a:lstStyle/>
          <a:p>
            <a:pPr marL="0" indent="0">
              <a:buNone/>
            </a:pPr>
            <a:r>
              <a:rPr lang="en-US" sz="1800" dirty="0">
                <a:solidFill>
                  <a:srgbClr val="0D2F5F"/>
                </a:solidFill>
                <a:latin typeface="Aptos" pitchFamily="34" charset="0"/>
                <a:ea typeface="Aptos" pitchFamily="34" charset="-122"/>
                <a:cs typeface="Aptos" pitchFamily="34" charset="-120"/>
              </a:rPr>
              <a:t>5. What does a 404 response usually mean?</a:t>
            </a:r>
            <a:endParaRPr lang="en-US" sz="1800" dirty="0"/>
          </a:p>
        </p:txBody>
      </p:sp>
      <p:pic>
        <p:nvPicPr>
          <p:cNvPr id="19" name="Image 0" descr="/mnt/data/cwp-logo-primary-transparent.png"/>
          <p:cNvPicPr>
            <a:picLocks noChangeAspect="1"/>
          </p:cNvPicPr>
          <p:nvPr/>
        </p:nvPicPr>
        <p:blipFill>
          <a:blip r:embed="rId1"/>
          <a:stretch>
            <a:fillRect/>
          </a:stretch>
        </p:blipFill>
        <p:spPr>
          <a:xfrm>
            <a:off x="603250" y="6029325"/>
            <a:ext cx="946150" cy="628650"/>
          </a:xfrm>
          <a:prstGeom prst="rect">
            <a:avLst/>
          </a:prstGeom>
        </p:spPr>
      </p:pic>
      <p:sp>
        <p:nvSpPr>
          <p:cNvPr id="20" name="Text 4"/>
          <p:cNvSpPr/>
          <p:nvPr/>
        </p:nvSpPr>
        <p:spPr>
          <a:xfrm>
            <a:off x="9485884" y="6419850"/>
            <a:ext cx="1746504" cy="219456"/>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codewithprof.com</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DAA62F"/>
          </a:solidFill>
          <a:ln w="12700">
            <a:solidFill>
              <a:srgbClr val="DAA62F"/>
            </a:solidFill>
            <a:prstDash val="solid"/>
          </a:ln>
        </p:spPr>
      </p:sp>
      <p:sp>
        <p:nvSpPr>
          <p:cNvPr id="3" name="Text 1"/>
          <p:cNvSpPr/>
          <p:nvPr/>
        </p:nvSpPr>
        <p:spPr>
          <a:xfrm>
            <a:off x="603504" y="292608"/>
            <a:ext cx="9144000" cy="201168"/>
          </a:xfrm>
          <a:prstGeom prst="rect">
            <a:avLst/>
          </a:prstGeom>
          <a:noFill/>
        </p:spPr>
        <p:txBody>
          <a:bodyPr wrap="square" lIns="0" tIns="0" rIns="0" bIns="0" rtlCol="0" anchor="ctr">
            <a:normAutofit/>
          </a:bodyPr>
          <a:lstStyle/>
          <a:p>
            <a:pPr marL="0" indent="0">
              <a:buNone/>
            </a:pPr>
            <a:r>
              <a:rPr lang="en-US" sz="1000" b="1" kern="0" spc="120" dirty="0">
                <a:solidFill>
                  <a:srgbClr val="63738B"/>
                </a:solidFill>
                <a:latin typeface="Aptos" pitchFamily="34" charset="0"/>
                <a:ea typeface="Aptos" pitchFamily="34" charset="-122"/>
                <a:cs typeface="Aptos" pitchFamily="34" charset="-120"/>
              </a:rPr>
              <a:t>WEEK 01 · FULL-STACK JOURNEY</a:t>
            </a:r>
            <a:endParaRPr lang="en-US" sz="1000" dirty="0"/>
          </a:p>
        </p:txBody>
      </p:sp>
      <p:sp>
        <p:nvSpPr>
          <p:cNvPr id="4" name="Text 2"/>
          <p:cNvSpPr/>
          <p:nvPr/>
        </p:nvSpPr>
        <p:spPr>
          <a:xfrm>
            <a:off x="603504" y="676656"/>
            <a:ext cx="10972800" cy="658368"/>
          </a:xfrm>
          <a:prstGeom prst="rect">
            <a:avLst/>
          </a:prstGeom>
          <a:noFill/>
        </p:spPr>
        <p:txBody>
          <a:bodyPr wrap="square" lIns="0" tIns="0" rIns="0" bIns="0" rtlCol="0" anchor="ctr">
            <a:normAutofit/>
          </a:bodyPr>
          <a:lstStyle/>
          <a:p>
            <a:pPr marL="0" indent="0">
              <a:buNone/>
            </a:pPr>
            <a:r>
              <a:rPr lang="en-US" sz="3100" b="1" dirty="0">
                <a:solidFill>
                  <a:srgbClr val="0D2F5F"/>
                </a:solidFill>
                <a:latin typeface="Aptos" pitchFamily="34" charset="0"/>
                <a:ea typeface="Aptos" pitchFamily="34" charset="-122"/>
                <a:cs typeface="Aptos" pitchFamily="34" charset="-120"/>
              </a:rPr>
              <a:t>Your Week 01 deliverable</a:t>
            </a:r>
            <a:endParaRPr lang="en-US" sz="3100" dirty="0"/>
          </a:p>
        </p:txBody>
      </p:sp>
      <p:sp>
        <p:nvSpPr>
          <p:cNvPr id="5" name="Shape 3"/>
          <p:cNvSpPr/>
          <p:nvPr/>
        </p:nvSpPr>
        <p:spPr>
          <a:xfrm>
            <a:off x="603504" y="1408176"/>
            <a:ext cx="10981944" cy="0"/>
          </a:xfrm>
          <a:prstGeom prst="line">
            <a:avLst/>
          </a:prstGeom>
          <a:noFill/>
          <a:ln w="12700">
            <a:solidFill>
              <a:srgbClr val="DEE5EF"/>
            </a:solidFill>
            <a:prstDash val="solid"/>
            <a:headEnd type="none"/>
            <a:tailEnd type="none"/>
          </a:ln>
        </p:spPr>
      </p:sp>
      <p:sp>
        <p:nvSpPr>
          <p:cNvPr id="8" name="Text 5"/>
          <p:cNvSpPr/>
          <p:nvPr/>
        </p:nvSpPr>
        <p:spPr>
          <a:xfrm>
            <a:off x="11338560" y="6437376"/>
            <a:ext cx="237744" cy="201168"/>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28</a:t>
            </a:r>
            <a:endParaRPr lang="en-US" sz="1000" dirty="0"/>
          </a:p>
        </p:txBody>
      </p:sp>
      <p:sp>
        <p:nvSpPr>
          <p:cNvPr id="9" name="Shape 6"/>
          <p:cNvSpPr/>
          <p:nvPr/>
        </p:nvSpPr>
        <p:spPr>
          <a:xfrm>
            <a:off x="722376" y="1764792"/>
            <a:ext cx="10789920" cy="896112"/>
          </a:xfrm>
          <a:prstGeom prst="roundRect">
            <a:avLst>
              <a:gd name="adj" fmla="val 16327"/>
            </a:avLst>
          </a:prstGeom>
          <a:solidFill>
            <a:srgbClr val="0D2F5F"/>
          </a:solidFill>
          <a:ln w="12700">
            <a:solidFill>
              <a:srgbClr val="0D2F5F">
                <a:alpha val="0"/>
              </a:srgbClr>
            </a:solidFill>
            <a:prstDash val="solid"/>
          </a:ln>
        </p:spPr>
      </p:sp>
      <p:sp>
        <p:nvSpPr>
          <p:cNvPr id="10" name="Text 7"/>
          <p:cNvSpPr/>
          <p:nvPr/>
        </p:nvSpPr>
        <p:spPr>
          <a:xfrm>
            <a:off x="1014984" y="1984248"/>
            <a:ext cx="10168128" cy="411480"/>
          </a:xfrm>
          <a:prstGeom prst="rect">
            <a:avLst/>
          </a:prstGeom>
          <a:noFill/>
        </p:spPr>
        <p:txBody>
          <a:bodyPr wrap="square" lIns="0" tIns="0" rIns="0" bIns="0" rtlCol="0" anchor="ctr">
            <a:normAutofit/>
          </a:bodyPr>
          <a:lstStyle/>
          <a:p>
            <a:pPr marL="0" indent="0" algn="ctr">
              <a:buNone/>
            </a:pPr>
            <a:r>
              <a:rPr lang="en-US" sz="2400" b="1" dirty="0">
                <a:solidFill>
                  <a:srgbClr val="FFFFFF"/>
                </a:solidFill>
                <a:latin typeface="Aptos" pitchFamily="34" charset="0"/>
                <a:ea typeface="Aptos" pitchFamily="34" charset="-122"/>
                <a:cs typeface="Aptos" pitchFamily="34" charset="-120"/>
              </a:rPr>
              <a:t>Submit one clear explanation of “How a website works.”</a:t>
            </a:r>
            <a:endParaRPr lang="en-US" sz="2400" dirty="0"/>
          </a:p>
        </p:txBody>
      </p:sp>
      <p:sp>
        <p:nvSpPr>
          <p:cNvPr id="11" name="Shape 8"/>
          <p:cNvSpPr/>
          <p:nvPr/>
        </p:nvSpPr>
        <p:spPr>
          <a:xfrm>
            <a:off x="749808" y="3008376"/>
            <a:ext cx="5202936" cy="1975104"/>
          </a:xfrm>
          <a:prstGeom prst="roundRect">
            <a:avLst>
              <a:gd name="adj" fmla="val 7407"/>
            </a:avLst>
          </a:prstGeom>
          <a:solidFill>
            <a:srgbClr val="FFFFFF"/>
          </a:solidFill>
          <a:ln w="12700">
            <a:solidFill>
              <a:srgbClr val="FFFFFF">
                <a:alpha val="0"/>
              </a:srgbClr>
            </a:solidFill>
            <a:prstDash val="solid"/>
          </a:ln>
        </p:spPr>
      </p:sp>
      <p:sp>
        <p:nvSpPr>
          <p:cNvPr id="12" name="Shape 9"/>
          <p:cNvSpPr/>
          <p:nvPr/>
        </p:nvSpPr>
        <p:spPr>
          <a:xfrm>
            <a:off x="749808" y="3008376"/>
            <a:ext cx="59436" cy="1975104"/>
          </a:xfrm>
          <a:prstGeom prst="rect">
            <a:avLst/>
          </a:prstGeom>
          <a:solidFill>
            <a:srgbClr val="DAA62F"/>
          </a:solidFill>
          <a:ln w="12700">
            <a:solidFill>
              <a:srgbClr val="DAA62F"/>
            </a:solidFill>
            <a:prstDash val="solid"/>
          </a:ln>
        </p:spPr>
      </p:sp>
      <p:sp>
        <p:nvSpPr>
          <p:cNvPr id="13" name="Text 10"/>
          <p:cNvSpPr/>
          <p:nvPr/>
        </p:nvSpPr>
        <p:spPr>
          <a:xfrm>
            <a:off x="969264" y="3182112"/>
            <a:ext cx="4764024" cy="393192"/>
          </a:xfrm>
          <a:prstGeom prst="rect">
            <a:avLst/>
          </a:prstGeom>
          <a:noFill/>
        </p:spPr>
        <p:txBody>
          <a:bodyPr wrap="square" lIns="0" tIns="0" rIns="0" bIns="0" rtlCol="0" anchor="ctr">
            <a:normAutofit/>
          </a:bodyPr>
          <a:lstStyle/>
          <a:p>
            <a:pPr marL="0" indent="0">
              <a:buNone/>
            </a:pPr>
            <a:r>
              <a:rPr lang="en-US" sz="2000" b="1" dirty="0">
                <a:solidFill>
                  <a:srgbClr val="0D2F5F"/>
                </a:solidFill>
                <a:latin typeface="Aptos" pitchFamily="34" charset="0"/>
                <a:ea typeface="Aptos" pitchFamily="34" charset="-122"/>
                <a:cs typeface="Aptos" pitchFamily="34" charset="-120"/>
              </a:rPr>
              <a:t>What to submit</a:t>
            </a:r>
            <a:endParaRPr lang="en-US" sz="2000" dirty="0"/>
          </a:p>
        </p:txBody>
      </p:sp>
      <p:sp>
        <p:nvSpPr>
          <p:cNvPr id="14" name="Text 11"/>
          <p:cNvSpPr/>
          <p:nvPr/>
        </p:nvSpPr>
        <p:spPr>
          <a:xfrm>
            <a:off x="969264" y="3675888"/>
            <a:ext cx="4764024" cy="1143000"/>
          </a:xfrm>
          <a:prstGeom prst="rect">
            <a:avLst/>
          </a:prstGeom>
          <a:noFill/>
        </p:spPr>
        <p:txBody>
          <a:bodyPr wrap="square" lIns="0" tIns="0" rIns="0" bIns="0" rtlCol="0" anchor="t">
            <a:normAutofit/>
          </a:bodyPr>
          <a:lstStyle/>
          <a:p>
            <a:pPr marL="0" indent="0">
              <a:buNone/>
            </a:pPr>
            <a:r>
              <a:rPr lang="en-US" sz="1700" dirty="0">
                <a:solidFill>
                  <a:srgbClr val="63738B"/>
                </a:solidFill>
                <a:latin typeface="Aptos" pitchFamily="34" charset="0"/>
                <a:ea typeface="Aptos" pitchFamily="34" charset="-122"/>
                <a:cs typeface="Aptos" pitchFamily="34" charset="-120"/>
              </a:rPr>
              <a:t>A labelled diagram + a short explanation of DNS, client, server, request, response and safe browsing.</a:t>
            </a:r>
            <a:endParaRPr lang="en-US" sz="1700" dirty="0"/>
          </a:p>
        </p:txBody>
      </p:sp>
      <p:sp>
        <p:nvSpPr>
          <p:cNvPr id="15" name="Shape 12"/>
          <p:cNvSpPr/>
          <p:nvPr/>
        </p:nvSpPr>
        <p:spPr>
          <a:xfrm>
            <a:off x="6217920" y="3008376"/>
            <a:ext cx="5202936" cy="1975104"/>
          </a:xfrm>
          <a:prstGeom prst="roundRect">
            <a:avLst>
              <a:gd name="adj" fmla="val 7407"/>
            </a:avLst>
          </a:prstGeom>
          <a:solidFill>
            <a:srgbClr val="FFFFFF"/>
          </a:solidFill>
          <a:ln w="12700">
            <a:solidFill>
              <a:srgbClr val="FFFFFF">
                <a:alpha val="0"/>
              </a:srgbClr>
            </a:solidFill>
            <a:prstDash val="solid"/>
          </a:ln>
        </p:spPr>
      </p:sp>
      <p:sp>
        <p:nvSpPr>
          <p:cNvPr id="16" name="Shape 13"/>
          <p:cNvSpPr/>
          <p:nvPr/>
        </p:nvSpPr>
        <p:spPr>
          <a:xfrm>
            <a:off x="6217920" y="3008376"/>
            <a:ext cx="59436" cy="1975104"/>
          </a:xfrm>
          <a:prstGeom prst="rect">
            <a:avLst/>
          </a:prstGeom>
          <a:solidFill>
            <a:srgbClr val="DAA62F"/>
          </a:solidFill>
          <a:ln w="12700">
            <a:solidFill>
              <a:srgbClr val="DAA62F"/>
            </a:solidFill>
            <a:prstDash val="solid"/>
          </a:ln>
        </p:spPr>
      </p:sp>
      <p:sp>
        <p:nvSpPr>
          <p:cNvPr id="17" name="Text 14"/>
          <p:cNvSpPr/>
          <p:nvPr/>
        </p:nvSpPr>
        <p:spPr>
          <a:xfrm>
            <a:off x="6437376" y="3182112"/>
            <a:ext cx="4764024" cy="393192"/>
          </a:xfrm>
          <a:prstGeom prst="rect">
            <a:avLst/>
          </a:prstGeom>
          <a:noFill/>
        </p:spPr>
        <p:txBody>
          <a:bodyPr wrap="square" lIns="0" tIns="0" rIns="0" bIns="0" rtlCol="0" anchor="ctr">
            <a:normAutofit/>
          </a:bodyPr>
          <a:lstStyle/>
          <a:p>
            <a:pPr marL="0" indent="0">
              <a:buNone/>
            </a:pPr>
            <a:r>
              <a:rPr lang="en-US" sz="2000" b="1" dirty="0">
                <a:solidFill>
                  <a:srgbClr val="0D2F5F"/>
                </a:solidFill>
                <a:latin typeface="Aptos" pitchFamily="34" charset="0"/>
                <a:ea typeface="Aptos" pitchFamily="34" charset="-122"/>
                <a:cs typeface="Aptos" pitchFamily="34" charset="-120"/>
              </a:rPr>
              <a:t>Success criteria</a:t>
            </a:r>
            <a:endParaRPr lang="en-US" sz="2000" dirty="0"/>
          </a:p>
        </p:txBody>
      </p:sp>
      <p:sp>
        <p:nvSpPr>
          <p:cNvPr id="18" name="Text 15"/>
          <p:cNvSpPr/>
          <p:nvPr/>
        </p:nvSpPr>
        <p:spPr>
          <a:xfrm>
            <a:off x="6437376" y="3675888"/>
            <a:ext cx="4764024" cy="1143000"/>
          </a:xfrm>
          <a:prstGeom prst="rect">
            <a:avLst/>
          </a:prstGeom>
          <a:noFill/>
        </p:spPr>
        <p:txBody>
          <a:bodyPr wrap="square" lIns="0" tIns="0" rIns="0" bIns="0" rtlCol="0" anchor="t">
            <a:normAutofit/>
          </a:bodyPr>
          <a:lstStyle/>
          <a:p>
            <a:pPr marL="0" indent="0">
              <a:buNone/>
            </a:pPr>
            <a:r>
              <a:rPr lang="en-US" sz="1700" dirty="0">
                <a:solidFill>
                  <a:srgbClr val="63738B"/>
                </a:solidFill>
                <a:latin typeface="Aptos" pitchFamily="34" charset="0"/>
                <a:ea typeface="Aptos" pitchFamily="34" charset="-122"/>
                <a:cs typeface="Aptos" pitchFamily="34" charset="-120"/>
              </a:rPr>
              <a:t>Accurate arrows, understandable language, correct key terms and clear attribution for any AI support.</a:t>
            </a:r>
            <a:endParaRPr lang="en-US" sz="1700" dirty="0"/>
          </a:p>
        </p:txBody>
      </p:sp>
      <p:sp>
        <p:nvSpPr>
          <p:cNvPr id="19" name="Text 16"/>
          <p:cNvSpPr/>
          <p:nvPr/>
        </p:nvSpPr>
        <p:spPr>
          <a:xfrm>
            <a:off x="886968" y="5276088"/>
            <a:ext cx="10369296" cy="429768"/>
          </a:xfrm>
          <a:prstGeom prst="rect">
            <a:avLst/>
          </a:prstGeom>
          <a:noFill/>
        </p:spPr>
        <p:txBody>
          <a:bodyPr wrap="square" lIns="0" tIns="0" rIns="0" bIns="0" rtlCol="0" anchor="ctr">
            <a:normAutofit/>
          </a:bodyPr>
          <a:lstStyle/>
          <a:p>
            <a:pPr marL="0" indent="0" algn="ctr">
              <a:buNone/>
            </a:pPr>
            <a:r>
              <a:rPr lang="en-US" sz="1700" dirty="0">
                <a:solidFill>
                  <a:srgbClr val="63738B"/>
                </a:solidFill>
                <a:latin typeface="Aptos" pitchFamily="34" charset="0"/>
                <a:ea typeface="Aptos" pitchFamily="34" charset="-122"/>
                <a:cs typeface="Aptos" pitchFamily="34" charset="-120"/>
              </a:rPr>
              <a:t>Use made-up data only. Follow your cohort’s instructor submission instructions.</a:t>
            </a:r>
            <a:endParaRPr lang="en-US" sz="1700" dirty="0"/>
          </a:p>
        </p:txBody>
      </p:sp>
      <p:pic>
        <p:nvPicPr>
          <p:cNvPr id="20" name="Image 0" descr="/mnt/data/cwp-logo-primary-transparent.png"/>
          <p:cNvPicPr>
            <a:picLocks noChangeAspect="1"/>
          </p:cNvPicPr>
          <p:nvPr/>
        </p:nvPicPr>
        <p:blipFill>
          <a:blip r:embed="rId1"/>
          <a:stretch>
            <a:fillRect/>
          </a:stretch>
        </p:blipFill>
        <p:spPr>
          <a:xfrm>
            <a:off x="603250" y="6029325"/>
            <a:ext cx="946150" cy="628650"/>
          </a:xfrm>
          <a:prstGeom prst="rect">
            <a:avLst/>
          </a:prstGeom>
        </p:spPr>
      </p:pic>
      <p:sp>
        <p:nvSpPr>
          <p:cNvPr id="21" name="Text 4"/>
          <p:cNvSpPr/>
          <p:nvPr/>
        </p:nvSpPr>
        <p:spPr>
          <a:xfrm>
            <a:off x="9485884" y="6419850"/>
            <a:ext cx="1746504" cy="219456"/>
          </a:xfrm>
          <a:prstGeom prst="rect">
            <a:avLst/>
          </a:prstGeom>
          <a:noFill/>
        </p:spPr>
        <p:txBody>
          <a:bodyPr wrap="square" lIns="0" tIns="0" rIns="0" bIns="0" rtlCol="0" anchor="ctr">
            <a:normAutofit/>
          </a:bodyPr>
          <a:lstStyle/>
          <a:p>
            <a:pPr marL="0" indent="0" algn="r">
              <a:buNone/>
            </a:pPr>
            <a:r>
              <a:rPr lang="en-US" sz="1000" dirty="0">
                <a:solidFill>
                  <a:srgbClr val="63738B"/>
                </a:solidFill>
                <a:latin typeface="Aptos" pitchFamily="34" charset="0"/>
                <a:ea typeface="Aptos" pitchFamily="34" charset="-122"/>
                <a:cs typeface="Aptos" pitchFamily="34" charset="-120"/>
              </a:rPr>
              <a:t>codewithprof.com</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D2F5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DAA62F"/>
          </a:solidFill>
          <a:ln w="12700">
            <a:solidFill>
              <a:srgbClr val="DAA62F"/>
            </a:solidFill>
            <a:prstDash val="solid"/>
          </a:ln>
        </p:spPr>
      </p:sp>
      <p:sp>
        <p:nvSpPr>
          <p:cNvPr id="3" name="Text 1"/>
          <p:cNvSpPr/>
          <p:nvPr/>
        </p:nvSpPr>
        <p:spPr>
          <a:xfrm>
            <a:off x="603504" y="292608"/>
            <a:ext cx="9144000" cy="201168"/>
          </a:xfrm>
          <a:prstGeom prst="rect">
            <a:avLst/>
          </a:prstGeom>
          <a:noFill/>
        </p:spPr>
        <p:txBody>
          <a:bodyPr wrap="square" lIns="0" tIns="0" rIns="0" bIns="0" rtlCol="0" anchor="ctr">
            <a:normAutofit/>
          </a:bodyPr>
          <a:lstStyle/>
          <a:p>
            <a:pPr marL="0" indent="0">
              <a:buNone/>
            </a:pPr>
            <a:r>
              <a:rPr lang="en-US" sz="1000" b="1" kern="0" spc="120" dirty="0">
                <a:solidFill>
                  <a:srgbClr val="D9E5F5"/>
                </a:solidFill>
                <a:latin typeface="Aptos" pitchFamily="34" charset="0"/>
                <a:ea typeface="Aptos" pitchFamily="34" charset="-122"/>
                <a:cs typeface="Aptos" pitchFamily="34" charset="-120"/>
              </a:rPr>
              <a:t>WEEK 01 · FULL-STACK JOURNEY</a:t>
            </a:r>
            <a:endParaRPr lang="en-US" sz="1000" dirty="0"/>
          </a:p>
        </p:txBody>
      </p:sp>
      <p:sp>
        <p:nvSpPr>
          <p:cNvPr id="4" name="Text 2"/>
          <p:cNvSpPr/>
          <p:nvPr/>
        </p:nvSpPr>
        <p:spPr>
          <a:xfrm>
            <a:off x="603504" y="676656"/>
            <a:ext cx="10972800" cy="658368"/>
          </a:xfrm>
          <a:prstGeom prst="rect">
            <a:avLst/>
          </a:prstGeom>
          <a:noFill/>
        </p:spPr>
        <p:txBody>
          <a:bodyPr wrap="square" lIns="0" tIns="0" rIns="0" bIns="0" rtlCol="0" anchor="ctr">
            <a:normAutofit/>
          </a:bodyPr>
          <a:lstStyle/>
          <a:p>
            <a:pPr marL="0" indent="0">
              <a:buNone/>
            </a:pPr>
            <a:r>
              <a:rPr lang="en-US" sz="3100" b="1" dirty="0">
                <a:solidFill>
                  <a:srgbClr val="FFFFFF"/>
                </a:solidFill>
                <a:latin typeface="Aptos" pitchFamily="34" charset="0"/>
                <a:ea typeface="Aptos" pitchFamily="34" charset="-122"/>
                <a:cs typeface="Aptos" pitchFamily="34" charset="-120"/>
              </a:rPr>
              <a:t>Week 01 recap</a:t>
            </a:r>
            <a:endParaRPr lang="en-US" sz="3100" dirty="0"/>
          </a:p>
        </p:txBody>
      </p:sp>
      <p:sp>
        <p:nvSpPr>
          <p:cNvPr id="5" name="Shape 3"/>
          <p:cNvSpPr/>
          <p:nvPr/>
        </p:nvSpPr>
        <p:spPr>
          <a:xfrm>
            <a:off x="603504" y="1408176"/>
            <a:ext cx="10981944" cy="0"/>
          </a:xfrm>
          <a:prstGeom prst="line">
            <a:avLst/>
          </a:prstGeom>
          <a:noFill/>
          <a:ln w="12700">
            <a:solidFill>
              <a:srgbClr val="416084"/>
            </a:solidFill>
            <a:prstDash val="solid"/>
            <a:headEnd type="none"/>
            <a:tailEnd type="none"/>
          </a:ln>
        </p:spPr>
      </p:sp>
      <p:pic>
        <p:nvPicPr>
          <p:cNvPr id="6" name="Image 0" descr="/mnt/data/cwp-logo-reversed-transparent.png"/>
          <p:cNvPicPr>
            <a:picLocks noChangeAspect="1"/>
          </p:cNvPicPr>
          <p:nvPr/>
        </p:nvPicPr>
        <p:blipFill>
          <a:blip r:embed="rId1"/>
          <a:stretch>
            <a:fillRect/>
          </a:stretch>
        </p:blipFill>
        <p:spPr>
          <a:xfrm>
            <a:off x="603250" y="5993765"/>
            <a:ext cx="1136015" cy="690245"/>
          </a:xfrm>
          <a:prstGeom prst="rect">
            <a:avLst/>
          </a:prstGeom>
        </p:spPr>
      </p:pic>
      <p:sp>
        <p:nvSpPr>
          <p:cNvPr id="7" name="Text 4"/>
          <p:cNvSpPr/>
          <p:nvPr/>
        </p:nvSpPr>
        <p:spPr>
          <a:xfrm>
            <a:off x="9492234" y="6446520"/>
            <a:ext cx="1746504" cy="219456"/>
          </a:xfrm>
          <a:prstGeom prst="rect">
            <a:avLst/>
          </a:prstGeom>
          <a:noFill/>
        </p:spPr>
        <p:txBody>
          <a:bodyPr wrap="square" lIns="0" tIns="0" rIns="0" bIns="0" rtlCol="0" anchor="ctr">
            <a:normAutofit/>
          </a:bodyPr>
          <a:lstStyle/>
          <a:p>
            <a:pPr marL="0" indent="0" algn="r">
              <a:buNone/>
            </a:pPr>
            <a:r>
              <a:rPr lang="en-US" sz="1000" dirty="0">
                <a:solidFill>
                  <a:srgbClr val="DCE6F3"/>
                </a:solidFill>
                <a:latin typeface="Aptos" pitchFamily="34" charset="0"/>
                <a:ea typeface="Aptos" pitchFamily="34" charset="-122"/>
                <a:cs typeface="Aptos" pitchFamily="34" charset="-120"/>
              </a:rPr>
              <a:t>codewithprof.com</a:t>
            </a:r>
            <a:endParaRPr lang="en-US" sz="1000" dirty="0"/>
          </a:p>
        </p:txBody>
      </p:sp>
      <p:sp>
        <p:nvSpPr>
          <p:cNvPr id="8" name="Text 5"/>
          <p:cNvSpPr/>
          <p:nvPr/>
        </p:nvSpPr>
        <p:spPr>
          <a:xfrm>
            <a:off x="11338560" y="6437376"/>
            <a:ext cx="237744" cy="201168"/>
          </a:xfrm>
          <a:prstGeom prst="rect">
            <a:avLst/>
          </a:prstGeom>
          <a:noFill/>
        </p:spPr>
        <p:txBody>
          <a:bodyPr wrap="square" lIns="0" tIns="0" rIns="0" bIns="0" rtlCol="0" anchor="ctr">
            <a:normAutofit/>
          </a:bodyPr>
          <a:lstStyle/>
          <a:p>
            <a:pPr marL="0" indent="0" algn="r">
              <a:buNone/>
            </a:pPr>
            <a:r>
              <a:rPr lang="en-US" sz="1000" dirty="0">
                <a:solidFill>
                  <a:srgbClr val="DCE6F3"/>
                </a:solidFill>
                <a:latin typeface="Aptos" pitchFamily="34" charset="0"/>
                <a:ea typeface="Aptos" pitchFamily="34" charset="-122"/>
                <a:cs typeface="Aptos" pitchFamily="34" charset="-120"/>
              </a:rPr>
              <a:t>29</a:t>
            </a:r>
            <a:endParaRPr lang="en-US" sz="1000" dirty="0"/>
          </a:p>
        </p:txBody>
      </p:sp>
      <p:sp>
        <p:nvSpPr>
          <p:cNvPr id="9" name="Shape 6"/>
          <p:cNvSpPr/>
          <p:nvPr/>
        </p:nvSpPr>
        <p:spPr>
          <a:xfrm>
            <a:off x="850392" y="1728216"/>
            <a:ext cx="320040" cy="320040"/>
          </a:xfrm>
          <a:prstGeom prst="ellipse">
            <a:avLst/>
          </a:prstGeom>
          <a:solidFill>
            <a:srgbClr val="DAA62F"/>
          </a:solidFill>
          <a:ln w="12700">
            <a:solidFill>
              <a:srgbClr val="DAA62F"/>
            </a:solidFill>
            <a:prstDash val="solid"/>
          </a:ln>
        </p:spPr>
      </p:sp>
      <p:sp>
        <p:nvSpPr>
          <p:cNvPr id="10" name="Text 7"/>
          <p:cNvSpPr/>
          <p:nvPr/>
        </p:nvSpPr>
        <p:spPr>
          <a:xfrm>
            <a:off x="877824" y="1783080"/>
            <a:ext cx="256032" cy="219456"/>
          </a:xfrm>
          <a:prstGeom prst="rect">
            <a:avLst/>
          </a:prstGeom>
          <a:noFill/>
        </p:spPr>
        <p:txBody>
          <a:bodyPr wrap="square" lIns="0" tIns="0" rIns="0" bIns="0" rtlCol="0" anchor="ctr">
            <a:normAutofit/>
          </a:bodyPr>
          <a:lstStyle/>
          <a:p>
            <a:pPr marL="0" indent="0" algn="ctr">
              <a:buNone/>
            </a:pPr>
            <a:r>
              <a:rPr lang="en-US" sz="1600" b="1" dirty="0">
                <a:solidFill>
                  <a:srgbClr val="092448"/>
                </a:solidFill>
                <a:latin typeface="Aptos" pitchFamily="34" charset="0"/>
                <a:ea typeface="Aptos" pitchFamily="34" charset="-122"/>
                <a:cs typeface="Aptos" pitchFamily="34" charset="-120"/>
              </a:rPr>
              <a:t>✓</a:t>
            </a:r>
            <a:endParaRPr lang="en-US" sz="1600" dirty="0"/>
          </a:p>
        </p:txBody>
      </p:sp>
      <p:sp>
        <p:nvSpPr>
          <p:cNvPr id="11" name="Text 8"/>
          <p:cNvSpPr/>
          <p:nvPr/>
        </p:nvSpPr>
        <p:spPr>
          <a:xfrm>
            <a:off x="1380744" y="1700784"/>
            <a:ext cx="9784080" cy="484632"/>
          </a:xfrm>
          <a:prstGeom prst="rect">
            <a:avLst/>
          </a:prstGeom>
          <a:noFill/>
        </p:spPr>
        <p:txBody>
          <a:bodyPr wrap="square" lIns="0" tIns="0" rIns="0" bIns="0" rtlCol="0" anchor="ctr">
            <a:normAutofit/>
          </a:bodyPr>
          <a:lstStyle/>
          <a:p>
            <a:pPr marL="0" indent="0">
              <a:buNone/>
            </a:pPr>
            <a:r>
              <a:rPr lang="en-US" sz="2100" b="1" dirty="0">
                <a:solidFill>
                  <a:srgbClr val="FFFFFF"/>
                </a:solidFill>
                <a:latin typeface="Aptos" pitchFamily="34" charset="0"/>
                <a:ea typeface="Aptos" pitchFamily="34" charset="-122"/>
                <a:cs typeface="Aptos" pitchFamily="34" charset="-120"/>
              </a:rPr>
              <a:t>Software engineering is more than code.</a:t>
            </a:r>
            <a:endParaRPr lang="en-US" sz="2100" dirty="0"/>
          </a:p>
        </p:txBody>
      </p:sp>
      <p:sp>
        <p:nvSpPr>
          <p:cNvPr id="12" name="Shape 9"/>
          <p:cNvSpPr/>
          <p:nvPr/>
        </p:nvSpPr>
        <p:spPr>
          <a:xfrm>
            <a:off x="850392" y="2523744"/>
            <a:ext cx="320040" cy="320040"/>
          </a:xfrm>
          <a:prstGeom prst="ellipse">
            <a:avLst/>
          </a:prstGeom>
          <a:solidFill>
            <a:srgbClr val="DAA62F"/>
          </a:solidFill>
          <a:ln w="12700">
            <a:solidFill>
              <a:srgbClr val="DAA62F"/>
            </a:solidFill>
            <a:prstDash val="solid"/>
          </a:ln>
        </p:spPr>
      </p:sp>
      <p:sp>
        <p:nvSpPr>
          <p:cNvPr id="13" name="Text 10"/>
          <p:cNvSpPr/>
          <p:nvPr/>
        </p:nvSpPr>
        <p:spPr>
          <a:xfrm>
            <a:off x="877824" y="2578608"/>
            <a:ext cx="256032" cy="219456"/>
          </a:xfrm>
          <a:prstGeom prst="rect">
            <a:avLst/>
          </a:prstGeom>
          <a:noFill/>
        </p:spPr>
        <p:txBody>
          <a:bodyPr wrap="square" lIns="0" tIns="0" rIns="0" bIns="0" rtlCol="0" anchor="ctr">
            <a:normAutofit/>
          </a:bodyPr>
          <a:lstStyle/>
          <a:p>
            <a:pPr marL="0" indent="0" algn="ctr">
              <a:buNone/>
            </a:pPr>
            <a:r>
              <a:rPr lang="en-US" sz="1600" b="1" dirty="0">
                <a:solidFill>
                  <a:srgbClr val="092448"/>
                </a:solidFill>
                <a:latin typeface="Aptos" pitchFamily="34" charset="0"/>
                <a:ea typeface="Aptos" pitchFamily="34" charset="-122"/>
                <a:cs typeface="Aptos" pitchFamily="34" charset="-120"/>
              </a:rPr>
              <a:t>✓</a:t>
            </a:r>
            <a:endParaRPr lang="en-US" sz="1600" dirty="0"/>
          </a:p>
        </p:txBody>
      </p:sp>
      <p:sp>
        <p:nvSpPr>
          <p:cNvPr id="14" name="Text 11"/>
          <p:cNvSpPr/>
          <p:nvPr/>
        </p:nvSpPr>
        <p:spPr>
          <a:xfrm>
            <a:off x="1380744" y="2496312"/>
            <a:ext cx="9784080" cy="484632"/>
          </a:xfrm>
          <a:prstGeom prst="rect">
            <a:avLst/>
          </a:prstGeom>
          <a:noFill/>
        </p:spPr>
        <p:txBody>
          <a:bodyPr wrap="square" lIns="0" tIns="0" rIns="0" bIns="0" rtlCol="0" anchor="ctr">
            <a:normAutofit/>
          </a:bodyPr>
          <a:lstStyle/>
          <a:p>
            <a:pPr marL="0" indent="0">
              <a:buNone/>
            </a:pPr>
            <a:r>
              <a:rPr lang="en-US" sz="2100" b="1" dirty="0">
                <a:solidFill>
                  <a:srgbClr val="FFFFFF"/>
                </a:solidFill>
                <a:latin typeface="Aptos" pitchFamily="34" charset="0"/>
                <a:ea typeface="Aptos" pitchFamily="34" charset="-122"/>
                <a:cs typeface="Aptos" pitchFamily="34" charset="-120"/>
              </a:rPr>
              <a:t>Technology is built by teams with many roles.</a:t>
            </a:r>
            <a:endParaRPr lang="en-US" sz="2100" dirty="0"/>
          </a:p>
        </p:txBody>
      </p:sp>
      <p:sp>
        <p:nvSpPr>
          <p:cNvPr id="15" name="Shape 12"/>
          <p:cNvSpPr/>
          <p:nvPr/>
        </p:nvSpPr>
        <p:spPr>
          <a:xfrm>
            <a:off x="850392" y="3319272"/>
            <a:ext cx="320040" cy="320040"/>
          </a:xfrm>
          <a:prstGeom prst="ellipse">
            <a:avLst/>
          </a:prstGeom>
          <a:solidFill>
            <a:srgbClr val="DAA62F"/>
          </a:solidFill>
          <a:ln w="12700">
            <a:solidFill>
              <a:srgbClr val="DAA62F"/>
            </a:solidFill>
            <a:prstDash val="solid"/>
          </a:ln>
        </p:spPr>
      </p:sp>
      <p:sp>
        <p:nvSpPr>
          <p:cNvPr id="16" name="Text 13"/>
          <p:cNvSpPr/>
          <p:nvPr/>
        </p:nvSpPr>
        <p:spPr>
          <a:xfrm>
            <a:off x="877824" y="3374136"/>
            <a:ext cx="256032" cy="219456"/>
          </a:xfrm>
          <a:prstGeom prst="rect">
            <a:avLst/>
          </a:prstGeom>
          <a:noFill/>
        </p:spPr>
        <p:txBody>
          <a:bodyPr wrap="square" lIns="0" tIns="0" rIns="0" bIns="0" rtlCol="0" anchor="ctr">
            <a:normAutofit/>
          </a:bodyPr>
          <a:lstStyle/>
          <a:p>
            <a:pPr marL="0" indent="0" algn="ctr">
              <a:buNone/>
            </a:pPr>
            <a:r>
              <a:rPr lang="en-US" sz="1600" b="1" dirty="0">
                <a:solidFill>
                  <a:srgbClr val="092448"/>
                </a:solidFill>
                <a:latin typeface="Aptos" pitchFamily="34" charset="0"/>
                <a:ea typeface="Aptos" pitchFamily="34" charset="-122"/>
                <a:cs typeface="Aptos" pitchFamily="34" charset="-120"/>
              </a:rPr>
              <a:t>✓</a:t>
            </a:r>
            <a:endParaRPr lang="en-US" sz="1600" dirty="0"/>
          </a:p>
        </p:txBody>
      </p:sp>
      <p:sp>
        <p:nvSpPr>
          <p:cNvPr id="17" name="Text 14"/>
          <p:cNvSpPr/>
          <p:nvPr/>
        </p:nvSpPr>
        <p:spPr>
          <a:xfrm>
            <a:off x="1380744" y="3291840"/>
            <a:ext cx="9784080" cy="484632"/>
          </a:xfrm>
          <a:prstGeom prst="rect">
            <a:avLst/>
          </a:prstGeom>
          <a:noFill/>
        </p:spPr>
        <p:txBody>
          <a:bodyPr wrap="square" lIns="0" tIns="0" rIns="0" bIns="0" rtlCol="0" anchor="ctr">
            <a:normAutofit/>
          </a:bodyPr>
          <a:lstStyle/>
          <a:p>
            <a:pPr marL="0" indent="0">
              <a:buNone/>
            </a:pPr>
            <a:r>
              <a:rPr lang="en-US" sz="2100" b="1" dirty="0">
                <a:solidFill>
                  <a:srgbClr val="FFFFFF"/>
                </a:solidFill>
                <a:latin typeface="Aptos" pitchFamily="34" charset="0"/>
                <a:ea typeface="Aptos" pitchFamily="34" charset="-122"/>
                <a:cs typeface="Aptos" pitchFamily="34" charset="-120"/>
              </a:rPr>
              <a:t>DNS + HTTP(S) connect clients and servers.</a:t>
            </a:r>
            <a:endParaRPr lang="en-US" sz="2100" dirty="0"/>
          </a:p>
        </p:txBody>
      </p:sp>
      <p:sp>
        <p:nvSpPr>
          <p:cNvPr id="18" name="Shape 15"/>
          <p:cNvSpPr/>
          <p:nvPr/>
        </p:nvSpPr>
        <p:spPr>
          <a:xfrm>
            <a:off x="850392" y="4114800"/>
            <a:ext cx="320040" cy="320040"/>
          </a:xfrm>
          <a:prstGeom prst="ellipse">
            <a:avLst/>
          </a:prstGeom>
          <a:solidFill>
            <a:srgbClr val="DAA62F"/>
          </a:solidFill>
          <a:ln w="12700">
            <a:solidFill>
              <a:srgbClr val="DAA62F"/>
            </a:solidFill>
            <a:prstDash val="solid"/>
          </a:ln>
        </p:spPr>
      </p:sp>
      <p:sp>
        <p:nvSpPr>
          <p:cNvPr id="19" name="Text 16"/>
          <p:cNvSpPr/>
          <p:nvPr/>
        </p:nvSpPr>
        <p:spPr>
          <a:xfrm>
            <a:off x="877824" y="4169664"/>
            <a:ext cx="256032" cy="219456"/>
          </a:xfrm>
          <a:prstGeom prst="rect">
            <a:avLst/>
          </a:prstGeom>
          <a:noFill/>
        </p:spPr>
        <p:txBody>
          <a:bodyPr wrap="square" lIns="0" tIns="0" rIns="0" bIns="0" rtlCol="0" anchor="ctr">
            <a:normAutofit/>
          </a:bodyPr>
          <a:lstStyle/>
          <a:p>
            <a:pPr marL="0" indent="0" algn="ctr">
              <a:buNone/>
            </a:pPr>
            <a:r>
              <a:rPr lang="en-US" sz="1600" b="1" dirty="0">
                <a:solidFill>
                  <a:srgbClr val="092448"/>
                </a:solidFill>
                <a:latin typeface="Aptos" pitchFamily="34" charset="0"/>
                <a:ea typeface="Aptos" pitchFamily="34" charset="-122"/>
                <a:cs typeface="Aptos" pitchFamily="34" charset="-120"/>
              </a:rPr>
              <a:t>✓</a:t>
            </a:r>
            <a:endParaRPr lang="en-US" sz="1600" dirty="0"/>
          </a:p>
        </p:txBody>
      </p:sp>
      <p:sp>
        <p:nvSpPr>
          <p:cNvPr id="20" name="Text 17"/>
          <p:cNvSpPr/>
          <p:nvPr/>
        </p:nvSpPr>
        <p:spPr>
          <a:xfrm>
            <a:off x="1380744" y="4087368"/>
            <a:ext cx="9784080" cy="484632"/>
          </a:xfrm>
          <a:prstGeom prst="rect">
            <a:avLst/>
          </a:prstGeom>
          <a:noFill/>
        </p:spPr>
        <p:txBody>
          <a:bodyPr wrap="square" lIns="0" tIns="0" rIns="0" bIns="0" rtlCol="0" anchor="ctr">
            <a:normAutofit/>
          </a:bodyPr>
          <a:lstStyle/>
          <a:p>
            <a:pPr marL="0" indent="0">
              <a:buNone/>
            </a:pPr>
            <a:r>
              <a:rPr lang="en-US" sz="2100" b="1" dirty="0">
                <a:solidFill>
                  <a:srgbClr val="FFFFFF"/>
                </a:solidFill>
                <a:latin typeface="Aptos" pitchFamily="34" charset="0"/>
                <a:ea typeface="Aptos" pitchFamily="34" charset="-122"/>
                <a:cs typeface="Aptos" pitchFamily="34" charset="-120"/>
              </a:rPr>
              <a:t>Servers may use databases; browsers render responses.</a:t>
            </a:r>
            <a:endParaRPr lang="en-US" sz="2100" dirty="0"/>
          </a:p>
        </p:txBody>
      </p:sp>
      <p:sp>
        <p:nvSpPr>
          <p:cNvPr id="21" name="Shape 18"/>
          <p:cNvSpPr/>
          <p:nvPr/>
        </p:nvSpPr>
        <p:spPr>
          <a:xfrm>
            <a:off x="850392" y="4910328"/>
            <a:ext cx="320040" cy="320040"/>
          </a:xfrm>
          <a:prstGeom prst="ellipse">
            <a:avLst/>
          </a:prstGeom>
          <a:solidFill>
            <a:srgbClr val="DAA62F"/>
          </a:solidFill>
          <a:ln w="12700">
            <a:solidFill>
              <a:srgbClr val="DAA62F"/>
            </a:solidFill>
            <a:prstDash val="solid"/>
          </a:ln>
        </p:spPr>
      </p:sp>
      <p:sp>
        <p:nvSpPr>
          <p:cNvPr id="22" name="Text 19"/>
          <p:cNvSpPr/>
          <p:nvPr/>
        </p:nvSpPr>
        <p:spPr>
          <a:xfrm>
            <a:off x="877824" y="4965192"/>
            <a:ext cx="256032" cy="219456"/>
          </a:xfrm>
          <a:prstGeom prst="rect">
            <a:avLst/>
          </a:prstGeom>
          <a:noFill/>
        </p:spPr>
        <p:txBody>
          <a:bodyPr wrap="square" lIns="0" tIns="0" rIns="0" bIns="0" rtlCol="0" anchor="ctr">
            <a:normAutofit/>
          </a:bodyPr>
          <a:lstStyle/>
          <a:p>
            <a:pPr marL="0" indent="0" algn="ctr">
              <a:buNone/>
            </a:pPr>
            <a:r>
              <a:rPr lang="en-US" sz="1600" b="1" dirty="0">
                <a:solidFill>
                  <a:srgbClr val="092448"/>
                </a:solidFill>
                <a:latin typeface="Aptos" pitchFamily="34" charset="0"/>
                <a:ea typeface="Aptos" pitchFamily="34" charset="-122"/>
                <a:cs typeface="Aptos" pitchFamily="34" charset="-120"/>
              </a:rPr>
              <a:t>✓</a:t>
            </a:r>
            <a:endParaRPr lang="en-US" sz="1600" dirty="0"/>
          </a:p>
        </p:txBody>
      </p:sp>
      <p:sp>
        <p:nvSpPr>
          <p:cNvPr id="23" name="Text 20"/>
          <p:cNvSpPr/>
          <p:nvPr/>
        </p:nvSpPr>
        <p:spPr>
          <a:xfrm>
            <a:off x="1380744" y="4882896"/>
            <a:ext cx="9784080" cy="484632"/>
          </a:xfrm>
          <a:prstGeom prst="rect">
            <a:avLst/>
          </a:prstGeom>
          <a:noFill/>
        </p:spPr>
        <p:txBody>
          <a:bodyPr wrap="square" lIns="0" tIns="0" rIns="0" bIns="0" rtlCol="0" anchor="ctr">
            <a:normAutofit/>
          </a:bodyPr>
          <a:lstStyle/>
          <a:p>
            <a:pPr marL="0" indent="0">
              <a:buNone/>
            </a:pPr>
            <a:r>
              <a:rPr lang="en-US" sz="2100" b="1" dirty="0">
                <a:solidFill>
                  <a:srgbClr val="FFFFFF"/>
                </a:solidFill>
                <a:latin typeface="Aptos" pitchFamily="34" charset="0"/>
                <a:ea typeface="Aptos" pitchFamily="34" charset="-122"/>
                <a:cs typeface="Aptos" pitchFamily="34" charset="-120"/>
              </a:rPr>
              <a:t>Good engineers protect people and use AI responsibly.</a:t>
            </a:r>
            <a:endParaRPr lang="en-US" sz="2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D2F5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DAA62F"/>
          </a:solidFill>
          <a:ln w="12700">
            <a:solidFill>
              <a:srgbClr val="DAA62F"/>
            </a:solidFill>
            <a:prstDash val="solid"/>
          </a:ln>
        </p:spPr>
      </p:sp>
      <p:pic>
        <p:nvPicPr>
          <p:cNvPr id="3" name="Image 0" descr="/mnt/data/cwp-logo-reversed-transparent.png"/>
          <p:cNvPicPr>
            <a:picLocks noChangeAspect="1"/>
          </p:cNvPicPr>
          <p:nvPr/>
        </p:nvPicPr>
        <p:blipFill>
          <a:blip r:embed="rId1"/>
          <a:stretch>
            <a:fillRect/>
          </a:stretch>
        </p:blipFill>
        <p:spPr>
          <a:xfrm>
            <a:off x="795528" y="640080"/>
            <a:ext cx="3749040" cy="2825496"/>
          </a:xfrm>
          <a:prstGeom prst="rect">
            <a:avLst/>
          </a:prstGeom>
        </p:spPr>
      </p:pic>
      <p:sp>
        <p:nvSpPr>
          <p:cNvPr id="4" name="Text 1"/>
          <p:cNvSpPr/>
          <p:nvPr/>
        </p:nvSpPr>
        <p:spPr>
          <a:xfrm>
            <a:off x="822960" y="3858768"/>
            <a:ext cx="9144000" cy="466344"/>
          </a:xfrm>
          <a:prstGeom prst="rect">
            <a:avLst/>
          </a:prstGeom>
          <a:noFill/>
        </p:spPr>
        <p:txBody>
          <a:bodyPr wrap="square" lIns="0" tIns="0" rIns="0" bIns="0" rtlCol="0" anchor="ctr">
            <a:normAutofit/>
          </a:bodyPr>
          <a:lstStyle/>
          <a:p>
            <a:pPr marL="0" indent="0">
              <a:buNone/>
            </a:pPr>
            <a:r>
              <a:rPr lang="en-US" sz="2300" b="1" dirty="0">
                <a:solidFill>
                  <a:srgbClr val="DAA62F"/>
                </a:solidFill>
                <a:latin typeface="Aptos" pitchFamily="34" charset="0"/>
                <a:ea typeface="Aptos" pitchFamily="34" charset="-122"/>
                <a:cs typeface="Aptos" pitchFamily="34" charset="-120"/>
              </a:rPr>
              <a:t>NEXT UP · WEEK 02</a:t>
            </a:r>
            <a:endParaRPr lang="en-US" sz="2300" dirty="0"/>
          </a:p>
        </p:txBody>
      </p:sp>
      <p:sp>
        <p:nvSpPr>
          <p:cNvPr id="5" name="Text 2"/>
          <p:cNvSpPr/>
          <p:nvPr/>
        </p:nvSpPr>
        <p:spPr>
          <a:xfrm>
            <a:off x="822960" y="4526280"/>
            <a:ext cx="10789920" cy="685800"/>
          </a:xfrm>
          <a:prstGeom prst="rect">
            <a:avLst/>
          </a:prstGeom>
          <a:noFill/>
        </p:spPr>
        <p:txBody>
          <a:bodyPr wrap="square" lIns="0" tIns="0" rIns="0" bIns="0" rtlCol="0" anchor="ctr">
            <a:normAutofit/>
          </a:bodyPr>
          <a:lstStyle/>
          <a:p>
            <a:pPr marL="0" indent="0">
              <a:buNone/>
            </a:pPr>
            <a:r>
              <a:rPr lang="en-US" sz="3400" b="1" dirty="0">
                <a:solidFill>
                  <a:srgbClr val="FFFFFF"/>
                </a:solidFill>
                <a:latin typeface="Aptos" pitchFamily="34" charset="0"/>
                <a:ea typeface="Aptos" pitchFamily="34" charset="-122"/>
                <a:cs typeface="Aptos" pitchFamily="34" charset="-120"/>
              </a:rPr>
              <a:t>HTML: Build Your First Web Page</a:t>
            </a:r>
            <a:endParaRPr lang="en-US" sz="3400" dirty="0"/>
          </a:p>
        </p:txBody>
      </p:sp>
      <p:sp>
        <p:nvSpPr>
          <p:cNvPr id="6" name="Text 3"/>
          <p:cNvSpPr/>
          <p:nvPr/>
        </p:nvSpPr>
        <p:spPr>
          <a:xfrm>
            <a:off x="841248" y="5696712"/>
            <a:ext cx="9509760" cy="356616"/>
          </a:xfrm>
          <a:prstGeom prst="rect">
            <a:avLst/>
          </a:prstGeom>
          <a:noFill/>
        </p:spPr>
        <p:txBody>
          <a:bodyPr wrap="square" lIns="0" tIns="0" rIns="0" bIns="0" rtlCol="0" anchor="ctr">
            <a:normAutofit/>
          </a:bodyPr>
          <a:lstStyle/>
          <a:p>
            <a:pPr marL="0" indent="0">
              <a:buNone/>
            </a:pPr>
            <a:r>
              <a:rPr lang="en-US" sz="1900" dirty="0">
                <a:solidFill>
                  <a:srgbClr val="E0E8F2"/>
                </a:solidFill>
                <a:latin typeface="Aptos" pitchFamily="34" charset="0"/>
                <a:ea typeface="Aptos" pitchFamily="34" charset="-122"/>
                <a:cs typeface="Aptos" pitchFamily="34" charset="-120"/>
              </a:rPr>
              <a:t>Keep learning. Keep building.   •   codewithprof.com</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9333</Words>
  <Application>WPS Presentation</Application>
  <PresentationFormat>On-screen Show (16:9)</PresentationFormat>
  <Paragraphs>777</Paragraphs>
  <Slides>30</Slides>
  <Notes>30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30</vt:i4>
      </vt:variant>
    </vt:vector>
  </HeadingPairs>
  <TitlesOfParts>
    <vt:vector size="43" baseType="lpstr">
      <vt:lpstr>Arial</vt:lpstr>
      <vt:lpstr>SimSun</vt:lpstr>
      <vt:lpstr>Wingdings</vt:lpstr>
      <vt:lpstr>Aptos</vt:lpstr>
      <vt:lpstr>Helvetica Neue</vt:lpstr>
      <vt:lpstr>Aptos</vt:lpstr>
      <vt:lpstr>Aptos</vt:lpstr>
      <vt:lpstr>Calibri</vt:lpstr>
      <vt:lpstr>Microsoft YaHei</vt:lpstr>
      <vt:lpstr>汉仪旗黑</vt:lpstr>
      <vt:lpstr>Arial Unicode MS</vt:lpstr>
      <vt:lpstr>宋体-简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 with Prof | Full-Stack Journey | Week 01</dc:title>
  <dc:creator>Code with Prof</dc:creator>
  <dc:subject>Week 01 — Welcome to Technology &amp; How the Internet Works</dc:subject>
  <cp:lastModifiedBy>Emem Lloyd</cp:lastModifiedBy>
  <cp:revision>3</cp:revision>
  <dcterms:created xsi:type="dcterms:W3CDTF">2026-10-11T16:52:46Z</dcterms:created>
  <dcterms:modified xsi:type="dcterms:W3CDTF">2026-10-11T16:52:46Z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1033-12.1.26050.26050</vt:lpwstr>
  </property>
  <property fmtid="{D5CDD505-2E9C-101B-9397-08002B2CF9AE}" pid="3" name="ICV">
    <vt:lpwstr>E58B7A88A1FDF9EF7677CA6AF2D99FBB_42</vt:lpwstr>
  </property>
</Properties>
</file>